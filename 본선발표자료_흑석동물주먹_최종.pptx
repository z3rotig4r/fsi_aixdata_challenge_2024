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23"/>
  </p:notesMasterIdLst>
  <p:sldIdLst>
    <p:sldId id="256" r:id="rId3"/>
    <p:sldId id="321" r:id="rId4"/>
    <p:sldId id="307" r:id="rId5"/>
    <p:sldId id="320" r:id="rId6"/>
    <p:sldId id="319" r:id="rId7"/>
    <p:sldId id="309" r:id="rId8"/>
    <p:sldId id="328" r:id="rId9"/>
    <p:sldId id="318" r:id="rId10"/>
    <p:sldId id="310" r:id="rId11"/>
    <p:sldId id="282" r:id="rId12"/>
    <p:sldId id="323" r:id="rId13"/>
    <p:sldId id="286" r:id="rId14"/>
    <p:sldId id="280" r:id="rId15"/>
    <p:sldId id="283" r:id="rId16"/>
    <p:sldId id="311" r:id="rId17"/>
    <p:sldId id="327" r:id="rId18"/>
    <p:sldId id="312" r:id="rId19"/>
    <p:sldId id="313" r:id="rId20"/>
    <p:sldId id="314" r:id="rId21"/>
    <p:sldId id="317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DCDB"/>
    <a:srgbClr val="FF6A86"/>
    <a:srgbClr val="FF61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09"/>
    <p:restoredTop sz="84818"/>
  </p:normalViewPr>
  <p:slideViewPr>
    <p:cSldViewPr snapToGrid="0">
      <p:cViewPr varScale="1">
        <p:scale>
          <a:sx n="180" d="100"/>
          <a:sy n="180" d="100"/>
        </p:scale>
        <p:origin x="1672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0ac2d2f670_3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0ac2d2f670_3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C154D-2F59-1906-3F74-F526F8DD1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F3CA8A-2782-EE07-D8D9-F626146F14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0E2747-6737-65BA-BC23-73332EC4BE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648586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401348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gi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25"/>
          <p:cNvGrpSpPr/>
          <p:nvPr/>
        </p:nvGrpSpPr>
        <p:grpSpPr>
          <a:xfrm>
            <a:off x="0" y="-216991"/>
            <a:ext cx="9144000" cy="3839563"/>
            <a:chOff x="0" y="-114300"/>
            <a:chExt cx="4816593" cy="2022486"/>
          </a:xfrm>
        </p:grpSpPr>
        <p:sp>
          <p:nvSpPr>
            <p:cNvPr id="130" name="Google Shape;130;p25"/>
            <p:cNvSpPr/>
            <p:nvPr/>
          </p:nvSpPr>
          <p:spPr>
            <a:xfrm>
              <a:off x="0" y="0"/>
              <a:ext cx="4816592" cy="1908186"/>
            </a:xfrm>
            <a:custGeom>
              <a:avLst/>
              <a:gdLst/>
              <a:ahLst/>
              <a:cxnLst/>
              <a:rect l="l" t="t" r="r" b="b"/>
              <a:pathLst>
                <a:path w="4816592" h="1908186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908186"/>
                  </a:lnTo>
                  <a:lnTo>
                    <a:pt x="0" y="1908186"/>
                  </a:lnTo>
                  <a:close/>
                </a:path>
              </a:pathLst>
            </a:custGeom>
            <a:solidFill>
              <a:srgbClr val="EBF0F1"/>
            </a:solidFill>
            <a:ln>
              <a:noFill/>
            </a:ln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131" name="Google Shape;131;p25"/>
            <p:cNvSpPr txBox="1"/>
            <p:nvPr/>
          </p:nvSpPr>
          <p:spPr>
            <a:xfrm>
              <a:off x="0" y="-114300"/>
              <a:ext cx="4816593" cy="20224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25"/>
          <p:cNvSpPr txBox="1"/>
          <p:nvPr/>
        </p:nvSpPr>
        <p:spPr>
          <a:xfrm>
            <a:off x="2848150" y="2263950"/>
            <a:ext cx="3320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20344B"/>
                </a:solidFill>
              </a:rPr>
              <a:t>FSI AIxData Challenge 2024</a:t>
            </a:r>
            <a:endParaRPr sz="2000"/>
          </a:p>
        </p:txBody>
      </p:sp>
      <p:sp>
        <p:nvSpPr>
          <p:cNvPr id="133" name="Google Shape;133;p25"/>
          <p:cNvSpPr txBox="1"/>
          <p:nvPr/>
        </p:nvSpPr>
        <p:spPr>
          <a:xfrm>
            <a:off x="4572000" y="4731325"/>
            <a:ext cx="4515197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b="1">
                <a:solidFill>
                  <a:srgbClr val="1195B2"/>
                </a:solidFill>
              </a:rPr>
              <a:t>흑석동 물주먹 팀: 방소연, 김규린, 김은선, 조영범</a:t>
            </a:r>
            <a:endParaRPr sz="1300"/>
          </a:p>
        </p:txBody>
      </p:sp>
      <p:sp>
        <p:nvSpPr>
          <p:cNvPr id="134" name="Google Shape;134;p25"/>
          <p:cNvSpPr txBox="1"/>
          <p:nvPr/>
        </p:nvSpPr>
        <p:spPr>
          <a:xfrm>
            <a:off x="831280" y="1593638"/>
            <a:ext cx="7481437" cy="670312"/>
          </a:xfrm>
          <a:prstGeom prst="rect">
            <a:avLst/>
          </a:prstGeom>
          <a:solidFill>
            <a:srgbClr val="1195B2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2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300" b="1" dirty="0">
                <a:solidFill>
                  <a:schemeClr val="lt1"/>
                </a:solidFill>
              </a:rPr>
              <a:t>사용자 맞춤형 AI 금융 지식 답변 서비스</a:t>
            </a:r>
            <a:endParaRPr sz="100" b="1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4875C-0A3A-24BA-8962-C2F454F1D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39;p26">
            <a:extLst>
              <a:ext uri="{FF2B5EF4-FFF2-40B4-BE49-F238E27FC236}">
                <a16:creationId xmlns:a16="http://schemas.microsoft.com/office/drawing/2014/main" id="{A7D2B2ED-8D1C-D533-E43E-26B6DD86D497}"/>
              </a:ext>
            </a:extLst>
          </p:cNvPr>
          <p:cNvGrpSpPr/>
          <p:nvPr/>
        </p:nvGrpSpPr>
        <p:grpSpPr>
          <a:xfrm>
            <a:off x="0" y="600364"/>
            <a:ext cx="9144000" cy="4543136"/>
            <a:chOff x="0" y="-114300"/>
            <a:chExt cx="4816593" cy="2081233"/>
          </a:xfrm>
        </p:grpSpPr>
        <p:sp>
          <p:nvSpPr>
            <p:cNvPr id="3" name="Google Shape;140;p26">
              <a:extLst>
                <a:ext uri="{FF2B5EF4-FFF2-40B4-BE49-F238E27FC236}">
                  <a16:creationId xmlns:a16="http://schemas.microsoft.com/office/drawing/2014/main" id="{558E1F1C-201F-83CC-4D69-75590E2235B9}"/>
                </a:ext>
              </a:extLst>
            </p:cNvPr>
            <p:cNvSpPr/>
            <p:nvPr/>
          </p:nvSpPr>
          <p:spPr>
            <a:xfrm>
              <a:off x="0" y="0"/>
              <a:ext cx="4816592" cy="1966933"/>
            </a:xfrm>
            <a:custGeom>
              <a:avLst/>
              <a:gdLst/>
              <a:ahLst/>
              <a:cxnLst/>
              <a:rect l="l" t="t" r="r" b="b"/>
              <a:pathLst>
                <a:path w="4816592" h="196693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966933"/>
                  </a:lnTo>
                  <a:lnTo>
                    <a:pt x="0" y="1966933"/>
                  </a:lnTo>
                  <a:close/>
                </a:path>
              </a:pathLst>
            </a:custGeom>
            <a:solidFill>
              <a:srgbClr val="EBF0F1"/>
            </a:solidFill>
            <a:ln>
              <a:noFill/>
            </a:ln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Google Shape;141;p26">
              <a:extLst>
                <a:ext uri="{FF2B5EF4-FFF2-40B4-BE49-F238E27FC236}">
                  <a16:creationId xmlns:a16="http://schemas.microsoft.com/office/drawing/2014/main" id="{D6138047-932C-D5EE-D2F4-2419AD875297}"/>
                </a:ext>
              </a:extLst>
            </p:cNvPr>
            <p:cNvSpPr txBox="1"/>
            <p:nvPr/>
          </p:nvSpPr>
          <p:spPr>
            <a:xfrm>
              <a:off x="0" y="-114300"/>
              <a:ext cx="4816593" cy="20812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Google Shape;142;p26">
            <a:extLst>
              <a:ext uri="{FF2B5EF4-FFF2-40B4-BE49-F238E27FC236}">
                <a16:creationId xmlns:a16="http://schemas.microsoft.com/office/drawing/2014/main" id="{60CE1043-4342-44AD-F53E-42DCFC78F050}"/>
              </a:ext>
            </a:extLst>
          </p:cNvPr>
          <p:cNvSpPr txBox="1"/>
          <p:nvPr/>
        </p:nvSpPr>
        <p:spPr>
          <a:xfrm>
            <a:off x="295236" y="204000"/>
            <a:ext cx="4152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7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900" b="1" i="0" u="none" strike="noStrike" cap="none" dirty="0">
                <a:solidFill>
                  <a:srgbClr val="1195B2"/>
                </a:solidFill>
              </a:rPr>
              <a:t>목차</a:t>
            </a:r>
            <a:endParaRPr sz="700" b="1" dirty="0">
              <a:solidFill>
                <a:srgbClr val="1195B2"/>
              </a:solidFill>
            </a:endParaRPr>
          </a:p>
        </p:txBody>
      </p:sp>
      <p:sp>
        <p:nvSpPr>
          <p:cNvPr id="6" name="Google Shape;143;p26">
            <a:extLst>
              <a:ext uri="{FF2B5EF4-FFF2-40B4-BE49-F238E27FC236}">
                <a16:creationId xmlns:a16="http://schemas.microsoft.com/office/drawing/2014/main" id="{1FE7810E-E4D3-92DE-3EC4-2792E00E0EAC}"/>
              </a:ext>
            </a:extLst>
          </p:cNvPr>
          <p:cNvSpPr/>
          <p:nvPr/>
        </p:nvSpPr>
        <p:spPr>
          <a:xfrm>
            <a:off x="3328135" y="1308304"/>
            <a:ext cx="409700" cy="368507"/>
          </a:xfrm>
          <a:prstGeom prst="ellipse">
            <a:avLst/>
          </a:prstGeom>
          <a:solidFill>
            <a:srgbClr val="1A9AB6"/>
          </a:solidFill>
          <a:ln w="9525" cap="flat" cmpd="sng">
            <a:solidFill>
              <a:srgbClr val="1A9A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5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44;p26">
            <a:extLst>
              <a:ext uri="{FF2B5EF4-FFF2-40B4-BE49-F238E27FC236}">
                <a16:creationId xmlns:a16="http://schemas.microsoft.com/office/drawing/2014/main" id="{9615A1A8-2F92-8550-998C-5A6E0CD1CFC5}"/>
              </a:ext>
            </a:extLst>
          </p:cNvPr>
          <p:cNvSpPr txBox="1"/>
          <p:nvPr/>
        </p:nvSpPr>
        <p:spPr>
          <a:xfrm>
            <a:off x="3808834" y="1267411"/>
            <a:ext cx="2777187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20344B"/>
                </a:solidFill>
              </a:rPr>
              <a:t>제안 배경</a:t>
            </a:r>
            <a:endParaRPr sz="2000" b="1" dirty="0">
              <a:solidFill>
                <a:srgbClr val="20344B"/>
              </a:solidFill>
            </a:endParaRPr>
          </a:p>
        </p:txBody>
      </p:sp>
      <p:sp>
        <p:nvSpPr>
          <p:cNvPr id="8" name="Google Shape;145;p26">
            <a:extLst>
              <a:ext uri="{FF2B5EF4-FFF2-40B4-BE49-F238E27FC236}">
                <a16:creationId xmlns:a16="http://schemas.microsoft.com/office/drawing/2014/main" id="{2CEAA8A9-C604-C8BE-1ADA-2C1EB586AEF8}"/>
              </a:ext>
            </a:extLst>
          </p:cNvPr>
          <p:cNvSpPr/>
          <p:nvPr/>
        </p:nvSpPr>
        <p:spPr>
          <a:xfrm>
            <a:off x="3328135" y="2035909"/>
            <a:ext cx="409700" cy="368507"/>
          </a:xfrm>
          <a:prstGeom prst="ellipse">
            <a:avLst/>
          </a:prstGeom>
          <a:solidFill>
            <a:srgbClr val="1A9AB6"/>
          </a:solidFill>
          <a:ln w="9525" cap="flat" cmpd="sng">
            <a:solidFill>
              <a:srgbClr val="1A9A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5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46;p26">
            <a:extLst>
              <a:ext uri="{FF2B5EF4-FFF2-40B4-BE49-F238E27FC236}">
                <a16:creationId xmlns:a16="http://schemas.microsoft.com/office/drawing/2014/main" id="{BE1C4A9D-2AD1-7674-CE3E-C708F97D4DAB}"/>
              </a:ext>
            </a:extLst>
          </p:cNvPr>
          <p:cNvSpPr/>
          <p:nvPr/>
        </p:nvSpPr>
        <p:spPr>
          <a:xfrm>
            <a:off x="3328135" y="2785534"/>
            <a:ext cx="409700" cy="368507"/>
          </a:xfrm>
          <a:prstGeom prst="ellipse">
            <a:avLst/>
          </a:prstGeom>
          <a:solidFill>
            <a:srgbClr val="1A9AB6"/>
          </a:solidFill>
          <a:ln w="9525" cap="flat" cmpd="sng">
            <a:solidFill>
              <a:srgbClr val="1A9A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5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47;p26">
            <a:extLst>
              <a:ext uri="{FF2B5EF4-FFF2-40B4-BE49-F238E27FC236}">
                <a16:creationId xmlns:a16="http://schemas.microsoft.com/office/drawing/2014/main" id="{E3C3D433-0BD2-20B0-DA9E-A22AF1F68022}"/>
              </a:ext>
            </a:extLst>
          </p:cNvPr>
          <p:cNvSpPr/>
          <p:nvPr/>
        </p:nvSpPr>
        <p:spPr>
          <a:xfrm>
            <a:off x="3328135" y="3465684"/>
            <a:ext cx="409700" cy="368507"/>
          </a:xfrm>
          <a:prstGeom prst="ellipse">
            <a:avLst/>
          </a:prstGeom>
          <a:solidFill>
            <a:srgbClr val="1A9AB6"/>
          </a:solidFill>
          <a:ln w="9525" cap="flat" cmpd="sng">
            <a:solidFill>
              <a:srgbClr val="1A9A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5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48;p26">
            <a:extLst>
              <a:ext uri="{FF2B5EF4-FFF2-40B4-BE49-F238E27FC236}">
                <a16:creationId xmlns:a16="http://schemas.microsoft.com/office/drawing/2014/main" id="{EAC5D5F6-3872-DD13-17EF-3FFCE85F3B34}"/>
              </a:ext>
            </a:extLst>
          </p:cNvPr>
          <p:cNvSpPr txBox="1"/>
          <p:nvPr/>
        </p:nvSpPr>
        <p:spPr>
          <a:xfrm>
            <a:off x="3808834" y="1985686"/>
            <a:ext cx="2116424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dirty="0">
                <a:solidFill>
                  <a:srgbClr val="20344B"/>
                </a:solidFill>
              </a:rPr>
              <a:t>아이디어 </a:t>
            </a:r>
            <a:r>
              <a:rPr lang="ko" altLang="en-US" sz="2000" b="1" dirty="0">
                <a:solidFill>
                  <a:srgbClr val="20344B"/>
                </a:solidFill>
              </a:rPr>
              <a:t>설명</a:t>
            </a:r>
            <a:endParaRPr sz="2000" b="1" dirty="0">
              <a:solidFill>
                <a:srgbClr val="20344B"/>
              </a:solidFill>
            </a:endParaRPr>
          </a:p>
        </p:txBody>
      </p:sp>
      <p:sp>
        <p:nvSpPr>
          <p:cNvPr id="12" name="Google Shape;149;p26">
            <a:extLst>
              <a:ext uri="{FF2B5EF4-FFF2-40B4-BE49-F238E27FC236}">
                <a16:creationId xmlns:a16="http://schemas.microsoft.com/office/drawing/2014/main" id="{6EE32FC4-5431-0972-C4E6-17DEC0C1748C}"/>
              </a:ext>
            </a:extLst>
          </p:cNvPr>
          <p:cNvSpPr txBox="1"/>
          <p:nvPr/>
        </p:nvSpPr>
        <p:spPr>
          <a:xfrm>
            <a:off x="3801784" y="2700574"/>
            <a:ext cx="1635793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dirty="0">
                <a:solidFill>
                  <a:srgbClr val="20344B"/>
                </a:solidFill>
              </a:rPr>
              <a:t>실현 방법</a:t>
            </a:r>
            <a:endParaRPr sz="2000" b="1" dirty="0">
              <a:solidFill>
                <a:srgbClr val="20344B"/>
              </a:solidFill>
            </a:endParaRPr>
          </a:p>
        </p:txBody>
      </p:sp>
      <p:sp>
        <p:nvSpPr>
          <p:cNvPr id="13" name="Google Shape;150;p26">
            <a:extLst>
              <a:ext uri="{FF2B5EF4-FFF2-40B4-BE49-F238E27FC236}">
                <a16:creationId xmlns:a16="http://schemas.microsoft.com/office/drawing/2014/main" id="{63BC5FA4-0D6E-0B0A-49E3-0B4625D6B781}"/>
              </a:ext>
            </a:extLst>
          </p:cNvPr>
          <p:cNvSpPr txBox="1"/>
          <p:nvPr/>
        </p:nvSpPr>
        <p:spPr>
          <a:xfrm>
            <a:off x="3808835" y="3396861"/>
            <a:ext cx="12858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>
                <a:solidFill>
                  <a:srgbClr val="20344B"/>
                </a:solidFill>
              </a:rPr>
              <a:t>PoC 적용</a:t>
            </a:r>
            <a:endParaRPr sz="2000" b="1">
              <a:solidFill>
                <a:srgbClr val="20344B"/>
              </a:solidFill>
            </a:endParaRPr>
          </a:p>
        </p:txBody>
      </p:sp>
      <p:sp>
        <p:nvSpPr>
          <p:cNvPr id="14" name="Google Shape;151;p26">
            <a:extLst>
              <a:ext uri="{FF2B5EF4-FFF2-40B4-BE49-F238E27FC236}">
                <a16:creationId xmlns:a16="http://schemas.microsoft.com/office/drawing/2014/main" id="{29AAE03A-4A45-F397-715C-2FCEE0582F84}"/>
              </a:ext>
            </a:extLst>
          </p:cNvPr>
          <p:cNvSpPr/>
          <p:nvPr/>
        </p:nvSpPr>
        <p:spPr>
          <a:xfrm>
            <a:off x="3328135" y="4145834"/>
            <a:ext cx="409700" cy="368507"/>
          </a:xfrm>
          <a:prstGeom prst="ellipse">
            <a:avLst/>
          </a:prstGeom>
          <a:solidFill>
            <a:srgbClr val="1A9AB6"/>
          </a:solidFill>
          <a:ln w="9525" cap="flat" cmpd="sng">
            <a:solidFill>
              <a:srgbClr val="1A9A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5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2;p26">
            <a:extLst>
              <a:ext uri="{FF2B5EF4-FFF2-40B4-BE49-F238E27FC236}">
                <a16:creationId xmlns:a16="http://schemas.microsoft.com/office/drawing/2014/main" id="{A785679C-AE6E-918F-115D-5DFE4E8CCE99}"/>
              </a:ext>
            </a:extLst>
          </p:cNvPr>
          <p:cNvSpPr txBox="1"/>
          <p:nvPr/>
        </p:nvSpPr>
        <p:spPr>
          <a:xfrm>
            <a:off x="3808835" y="4093136"/>
            <a:ext cx="12858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>
                <a:solidFill>
                  <a:srgbClr val="20344B"/>
                </a:solidFill>
              </a:rPr>
              <a:t>기대 방향</a:t>
            </a:r>
            <a:endParaRPr sz="2000" b="1">
              <a:solidFill>
                <a:srgbClr val="20344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686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40;p26">
            <a:extLst>
              <a:ext uri="{FF2B5EF4-FFF2-40B4-BE49-F238E27FC236}">
                <a16:creationId xmlns:a16="http://schemas.microsoft.com/office/drawing/2014/main" id="{C592792B-87E2-488A-0C2A-244AD2BBD4D1}"/>
              </a:ext>
            </a:extLst>
          </p:cNvPr>
          <p:cNvSpPr/>
          <p:nvPr/>
        </p:nvSpPr>
        <p:spPr>
          <a:xfrm>
            <a:off x="0" y="-53100"/>
            <a:ext cx="9143998" cy="5196600"/>
          </a:xfrm>
          <a:custGeom>
            <a:avLst/>
            <a:gdLst/>
            <a:ahLst/>
            <a:cxnLst/>
            <a:rect l="l" t="t" r="r" b="b"/>
            <a:pathLst>
              <a:path w="4816592" h="1966933" extrusionOk="0">
                <a:moveTo>
                  <a:pt x="0" y="0"/>
                </a:moveTo>
                <a:lnTo>
                  <a:pt x="4816592" y="0"/>
                </a:lnTo>
                <a:lnTo>
                  <a:pt x="4816592" y="1966933"/>
                </a:lnTo>
                <a:lnTo>
                  <a:pt x="0" y="1966933"/>
                </a:lnTo>
                <a:close/>
              </a:path>
            </a:pathLst>
          </a:custGeom>
          <a:solidFill>
            <a:srgbClr val="EBF0F1"/>
          </a:solidFill>
          <a:ln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" name="Google Shape;157;p27">
            <a:extLst>
              <a:ext uri="{FF2B5EF4-FFF2-40B4-BE49-F238E27FC236}">
                <a16:creationId xmlns:a16="http://schemas.microsoft.com/office/drawing/2014/main" id="{564050BF-AE26-D520-0E23-A0EA73A753FD}"/>
              </a:ext>
            </a:extLst>
          </p:cNvPr>
          <p:cNvSpPr/>
          <p:nvPr/>
        </p:nvSpPr>
        <p:spPr>
          <a:xfrm>
            <a:off x="2762085" y="2444236"/>
            <a:ext cx="3320528" cy="2423985"/>
          </a:xfrm>
          <a:custGeom>
            <a:avLst/>
            <a:gdLst/>
            <a:ahLst/>
            <a:cxnLst/>
            <a:rect l="l" t="t" r="r" b="b"/>
            <a:pathLst>
              <a:path w="6641056" h="4847971" extrusionOk="0">
                <a:moveTo>
                  <a:pt x="0" y="0"/>
                </a:moveTo>
                <a:lnTo>
                  <a:pt x="6641056" y="0"/>
                </a:lnTo>
                <a:lnTo>
                  <a:pt x="6641056" y="4847971"/>
                </a:lnTo>
                <a:lnTo>
                  <a:pt x="0" y="48479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" name="Google Shape;158;p27">
            <a:extLst>
              <a:ext uri="{FF2B5EF4-FFF2-40B4-BE49-F238E27FC236}">
                <a16:creationId xmlns:a16="http://schemas.microsoft.com/office/drawing/2014/main" id="{B5AE782A-8B09-A1ED-6DED-E36C95398FE8}"/>
              </a:ext>
            </a:extLst>
          </p:cNvPr>
          <p:cNvSpPr txBox="1"/>
          <p:nvPr/>
        </p:nvSpPr>
        <p:spPr>
          <a:xfrm>
            <a:off x="2762068" y="808679"/>
            <a:ext cx="3638731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200" b="1" dirty="0">
                <a:solidFill>
                  <a:srgbClr val="20344B"/>
                </a:solidFill>
              </a:rPr>
              <a:t>01</a:t>
            </a:r>
            <a:endParaRPr sz="3200" b="1" dirty="0">
              <a:solidFill>
                <a:srgbClr val="20344B"/>
              </a:solidFill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 dirty="0">
                <a:solidFill>
                  <a:srgbClr val="20344B"/>
                </a:solidFill>
              </a:rPr>
              <a:t>제안</a:t>
            </a:r>
            <a:r>
              <a:rPr lang="ko" sz="3200" b="1" dirty="0">
                <a:solidFill>
                  <a:srgbClr val="20344B"/>
                </a:solidFill>
              </a:rPr>
              <a:t> 배경</a:t>
            </a:r>
            <a:endParaRPr sz="3200" b="1" dirty="0">
              <a:solidFill>
                <a:srgbClr val="20344B"/>
              </a:solidFill>
            </a:endParaRPr>
          </a:p>
        </p:txBody>
      </p:sp>
      <p:sp>
        <p:nvSpPr>
          <p:cNvPr id="6" name="Google Shape;159;p27">
            <a:extLst>
              <a:ext uri="{FF2B5EF4-FFF2-40B4-BE49-F238E27FC236}">
                <a16:creationId xmlns:a16="http://schemas.microsoft.com/office/drawing/2014/main" id="{C37970BF-917F-B266-36AC-27071BE58662}"/>
              </a:ext>
            </a:extLst>
          </p:cNvPr>
          <p:cNvSpPr/>
          <p:nvPr/>
        </p:nvSpPr>
        <p:spPr>
          <a:xfrm>
            <a:off x="0" y="-26550"/>
            <a:ext cx="722700" cy="5196600"/>
          </a:xfrm>
          <a:prstGeom prst="rect">
            <a:avLst/>
          </a:prstGeom>
          <a:solidFill>
            <a:srgbClr val="68BBCD"/>
          </a:solidFill>
          <a:ln w="9525" cap="flat" cmpd="sng">
            <a:solidFill>
              <a:srgbClr val="68BB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60;p27">
            <a:extLst>
              <a:ext uri="{FF2B5EF4-FFF2-40B4-BE49-F238E27FC236}">
                <a16:creationId xmlns:a16="http://schemas.microsoft.com/office/drawing/2014/main" id="{8CC65507-4F23-3035-8779-E5F7B00A2732}"/>
              </a:ext>
            </a:extLst>
          </p:cNvPr>
          <p:cNvSpPr/>
          <p:nvPr/>
        </p:nvSpPr>
        <p:spPr>
          <a:xfrm>
            <a:off x="8421300" y="-26550"/>
            <a:ext cx="722700" cy="5196600"/>
          </a:xfrm>
          <a:prstGeom prst="rect">
            <a:avLst/>
          </a:prstGeom>
          <a:solidFill>
            <a:srgbClr val="68BBCD"/>
          </a:solidFill>
          <a:ln w="9525" cap="flat" cmpd="sng">
            <a:solidFill>
              <a:srgbClr val="68BB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6976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087B6-A965-884D-CAFD-945FEBF23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F940FD1-2FB6-4DC7-88C5-D7D66EEE16C9}"/>
              </a:ext>
            </a:extLst>
          </p:cNvPr>
          <p:cNvSpPr/>
          <p:nvPr/>
        </p:nvSpPr>
        <p:spPr>
          <a:xfrm>
            <a:off x="0" y="4060904"/>
            <a:ext cx="9144000" cy="1082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" name="TextBox 23">
            <a:extLst>
              <a:ext uri="{FF2B5EF4-FFF2-40B4-BE49-F238E27FC236}">
                <a16:creationId xmlns:a16="http://schemas.microsoft.com/office/drawing/2014/main" id="{3C41B086-02D5-F8DF-71F5-A8C0C6BA1802}"/>
              </a:ext>
            </a:extLst>
          </p:cNvPr>
          <p:cNvSpPr txBox="1"/>
          <p:nvPr/>
        </p:nvSpPr>
        <p:spPr>
          <a:xfrm>
            <a:off x="4960838" y="977320"/>
            <a:ext cx="3946398" cy="4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ko-KR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“</a:t>
            </a:r>
            <a:r>
              <a:rPr lang="en-US" sz="1098" spc="-33" dirty="0" err="1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고등학생의</a:t>
            </a:r>
            <a:r>
              <a:rPr 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1098" spc="-33" dirty="0" err="1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금융</a:t>
            </a:r>
            <a:r>
              <a:rPr 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1098" spc="-33" dirty="0" err="1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이해력</a:t>
            </a:r>
            <a:r>
              <a:rPr 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1098" spc="-33" dirty="0" err="1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평균</a:t>
            </a:r>
            <a:r>
              <a:rPr lang="ko-KR" alt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점수는 </a:t>
            </a:r>
            <a:r>
              <a:rPr lang="en-US" sz="1098" spc="-33" dirty="0" err="1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기준에</a:t>
            </a:r>
            <a:r>
              <a:rPr 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1098" spc="-33" dirty="0" err="1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크게</a:t>
            </a:r>
            <a:r>
              <a:rPr 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1098" spc="-33" dirty="0" err="1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못</a:t>
            </a:r>
            <a:r>
              <a:rPr 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1098" spc="-33" dirty="0" err="1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미</a:t>
            </a:r>
            <a:r>
              <a:rPr lang="ko-KR" alt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쳐</a:t>
            </a:r>
            <a:r>
              <a:rPr lang="en-US" altLang="ko-KR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..”</a:t>
            </a: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ko-KR" alt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교육 수준 및 소득 수준별 격차</a:t>
            </a:r>
            <a:r>
              <a:rPr lang="en-US" altLang="ko-KR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                     -</a:t>
            </a:r>
            <a:r>
              <a:rPr lang="ko-KR" alt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금융 이해력 관련 조사</a:t>
            </a:r>
            <a:endParaRPr lang="en-US" sz="1098" spc="-33" dirty="0">
              <a:solidFill>
                <a:schemeClr val="tx1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363B1877-8723-A56A-15B5-12C5C8986900}"/>
              </a:ext>
            </a:extLst>
          </p:cNvPr>
          <p:cNvSpPr txBox="1"/>
          <p:nvPr/>
        </p:nvSpPr>
        <p:spPr>
          <a:xfrm>
            <a:off x="4947869" y="2109365"/>
            <a:ext cx="3822058" cy="7328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ko-KR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“</a:t>
            </a:r>
            <a:r>
              <a:rPr lang="en-US" sz="1098" spc="-33" dirty="0" err="1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금융</a:t>
            </a:r>
            <a:r>
              <a:rPr 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1098" spc="-33" dirty="0" err="1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이해력이</a:t>
            </a:r>
            <a:r>
              <a:rPr 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10년 </a:t>
            </a:r>
            <a:r>
              <a:rPr lang="en-US" sz="1098" spc="-33" dirty="0" err="1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전보다</a:t>
            </a:r>
            <a:r>
              <a:rPr 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1098" spc="-33" dirty="0" err="1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약화된</a:t>
            </a:r>
            <a:r>
              <a:rPr 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1098" spc="-33" dirty="0" err="1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수치</a:t>
            </a:r>
            <a:r>
              <a:rPr lang="en-US" altLang="ko-KR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…</a:t>
            </a:r>
            <a:r>
              <a:rPr 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altLang="ko-KR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“</a:t>
            </a:r>
            <a:endParaRPr lang="en-US" sz="1098" spc="-33" dirty="0">
              <a:solidFill>
                <a:schemeClr val="tx1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ko-KR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“</a:t>
            </a:r>
            <a:r>
              <a:rPr lang="en-US" sz="1098" spc="-33" dirty="0" err="1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정규</a:t>
            </a:r>
            <a:r>
              <a:rPr 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1098" spc="-33" dirty="0" err="1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교육</a:t>
            </a:r>
            <a:r>
              <a:rPr 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1098" spc="-33" dirty="0" err="1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과정에서</a:t>
            </a:r>
            <a:r>
              <a:rPr 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1098" spc="-33" dirty="0" err="1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금융</a:t>
            </a:r>
            <a:r>
              <a:rPr 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1098" spc="-33" dirty="0" err="1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교육이</a:t>
            </a:r>
            <a:r>
              <a:rPr 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1098" spc="-33" dirty="0" err="1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충분히</a:t>
            </a:r>
            <a:r>
              <a:rPr 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1098" spc="-33" dirty="0" err="1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이루어지지</a:t>
            </a:r>
            <a:r>
              <a:rPr lang="ko-KR" alt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않아</a:t>
            </a:r>
            <a:r>
              <a:rPr lang="en-US" altLang="ko-KR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…”</a:t>
            </a:r>
            <a:r>
              <a:rPr lang="ko-KR" alt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endParaRPr lang="en-US" altLang="ko-KR" sz="1098" spc="-33" dirty="0">
              <a:solidFill>
                <a:schemeClr val="tx1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  <a:p>
            <a:pPr algn="r">
              <a:lnSpc>
                <a:spcPct val="150000"/>
              </a:lnSpc>
            </a:pPr>
            <a:r>
              <a:rPr lang="en-US" altLang="ko-KR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-</a:t>
            </a:r>
            <a:r>
              <a:rPr lang="ko-KR" alt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매일경제</a:t>
            </a:r>
            <a:endParaRPr lang="en-US" sz="1098" spc="-33" dirty="0">
              <a:solidFill>
                <a:schemeClr val="tx1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</p:txBody>
      </p:sp>
      <p:sp>
        <p:nvSpPr>
          <p:cNvPr id="5" name="TextBox 29">
            <a:extLst>
              <a:ext uri="{FF2B5EF4-FFF2-40B4-BE49-F238E27FC236}">
                <a16:creationId xmlns:a16="http://schemas.microsoft.com/office/drawing/2014/main" id="{D1E30CA3-217E-B391-E6D5-A5B9B46E15C4}"/>
              </a:ext>
            </a:extLst>
          </p:cNvPr>
          <p:cNvSpPr txBox="1"/>
          <p:nvPr/>
        </p:nvSpPr>
        <p:spPr>
          <a:xfrm>
            <a:off x="4994496" y="3399737"/>
            <a:ext cx="3775431" cy="4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ko-KR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“</a:t>
            </a:r>
            <a:r>
              <a:rPr 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10대들은 ‘</a:t>
            </a:r>
            <a:r>
              <a:rPr lang="en-US" sz="1098" spc="-33" dirty="0" err="1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돈</a:t>
            </a:r>
            <a:r>
              <a:rPr 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1098" spc="-33" dirty="0" err="1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벌기‘와</a:t>
            </a:r>
            <a:r>
              <a:rPr 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1098" spc="-33" dirty="0" err="1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관련</a:t>
            </a:r>
            <a:r>
              <a:rPr 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1098" spc="-33" dirty="0" err="1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키워드</a:t>
            </a:r>
            <a:r>
              <a:rPr 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1098" spc="-33" dirty="0" err="1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자주</a:t>
            </a:r>
            <a:r>
              <a:rPr 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1098" spc="-33" dirty="0" err="1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검색하지만</a:t>
            </a:r>
            <a:r>
              <a:rPr 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, </a:t>
            </a:r>
            <a:br>
              <a:rPr 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</a:br>
            <a:r>
              <a:rPr lang="en-US" sz="1098" spc="-33" dirty="0" err="1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금융</a:t>
            </a:r>
            <a:r>
              <a:rPr 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1098" spc="-33" dirty="0" err="1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상품</a:t>
            </a:r>
            <a:r>
              <a:rPr 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1098" spc="-33" dirty="0" err="1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접근에</a:t>
            </a:r>
            <a:r>
              <a:rPr 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ko-KR" alt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어려워</a:t>
            </a:r>
            <a:r>
              <a:rPr lang="en-US" altLang="ko-KR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…”</a:t>
            </a:r>
            <a:r>
              <a:rPr lang="ko-KR" alt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                                            </a:t>
            </a:r>
            <a:r>
              <a:rPr lang="en-US" altLang="ko-KR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-</a:t>
            </a:r>
            <a:r>
              <a:rPr lang="ko-KR" alt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altLang="ko-KR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KB</a:t>
            </a:r>
            <a:r>
              <a:rPr lang="ko-KR" altLang="en-US" sz="1098" spc="-33" dirty="0">
                <a:solidFill>
                  <a:schemeClr val="tx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국민은행</a:t>
            </a:r>
            <a:endParaRPr lang="en-US" sz="1098" spc="-33" dirty="0">
              <a:solidFill>
                <a:schemeClr val="tx1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</p:txBody>
      </p:sp>
      <p:sp>
        <p:nvSpPr>
          <p:cNvPr id="6" name="Google Shape;444;p41">
            <a:extLst>
              <a:ext uri="{FF2B5EF4-FFF2-40B4-BE49-F238E27FC236}">
                <a16:creationId xmlns:a16="http://schemas.microsoft.com/office/drawing/2014/main" id="{27B1E419-6A46-C480-2BE0-2D9878CC0013}"/>
              </a:ext>
            </a:extLst>
          </p:cNvPr>
          <p:cNvSpPr txBox="1"/>
          <p:nvPr/>
        </p:nvSpPr>
        <p:spPr>
          <a:xfrm>
            <a:off x="221324" y="129109"/>
            <a:ext cx="287932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제안 배경</a:t>
            </a:r>
            <a:endParaRPr sz="700" b="1" dirty="0"/>
          </a:p>
        </p:txBody>
      </p:sp>
      <p:pic>
        <p:nvPicPr>
          <p:cNvPr id="7" name="그림 6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BB690BFF-B7D1-8FEE-EDB5-6916EB19E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5" y="1205389"/>
            <a:ext cx="4572000" cy="202258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5B1D19-C2F4-022D-7AE0-EC411F967804}"/>
              </a:ext>
            </a:extLst>
          </p:cNvPr>
          <p:cNvSpPr txBox="1"/>
          <p:nvPr/>
        </p:nvSpPr>
        <p:spPr>
          <a:xfrm>
            <a:off x="1240476" y="3227969"/>
            <a:ext cx="21242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000" dirty="0"/>
              <a:t>[</a:t>
            </a:r>
            <a:r>
              <a:rPr kumimoji="1" lang="en-US" altLang="ko-KR" sz="1000" dirty="0"/>
              <a:t>2023</a:t>
            </a:r>
            <a:r>
              <a:rPr kumimoji="1" lang="ko-KR" altLang="en-US" sz="1000" dirty="0"/>
              <a:t>년 전 국민 경제 이해력 조사</a:t>
            </a:r>
            <a:r>
              <a:rPr kumimoji="1" lang="en-US" altLang="ko-KR" sz="1000" dirty="0"/>
              <a:t>]</a:t>
            </a:r>
            <a:endParaRPr kumimoji="1" lang="ko-Kore-KR" altLang="en-US" sz="1000" dirty="0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413CB15E-AB22-7095-9D3B-EF6FA2E8B92D}"/>
              </a:ext>
            </a:extLst>
          </p:cNvPr>
          <p:cNvSpPr/>
          <p:nvPr/>
        </p:nvSpPr>
        <p:spPr>
          <a:xfrm>
            <a:off x="4794583" y="537789"/>
            <a:ext cx="2767104" cy="381000"/>
          </a:xfrm>
          <a:custGeom>
            <a:avLst/>
            <a:gdLst/>
            <a:ahLst/>
            <a:cxnLst/>
            <a:rect l="l" t="t" r="r" b="b"/>
            <a:pathLst>
              <a:path w="1742067" h="481466">
                <a:moveTo>
                  <a:pt x="35114" y="0"/>
                </a:moveTo>
                <a:lnTo>
                  <a:pt x="1706953" y="0"/>
                </a:lnTo>
                <a:cubicBezTo>
                  <a:pt x="1716266" y="0"/>
                  <a:pt x="1725197" y="3699"/>
                  <a:pt x="1731782" y="10285"/>
                </a:cubicBezTo>
                <a:cubicBezTo>
                  <a:pt x="1738368" y="16870"/>
                  <a:pt x="1742067" y="25801"/>
                  <a:pt x="1742067" y="35114"/>
                </a:cubicBezTo>
                <a:lnTo>
                  <a:pt x="1742067" y="446352"/>
                </a:lnTo>
                <a:cubicBezTo>
                  <a:pt x="1742067" y="455665"/>
                  <a:pt x="1738368" y="464596"/>
                  <a:pt x="1731782" y="471181"/>
                </a:cubicBezTo>
                <a:cubicBezTo>
                  <a:pt x="1725197" y="477766"/>
                  <a:pt x="1716266" y="481466"/>
                  <a:pt x="1706953" y="481466"/>
                </a:cubicBezTo>
                <a:lnTo>
                  <a:pt x="35114" y="481466"/>
                </a:lnTo>
                <a:cubicBezTo>
                  <a:pt x="25801" y="481466"/>
                  <a:pt x="16870" y="477766"/>
                  <a:pt x="10285" y="471181"/>
                </a:cubicBezTo>
                <a:cubicBezTo>
                  <a:pt x="3699" y="464596"/>
                  <a:pt x="0" y="455665"/>
                  <a:pt x="0" y="446352"/>
                </a:cubicBezTo>
                <a:lnTo>
                  <a:pt x="0" y="35114"/>
                </a:lnTo>
                <a:cubicBezTo>
                  <a:pt x="0" y="25801"/>
                  <a:pt x="3699" y="16870"/>
                  <a:pt x="10285" y="10285"/>
                </a:cubicBezTo>
                <a:cubicBezTo>
                  <a:pt x="16870" y="3699"/>
                  <a:pt x="25801" y="0"/>
                  <a:pt x="35114" y="0"/>
                </a:cubicBezTo>
                <a:close/>
              </a:path>
            </a:pathLst>
          </a:custGeom>
          <a:solidFill>
            <a:srgbClr val="EBF0F1"/>
          </a:solidFill>
        </p:spPr>
        <p:txBody>
          <a:bodyPr anchor="ctr"/>
          <a:lstStyle/>
          <a:p>
            <a:pPr algn="ctr"/>
            <a:r>
              <a:rPr lang="ko-KR" altLang="en-US" b="1" spc="-39" dirty="0">
                <a:ea typeface="Source Han Sans KR Bold" panose="020B0600000101010101" charset="-127"/>
              </a:rPr>
              <a:t>청소년 및 청년층 금융 지식 부족</a:t>
            </a:r>
            <a:endParaRPr lang="ko-Kore-KR" altLang="en-US" b="1" spc="-39" dirty="0">
              <a:ea typeface="Source Han Sans KR Bold" panose="020B0600000101010101" charset="-127"/>
            </a:endParaRPr>
          </a:p>
        </p:txBody>
      </p:sp>
      <p:sp>
        <p:nvSpPr>
          <p:cNvPr id="10" name="오른쪽 화살표[R] 9">
            <a:extLst>
              <a:ext uri="{FF2B5EF4-FFF2-40B4-BE49-F238E27FC236}">
                <a16:creationId xmlns:a16="http://schemas.microsoft.com/office/drawing/2014/main" id="{17A1A8BA-8D7D-C64E-7E8C-6293DC516B1D}"/>
              </a:ext>
            </a:extLst>
          </p:cNvPr>
          <p:cNvSpPr/>
          <p:nvPr/>
        </p:nvSpPr>
        <p:spPr>
          <a:xfrm>
            <a:off x="0" y="4367403"/>
            <a:ext cx="532015" cy="419048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29476B-9443-9F8E-CF60-3E0605E5D245}"/>
              </a:ext>
            </a:extLst>
          </p:cNvPr>
          <p:cNvSpPr txBox="1"/>
          <p:nvPr/>
        </p:nvSpPr>
        <p:spPr>
          <a:xfrm>
            <a:off x="586774" y="4204646"/>
            <a:ext cx="7970452" cy="7445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600" b="1" dirty="0">
                <a:solidFill>
                  <a:srgbClr val="FF0000"/>
                </a:solidFill>
              </a:rPr>
              <a:t>금융 지식</a:t>
            </a:r>
            <a:r>
              <a:rPr kumimoji="1" lang="en-US" altLang="ko-KR" sz="1600" b="1" dirty="0">
                <a:solidFill>
                  <a:srgbClr val="FF0000"/>
                </a:solidFill>
              </a:rPr>
              <a:t>(</a:t>
            </a:r>
            <a:r>
              <a:rPr kumimoji="1" lang="ko-KR" altLang="en-US" sz="1600" b="1" dirty="0">
                <a:solidFill>
                  <a:srgbClr val="FF0000"/>
                </a:solidFill>
              </a:rPr>
              <a:t>이해력</a:t>
            </a:r>
            <a:r>
              <a:rPr kumimoji="1" lang="en-US" altLang="ko-KR" sz="1600" b="1" dirty="0">
                <a:solidFill>
                  <a:srgbClr val="FF0000"/>
                </a:solidFill>
              </a:rPr>
              <a:t>)</a:t>
            </a:r>
            <a:r>
              <a:rPr kumimoji="1" lang="ko-KR" altLang="en-US" sz="1600" b="1" dirty="0">
                <a:solidFill>
                  <a:srgbClr val="FF0000"/>
                </a:solidFill>
              </a:rPr>
              <a:t> 부족</a:t>
            </a:r>
            <a:r>
              <a:rPr kumimoji="1" lang="ko-KR" altLang="en-US" sz="1600" dirty="0">
                <a:solidFill>
                  <a:schemeClr val="tx1"/>
                </a:solidFill>
              </a:rPr>
              <a:t>으로</a:t>
            </a:r>
            <a:r>
              <a:rPr kumimoji="1" lang="ko-KR" altLang="en-US" sz="1600" b="1" dirty="0">
                <a:solidFill>
                  <a:srgbClr val="FF0000"/>
                </a:solidFill>
              </a:rPr>
              <a:t> </a:t>
            </a:r>
            <a:r>
              <a:rPr kumimoji="1" lang="ko-KR" altLang="en-US" sz="1600" dirty="0"/>
              <a:t>인해 직면한 문제들에 대한 </a:t>
            </a:r>
            <a:r>
              <a:rPr kumimoji="1" lang="ko-KR" altLang="en-US" sz="1600" b="1" dirty="0">
                <a:solidFill>
                  <a:srgbClr val="FF0000"/>
                </a:solidFill>
              </a:rPr>
              <a:t>해결책 시급</a:t>
            </a:r>
            <a:endParaRPr kumimoji="1" lang="en-US" altLang="ko-KR" sz="1600" dirty="0"/>
          </a:p>
          <a:p>
            <a:pPr>
              <a:lnSpc>
                <a:spcPct val="150000"/>
              </a:lnSpc>
            </a:pPr>
            <a:r>
              <a:rPr kumimoji="1" lang="en-US" altLang="ko-KR" sz="1400" dirty="0"/>
              <a:t>(</a:t>
            </a:r>
            <a:r>
              <a:rPr kumimoji="1" lang="ko-KR" altLang="en-US" sz="1400" b="1" dirty="0"/>
              <a:t>금융상품 진입 장벽 발생</a:t>
            </a:r>
            <a:r>
              <a:rPr kumimoji="1" lang="en-US" altLang="ko-KR" sz="1400" b="1" dirty="0"/>
              <a:t>,</a:t>
            </a:r>
            <a:r>
              <a:rPr kumimoji="1" lang="ko-KR" altLang="en-US" sz="1400" b="1" dirty="0"/>
              <a:t> 올바른 금융 가치관 형성 어려움</a:t>
            </a:r>
            <a:r>
              <a:rPr kumimoji="1" lang="en-US" altLang="ko-KR" sz="1400" b="1" dirty="0"/>
              <a:t>,</a:t>
            </a:r>
            <a:r>
              <a:rPr kumimoji="1" lang="ko-KR" altLang="en-US" sz="1400" b="1" dirty="0"/>
              <a:t> 금융 용어 미숙으로 인한 금융 사고 등</a:t>
            </a:r>
            <a:r>
              <a:rPr kumimoji="1" lang="en-US" altLang="ko-KR" sz="1400" dirty="0"/>
              <a:t>)</a:t>
            </a:r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7D28BDC4-0A7A-DB89-054A-FF6DAD6DF945}"/>
              </a:ext>
            </a:extLst>
          </p:cNvPr>
          <p:cNvSpPr/>
          <p:nvPr/>
        </p:nvSpPr>
        <p:spPr>
          <a:xfrm>
            <a:off x="4794583" y="1671592"/>
            <a:ext cx="2767104" cy="381000"/>
          </a:xfrm>
          <a:custGeom>
            <a:avLst/>
            <a:gdLst/>
            <a:ahLst/>
            <a:cxnLst/>
            <a:rect l="l" t="t" r="r" b="b"/>
            <a:pathLst>
              <a:path w="1742067" h="481466">
                <a:moveTo>
                  <a:pt x="35114" y="0"/>
                </a:moveTo>
                <a:lnTo>
                  <a:pt x="1706953" y="0"/>
                </a:lnTo>
                <a:cubicBezTo>
                  <a:pt x="1716266" y="0"/>
                  <a:pt x="1725197" y="3699"/>
                  <a:pt x="1731782" y="10285"/>
                </a:cubicBezTo>
                <a:cubicBezTo>
                  <a:pt x="1738368" y="16870"/>
                  <a:pt x="1742067" y="25801"/>
                  <a:pt x="1742067" y="35114"/>
                </a:cubicBezTo>
                <a:lnTo>
                  <a:pt x="1742067" y="446352"/>
                </a:lnTo>
                <a:cubicBezTo>
                  <a:pt x="1742067" y="455665"/>
                  <a:pt x="1738368" y="464596"/>
                  <a:pt x="1731782" y="471181"/>
                </a:cubicBezTo>
                <a:cubicBezTo>
                  <a:pt x="1725197" y="477766"/>
                  <a:pt x="1716266" y="481466"/>
                  <a:pt x="1706953" y="481466"/>
                </a:cubicBezTo>
                <a:lnTo>
                  <a:pt x="35114" y="481466"/>
                </a:lnTo>
                <a:cubicBezTo>
                  <a:pt x="25801" y="481466"/>
                  <a:pt x="16870" y="477766"/>
                  <a:pt x="10285" y="471181"/>
                </a:cubicBezTo>
                <a:cubicBezTo>
                  <a:pt x="3699" y="464596"/>
                  <a:pt x="0" y="455665"/>
                  <a:pt x="0" y="446352"/>
                </a:cubicBezTo>
                <a:lnTo>
                  <a:pt x="0" y="35114"/>
                </a:lnTo>
                <a:cubicBezTo>
                  <a:pt x="0" y="25801"/>
                  <a:pt x="3699" y="16870"/>
                  <a:pt x="10285" y="10285"/>
                </a:cubicBezTo>
                <a:cubicBezTo>
                  <a:pt x="16870" y="3699"/>
                  <a:pt x="25801" y="0"/>
                  <a:pt x="35114" y="0"/>
                </a:cubicBezTo>
                <a:close/>
              </a:path>
            </a:pathLst>
          </a:custGeom>
          <a:solidFill>
            <a:srgbClr val="EBF0F1"/>
          </a:solidFill>
        </p:spPr>
        <p:txBody>
          <a:bodyPr anchor="ctr"/>
          <a:lstStyle/>
          <a:p>
            <a:pPr algn="ctr"/>
            <a:r>
              <a:rPr lang="ko-KR" altLang="en-US" b="1" spc="-39" dirty="0">
                <a:ea typeface="Source Han Sans KR Bold" panose="020B0600000101010101" charset="-127"/>
              </a:rPr>
              <a:t>경제적 의사 결정 능력 저하</a:t>
            </a:r>
            <a:endParaRPr lang="ko-Kore-KR" altLang="en-US" b="1" spc="-39" dirty="0">
              <a:ea typeface="Source Han Sans KR Bold" panose="020B0600000101010101" charset="-127"/>
            </a:endParaRPr>
          </a:p>
        </p:txBody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4170395F-6B76-B63A-59AE-8DECF9C4DBC6}"/>
              </a:ext>
            </a:extLst>
          </p:cNvPr>
          <p:cNvSpPr/>
          <p:nvPr/>
        </p:nvSpPr>
        <p:spPr>
          <a:xfrm>
            <a:off x="4794583" y="2948048"/>
            <a:ext cx="2767104" cy="381000"/>
          </a:xfrm>
          <a:custGeom>
            <a:avLst/>
            <a:gdLst/>
            <a:ahLst/>
            <a:cxnLst/>
            <a:rect l="l" t="t" r="r" b="b"/>
            <a:pathLst>
              <a:path w="1742067" h="481466">
                <a:moveTo>
                  <a:pt x="35114" y="0"/>
                </a:moveTo>
                <a:lnTo>
                  <a:pt x="1706953" y="0"/>
                </a:lnTo>
                <a:cubicBezTo>
                  <a:pt x="1716266" y="0"/>
                  <a:pt x="1725197" y="3699"/>
                  <a:pt x="1731782" y="10285"/>
                </a:cubicBezTo>
                <a:cubicBezTo>
                  <a:pt x="1738368" y="16870"/>
                  <a:pt x="1742067" y="25801"/>
                  <a:pt x="1742067" y="35114"/>
                </a:cubicBezTo>
                <a:lnTo>
                  <a:pt x="1742067" y="446352"/>
                </a:lnTo>
                <a:cubicBezTo>
                  <a:pt x="1742067" y="455665"/>
                  <a:pt x="1738368" y="464596"/>
                  <a:pt x="1731782" y="471181"/>
                </a:cubicBezTo>
                <a:cubicBezTo>
                  <a:pt x="1725197" y="477766"/>
                  <a:pt x="1716266" y="481466"/>
                  <a:pt x="1706953" y="481466"/>
                </a:cubicBezTo>
                <a:lnTo>
                  <a:pt x="35114" y="481466"/>
                </a:lnTo>
                <a:cubicBezTo>
                  <a:pt x="25801" y="481466"/>
                  <a:pt x="16870" y="477766"/>
                  <a:pt x="10285" y="471181"/>
                </a:cubicBezTo>
                <a:cubicBezTo>
                  <a:pt x="3699" y="464596"/>
                  <a:pt x="0" y="455665"/>
                  <a:pt x="0" y="446352"/>
                </a:cubicBezTo>
                <a:lnTo>
                  <a:pt x="0" y="35114"/>
                </a:lnTo>
                <a:cubicBezTo>
                  <a:pt x="0" y="25801"/>
                  <a:pt x="3699" y="16870"/>
                  <a:pt x="10285" y="10285"/>
                </a:cubicBezTo>
                <a:cubicBezTo>
                  <a:pt x="16870" y="3699"/>
                  <a:pt x="25801" y="0"/>
                  <a:pt x="35114" y="0"/>
                </a:cubicBezTo>
                <a:close/>
              </a:path>
            </a:pathLst>
          </a:custGeom>
          <a:solidFill>
            <a:srgbClr val="EBF0F1"/>
          </a:solidFill>
        </p:spPr>
        <p:txBody>
          <a:bodyPr anchor="ctr"/>
          <a:lstStyle/>
          <a:p>
            <a:pPr algn="ctr"/>
            <a:r>
              <a:rPr lang="ko-KR" altLang="en-US" b="1" spc="-39" dirty="0">
                <a:ea typeface="Source Han Sans KR Bold" panose="020B0600000101010101" charset="-127"/>
              </a:rPr>
              <a:t>금융 상품 진입장벽 발생</a:t>
            </a:r>
            <a:endParaRPr lang="ko-Kore-KR" altLang="en-US" b="1" spc="-39" dirty="0">
              <a:ea typeface="Source Han Sans KR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6872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FDCDC0D9-6541-DEFF-3C6A-0DEDB04F80FF}"/>
              </a:ext>
            </a:extLst>
          </p:cNvPr>
          <p:cNvSpPr/>
          <p:nvPr/>
        </p:nvSpPr>
        <p:spPr>
          <a:xfrm>
            <a:off x="4700887" y="4046652"/>
            <a:ext cx="4185932" cy="692201"/>
          </a:xfrm>
          <a:custGeom>
            <a:avLst/>
            <a:gdLst/>
            <a:ahLst/>
            <a:cxnLst/>
            <a:rect l="l" t="t" r="r" b="b"/>
            <a:pathLst>
              <a:path w="1742067" h="481466">
                <a:moveTo>
                  <a:pt x="35114" y="0"/>
                </a:moveTo>
                <a:lnTo>
                  <a:pt x="1706953" y="0"/>
                </a:lnTo>
                <a:cubicBezTo>
                  <a:pt x="1716266" y="0"/>
                  <a:pt x="1725197" y="3699"/>
                  <a:pt x="1731782" y="10285"/>
                </a:cubicBezTo>
                <a:cubicBezTo>
                  <a:pt x="1738368" y="16870"/>
                  <a:pt x="1742067" y="25801"/>
                  <a:pt x="1742067" y="35114"/>
                </a:cubicBezTo>
                <a:lnTo>
                  <a:pt x="1742067" y="446352"/>
                </a:lnTo>
                <a:cubicBezTo>
                  <a:pt x="1742067" y="455665"/>
                  <a:pt x="1738368" y="464596"/>
                  <a:pt x="1731782" y="471181"/>
                </a:cubicBezTo>
                <a:cubicBezTo>
                  <a:pt x="1725197" y="477766"/>
                  <a:pt x="1716266" y="481466"/>
                  <a:pt x="1706953" y="481466"/>
                </a:cubicBezTo>
                <a:lnTo>
                  <a:pt x="35114" y="481466"/>
                </a:lnTo>
                <a:cubicBezTo>
                  <a:pt x="25801" y="481466"/>
                  <a:pt x="16870" y="477766"/>
                  <a:pt x="10285" y="471181"/>
                </a:cubicBezTo>
                <a:cubicBezTo>
                  <a:pt x="3699" y="464596"/>
                  <a:pt x="0" y="455665"/>
                  <a:pt x="0" y="446352"/>
                </a:cubicBezTo>
                <a:lnTo>
                  <a:pt x="0" y="35114"/>
                </a:lnTo>
                <a:cubicBezTo>
                  <a:pt x="0" y="25801"/>
                  <a:pt x="3699" y="16870"/>
                  <a:pt x="10285" y="10285"/>
                </a:cubicBezTo>
                <a:cubicBezTo>
                  <a:pt x="16870" y="3699"/>
                  <a:pt x="25801" y="0"/>
                  <a:pt x="35114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anchor="ctr"/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ko-KR" altLang="en-US" sz="1200" b="1" dirty="0"/>
              <a:t>사용자 편의성 감소</a:t>
            </a:r>
            <a:r>
              <a:rPr kumimoji="1" lang="en-US" altLang="ko-KR" sz="1200" b="1" dirty="0"/>
              <a:t>:</a:t>
            </a:r>
            <a:r>
              <a:rPr kumimoji="1" lang="ko-KR" altLang="en-US" sz="1200" b="1" dirty="0"/>
              <a:t> </a:t>
            </a:r>
            <a:r>
              <a:rPr kumimoji="1" lang="ko-KR" altLang="en-US" sz="1200" dirty="0"/>
              <a:t>사전 테스트로 지식 측정</a:t>
            </a:r>
            <a:endParaRPr kumimoji="1" lang="en-US" altLang="ko-KR" sz="1200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ko-Kore-KR" altLang="en-US" sz="1200" dirty="0"/>
              <a:t>금융</a:t>
            </a:r>
            <a:r>
              <a:rPr kumimoji="1" lang="ko-KR" altLang="en-US" sz="1200" dirty="0"/>
              <a:t> 지식 수준 </a:t>
            </a:r>
            <a:r>
              <a:rPr kumimoji="1" lang="ko-KR" altLang="en-US" sz="1200" b="1" dirty="0"/>
              <a:t>활용 가능성 </a:t>
            </a:r>
            <a:r>
              <a:rPr kumimoji="1" lang="ko-KR" altLang="en-US" sz="1200" dirty="0"/>
              <a:t>존재</a:t>
            </a:r>
            <a:endParaRPr kumimoji="1" lang="ko-Kore-KR" altLang="en-US" sz="12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1F0769F-7641-6AD3-F5C4-AD1E75BE0968}"/>
              </a:ext>
            </a:extLst>
          </p:cNvPr>
          <p:cNvSpPr/>
          <p:nvPr/>
        </p:nvSpPr>
        <p:spPr>
          <a:xfrm>
            <a:off x="119469" y="900313"/>
            <a:ext cx="4383895" cy="2466664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E5F5889C-25D2-2A23-C057-2256957F6E54}"/>
              </a:ext>
            </a:extLst>
          </p:cNvPr>
          <p:cNvSpPr/>
          <p:nvPr/>
        </p:nvSpPr>
        <p:spPr>
          <a:xfrm>
            <a:off x="246950" y="4053660"/>
            <a:ext cx="4185932" cy="692201"/>
          </a:xfrm>
          <a:custGeom>
            <a:avLst/>
            <a:gdLst/>
            <a:ahLst/>
            <a:cxnLst/>
            <a:rect l="l" t="t" r="r" b="b"/>
            <a:pathLst>
              <a:path w="1742067" h="481466">
                <a:moveTo>
                  <a:pt x="35114" y="0"/>
                </a:moveTo>
                <a:lnTo>
                  <a:pt x="1706953" y="0"/>
                </a:lnTo>
                <a:cubicBezTo>
                  <a:pt x="1716266" y="0"/>
                  <a:pt x="1725197" y="3699"/>
                  <a:pt x="1731782" y="10285"/>
                </a:cubicBezTo>
                <a:cubicBezTo>
                  <a:pt x="1738368" y="16870"/>
                  <a:pt x="1742067" y="25801"/>
                  <a:pt x="1742067" y="35114"/>
                </a:cubicBezTo>
                <a:lnTo>
                  <a:pt x="1742067" y="446352"/>
                </a:lnTo>
                <a:cubicBezTo>
                  <a:pt x="1742067" y="455665"/>
                  <a:pt x="1738368" y="464596"/>
                  <a:pt x="1731782" y="471181"/>
                </a:cubicBezTo>
                <a:cubicBezTo>
                  <a:pt x="1725197" y="477766"/>
                  <a:pt x="1716266" y="481466"/>
                  <a:pt x="1706953" y="481466"/>
                </a:cubicBezTo>
                <a:lnTo>
                  <a:pt x="35114" y="481466"/>
                </a:lnTo>
                <a:cubicBezTo>
                  <a:pt x="25801" y="481466"/>
                  <a:pt x="16870" y="477766"/>
                  <a:pt x="10285" y="471181"/>
                </a:cubicBezTo>
                <a:cubicBezTo>
                  <a:pt x="3699" y="464596"/>
                  <a:pt x="0" y="455665"/>
                  <a:pt x="0" y="446352"/>
                </a:cubicBezTo>
                <a:lnTo>
                  <a:pt x="0" y="35114"/>
                </a:lnTo>
                <a:cubicBezTo>
                  <a:pt x="0" y="25801"/>
                  <a:pt x="3699" y="16870"/>
                  <a:pt x="10285" y="10285"/>
                </a:cubicBezTo>
                <a:cubicBezTo>
                  <a:pt x="16870" y="3699"/>
                  <a:pt x="25801" y="0"/>
                  <a:pt x="35114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anchor="ctr"/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ko-KR" altLang="en-US" sz="1200" dirty="0"/>
              <a:t>사용자의 금융 지식 수준을 고려하지 않은 </a:t>
            </a:r>
            <a:r>
              <a:rPr kumimoji="1" lang="ko-KR" altLang="en-US" sz="1200" b="1" dirty="0"/>
              <a:t>동일한 설명</a:t>
            </a:r>
            <a:endParaRPr kumimoji="1" lang="en-US" altLang="ko-KR" sz="1200" b="1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ko-KR" altLang="en-US" sz="1200" b="1" dirty="0"/>
              <a:t>제한된 범위</a:t>
            </a:r>
            <a:r>
              <a:rPr kumimoji="1" lang="ko-KR" altLang="en-US" sz="1200" dirty="0"/>
              <a:t>의 금융 용어</a:t>
            </a:r>
            <a:endParaRPr kumimoji="1" lang="ko-Kore-KR" altLang="en-US" sz="1200" dirty="0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AD7085B4-4BD3-77C6-12F6-EFD270B61CC5}"/>
              </a:ext>
            </a:extLst>
          </p:cNvPr>
          <p:cNvSpPr/>
          <p:nvPr/>
        </p:nvSpPr>
        <p:spPr>
          <a:xfrm>
            <a:off x="4941205" y="1008672"/>
            <a:ext cx="2470978" cy="381000"/>
          </a:xfrm>
          <a:custGeom>
            <a:avLst/>
            <a:gdLst/>
            <a:ahLst/>
            <a:cxnLst/>
            <a:rect l="l" t="t" r="r" b="b"/>
            <a:pathLst>
              <a:path w="1742067" h="481466">
                <a:moveTo>
                  <a:pt x="35114" y="0"/>
                </a:moveTo>
                <a:lnTo>
                  <a:pt x="1706953" y="0"/>
                </a:lnTo>
                <a:cubicBezTo>
                  <a:pt x="1716266" y="0"/>
                  <a:pt x="1725197" y="3699"/>
                  <a:pt x="1731782" y="10285"/>
                </a:cubicBezTo>
                <a:cubicBezTo>
                  <a:pt x="1738368" y="16870"/>
                  <a:pt x="1742067" y="25801"/>
                  <a:pt x="1742067" y="35114"/>
                </a:cubicBezTo>
                <a:lnTo>
                  <a:pt x="1742067" y="446352"/>
                </a:lnTo>
                <a:cubicBezTo>
                  <a:pt x="1742067" y="455665"/>
                  <a:pt x="1738368" y="464596"/>
                  <a:pt x="1731782" y="471181"/>
                </a:cubicBezTo>
                <a:cubicBezTo>
                  <a:pt x="1725197" y="477766"/>
                  <a:pt x="1716266" y="481466"/>
                  <a:pt x="1706953" y="481466"/>
                </a:cubicBezTo>
                <a:lnTo>
                  <a:pt x="35114" y="481466"/>
                </a:lnTo>
                <a:cubicBezTo>
                  <a:pt x="25801" y="481466"/>
                  <a:pt x="16870" y="477766"/>
                  <a:pt x="10285" y="471181"/>
                </a:cubicBezTo>
                <a:cubicBezTo>
                  <a:pt x="3699" y="464596"/>
                  <a:pt x="0" y="455665"/>
                  <a:pt x="0" y="446352"/>
                </a:cubicBezTo>
                <a:lnTo>
                  <a:pt x="0" y="35114"/>
                </a:lnTo>
                <a:cubicBezTo>
                  <a:pt x="0" y="25801"/>
                  <a:pt x="3699" y="16870"/>
                  <a:pt x="10285" y="10285"/>
                </a:cubicBezTo>
                <a:cubicBezTo>
                  <a:pt x="16870" y="3699"/>
                  <a:pt x="25801" y="0"/>
                  <a:pt x="35114" y="0"/>
                </a:cubicBezTo>
                <a:close/>
              </a:path>
            </a:pathLst>
          </a:custGeom>
          <a:solidFill>
            <a:srgbClr val="EBF0F1"/>
          </a:solidFill>
        </p:spPr>
        <p:txBody>
          <a:bodyPr anchor="ctr"/>
          <a:lstStyle/>
          <a:p>
            <a:pPr algn="ctr"/>
            <a:r>
              <a:rPr lang="ko-Kore-KR" altLang="en-US" b="1" spc="-39" dirty="0">
                <a:ea typeface="Source Han Sans KR Bold" panose="020B0600000101010101" charset="-127"/>
              </a:rPr>
              <a:t>사용자의</a:t>
            </a:r>
            <a:r>
              <a:rPr lang="ko-KR" altLang="en-US" b="1" spc="-39" dirty="0">
                <a:ea typeface="Source Han Sans KR Bold" panose="020B0600000101010101" charset="-127"/>
              </a:rPr>
              <a:t> 금융 관련 수준 판별</a:t>
            </a:r>
            <a:endParaRPr lang="ko-Kore-KR" altLang="en-US" b="1" spc="-39" dirty="0">
              <a:ea typeface="Source Han Sans KR Bold" panose="020B0600000101010101" charset="-127"/>
            </a:endParaRPr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151C8542-B2AD-DC33-C4DC-0303D6A97A99}"/>
              </a:ext>
            </a:extLst>
          </p:cNvPr>
          <p:cNvGrpSpPr/>
          <p:nvPr/>
        </p:nvGrpSpPr>
        <p:grpSpPr>
          <a:xfrm>
            <a:off x="187623" y="956416"/>
            <a:ext cx="1614597" cy="381000"/>
            <a:chOff x="0" y="0"/>
            <a:chExt cx="1742067" cy="481466"/>
          </a:xfrm>
          <a:effectLst/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223EEE18-9F12-2C71-64FE-71F6482A5624}"/>
                </a:ext>
              </a:extLst>
            </p:cNvPr>
            <p:cNvSpPr/>
            <p:nvPr/>
          </p:nvSpPr>
          <p:spPr>
            <a:xfrm>
              <a:off x="0" y="0"/>
              <a:ext cx="1742067" cy="481466"/>
            </a:xfrm>
            <a:custGeom>
              <a:avLst/>
              <a:gdLst/>
              <a:ahLst/>
              <a:cxnLst/>
              <a:rect l="l" t="t" r="r" b="b"/>
              <a:pathLst>
                <a:path w="1742067" h="481466">
                  <a:moveTo>
                    <a:pt x="35114" y="0"/>
                  </a:moveTo>
                  <a:lnTo>
                    <a:pt x="1706953" y="0"/>
                  </a:lnTo>
                  <a:cubicBezTo>
                    <a:pt x="1716266" y="0"/>
                    <a:pt x="1725197" y="3699"/>
                    <a:pt x="1731782" y="10285"/>
                  </a:cubicBezTo>
                  <a:cubicBezTo>
                    <a:pt x="1738368" y="16870"/>
                    <a:pt x="1742067" y="25801"/>
                    <a:pt x="1742067" y="35114"/>
                  </a:cubicBezTo>
                  <a:lnTo>
                    <a:pt x="1742067" y="446352"/>
                  </a:lnTo>
                  <a:cubicBezTo>
                    <a:pt x="1742067" y="455665"/>
                    <a:pt x="1738368" y="464596"/>
                    <a:pt x="1731782" y="471181"/>
                  </a:cubicBezTo>
                  <a:cubicBezTo>
                    <a:pt x="1725197" y="477766"/>
                    <a:pt x="1716266" y="481466"/>
                    <a:pt x="1706953" y="481466"/>
                  </a:cubicBezTo>
                  <a:lnTo>
                    <a:pt x="35114" y="481466"/>
                  </a:lnTo>
                  <a:cubicBezTo>
                    <a:pt x="25801" y="481466"/>
                    <a:pt x="16870" y="477766"/>
                    <a:pt x="10285" y="471181"/>
                  </a:cubicBezTo>
                  <a:cubicBezTo>
                    <a:pt x="3699" y="464596"/>
                    <a:pt x="0" y="455665"/>
                    <a:pt x="0" y="446352"/>
                  </a:cubicBezTo>
                  <a:lnTo>
                    <a:pt x="0" y="35114"/>
                  </a:lnTo>
                  <a:cubicBezTo>
                    <a:pt x="0" y="25801"/>
                    <a:pt x="3699" y="16870"/>
                    <a:pt x="10285" y="10285"/>
                  </a:cubicBezTo>
                  <a:cubicBezTo>
                    <a:pt x="16870" y="3699"/>
                    <a:pt x="25801" y="0"/>
                    <a:pt x="35114" y="0"/>
                  </a:cubicBezTo>
                  <a:close/>
                </a:path>
              </a:pathLst>
            </a:custGeom>
            <a:solidFill>
              <a:srgbClr val="EBF0F1"/>
            </a:solidFill>
          </p:spPr>
          <p:txBody>
            <a:bodyPr/>
            <a:lstStyle/>
            <a:p>
              <a:endParaRPr lang="ko-KR" altLang="en-US" sz="700" dirty="0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6F946CE2-98BC-E131-90EF-6F517940F65E}"/>
                </a:ext>
              </a:extLst>
            </p:cNvPr>
            <p:cNvSpPr txBox="1"/>
            <p:nvPr/>
          </p:nvSpPr>
          <p:spPr>
            <a:xfrm>
              <a:off x="0" y="-114300"/>
              <a:ext cx="1742067" cy="59576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575"/>
                </a:lnSpc>
              </a:pPr>
              <a:endParaRPr sz="700"/>
            </a:p>
          </p:txBody>
        </p:sp>
      </p:grpSp>
      <p:sp>
        <p:nvSpPr>
          <p:cNvPr id="11" name="TextBox 17">
            <a:extLst>
              <a:ext uri="{FF2B5EF4-FFF2-40B4-BE49-F238E27FC236}">
                <a16:creationId xmlns:a16="http://schemas.microsoft.com/office/drawing/2014/main" id="{BBF7B384-251C-1F49-5443-D7B3D331CCD1}"/>
              </a:ext>
            </a:extLst>
          </p:cNvPr>
          <p:cNvSpPr txBox="1"/>
          <p:nvPr/>
        </p:nvSpPr>
        <p:spPr>
          <a:xfrm>
            <a:off x="240644" y="1427865"/>
            <a:ext cx="3515306" cy="795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spc="-39" dirty="0">
                <a:latin typeface="Source Han Sans KR Bold" panose="020B0600000101010101" charset="-127"/>
                <a:ea typeface="Source Han Sans KR Bold" panose="020B0600000101010101" charset="-127"/>
                <a:cs typeface="Source Han Sans KR Bold"/>
                <a:sym typeface="Source Han Sans KR Bold"/>
              </a:rPr>
              <a:t>1.</a:t>
            </a:r>
            <a:r>
              <a:rPr lang="ko-KR" altLang="en-US" sz="1200" b="1" spc="-39" dirty="0">
                <a:latin typeface="Source Han Sans KR Bold" panose="020B0600000101010101" charset="-127"/>
                <a:ea typeface="Source Han Sans KR Bold" panose="020B0600000101010101" charset="-127"/>
                <a:cs typeface="Source Han Sans KR Bold"/>
                <a:sym typeface="Source Han Sans KR Bold"/>
              </a:rPr>
              <a:t> 금융용어사전</a:t>
            </a:r>
            <a:r>
              <a:rPr lang="en-US" altLang="ko-KR" sz="1200" b="1" spc="-39" dirty="0">
                <a:latin typeface="Source Han Sans KR Bold" panose="020B0600000101010101" charset="-127"/>
                <a:ea typeface="Source Han Sans KR Bold" panose="020B0600000101010101" charset="-127"/>
                <a:cs typeface="Source Han Sans KR Bold"/>
                <a:sym typeface="Source Han Sans KR Bold"/>
              </a:rPr>
              <a:t> “</a:t>
            </a:r>
            <a:r>
              <a:rPr lang="ko-KR" altLang="en-US" sz="1200" b="1" spc="-39" dirty="0">
                <a:latin typeface="Source Han Sans KR Bold" panose="020B0600000101010101" charset="-127"/>
                <a:ea typeface="Source Han Sans KR Bold" panose="020B0600000101010101" charset="-127"/>
                <a:cs typeface="Source Han Sans KR Bold"/>
                <a:sym typeface="Source Han Sans KR Bold"/>
              </a:rPr>
              <a:t>파인</a:t>
            </a:r>
            <a:r>
              <a:rPr lang="en-US" altLang="ko-KR" sz="1200" b="1" spc="-39" dirty="0">
                <a:latin typeface="Source Han Sans KR Bold" panose="020B0600000101010101" charset="-127"/>
                <a:ea typeface="Source Han Sans KR Bold" panose="020B0600000101010101" charset="-127"/>
                <a:cs typeface="Source Han Sans KR Bold"/>
                <a:sym typeface="Source Han Sans KR Bold"/>
              </a:rPr>
              <a:t>”: </a:t>
            </a:r>
            <a:r>
              <a:rPr lang="ko-KR" altLang="en-US" sz="1200" b="1" spc="-39" dirty="0">
                <a:latin typeface="Source Han Sans KR Bold" panose="020B0600000101010101" charset="-127"/>
                <a:ea typeface="Source Han Sans KR Bold" panose="020B0600000101010101" charset="-127"/>
                <a:cs typeface="Source Han Sans KR Bold"/>
                <a:sym typeface="Source Han Sans KR Bold"/>
              </a:rPr>
              <a:t>금융 감독원</a:t>
            </a:r>
            <a:endParaRPr lang="en-US" altLang="ko-KR" sz="1200" b="1" spc="-39" dirty="0">
              <a:latin typeface="Source Han Sans KR Bold" panose="020B0600000101010101" charset="-127"/>
              <a:ea typeface="Source Han Sans KR Bold" panose="020B0600000101010101" charset="-127"/>
              <a:cs typeface="Source Han Sans KR Bold"/>
              <a:sym typeface="Source Han Sans KR Bold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spc="-39" dirty="0">
                <a:latin typeface="Source Han Sans KR Bold" panose="020B0600000101010101" charset="-127"/>
                <a:ea typeface="Source Han Sans KR Bold" panose="020B0600000101010101" charset="-127"/>
                <a:cs typeface="Source Han Sans KR Bold"/>
                <a:sym typeface="Source Han Sans KR Bold"/>
              </a:rPr>
              <a:t>2.</a:t>
            </a:r>
            <a:r>
              <a:rPr lang="ko-KR" altLang="en-US" sz="1200" b="1" spc="-39" dirty="0">
                <a:latin typeface="Source Han Sans KR Bold" panose="020B0600000101010101" charset="-127"/>
                <a:ea typeface="Source Han Sans KR Bold" panose="020B0600000101010101" charset="-127"/>
                <a:cs typeface="Source Han Sans KR Bold"/>
                <a:sym typeface="Source Han Sans KR Bold"/>
              </a:rPr>
              <a:t> 알기 쉬운</a:t>
            </a:r>
            <a:r>
              <a:rPr lang="en-US" altLang="ko-KR" sz="1200" b="1" spc="-39" dirty="0">
                <a:latin typeface="Source Han Sans KR Bold" panose="020B0600000101010101" charset="-127"/>
                <a:ea typeface="Source Han Sans KR Bold" panose="020B0600000101010101" charset="-127"/>
                <a:cs typeface="Source Han Sans KR Bold"/>
                <a:sym typeface="Source Han Sans KR Bold"/>
              </a:rPr>
              <a:t>  </a:t>
            </a:r>
            <a:r>
              <a:rPr lang="ko-KR" altLang="en-US" sz="1200" b="1" spc="-39" dirty="0">
                <a:latin typeface="Source Han Sans KR Bold" panose="020B0600000101010101" charset="-127"/>
                <a:ea typeface="Source Han Sans KR Bold" panose="020B0600000101010101" charset="-127"/>
                <a:cs typeface="Source Han Sans KR Bold"/>
                <a:sym typeface="Source Han Sans KR Bold"/>
              </a:rPr>
              <a:t>금융용어 보기 서비스 </a:t>
            </a:r>
            <a:r>
              <a:rPr lang="en-US" altLang="ko-KR" sz="1200" b="1" spc="-39" dirty="0">
                <a:latin typeface="Source Han Sans KR Bold" panose="020B0600000101010101" charset="-127"/>
                <a:ea typeface="Source Han Sans KR Bold" panose="020B0600000101010101" charset="-127"/>
                <a:cs typeface="Source Han Sans KR Bold"/>
                <a:sym typeface="Source Han Sans KR Bold"/>
              </a:rPr>
              <a:t>:</a:t>
            </a:r>
            <a:r>
              <a:rPr lang="ko-KR" altLang="en-US" sz="1200" b="1" spc="-39" dirty="0">
                <a:latin typeface="Source Han Sans KR Bold" panose="020B0600000101010101" charset="-127"/>
                <a:ea typeface="Source Han Sans KR Bold" panose="020B0600000101010101" charset="-127"/>
                <a:cs typeface="Source Han Sans KR Bold"/>
                <a:sym typeface="Source Han Sans KR Bold"/>
              </a:rPr>
              <a:t>생명보험협회</a:t>
            </a:r>
            <a:endParaRPr lang="en-US" altLang="ko-KR" sz="1200" b="1" spc="-39" dirty="0">
              <a:latin typeface="Source Han Sans KR Bold" panose="020B0600000101010101" charset="-127"/>
              <a:ea typeface="Source Han Sans KR Bold" panose="020B0600000101010101" charset="-127"/>
              <a:cs typeface="Source Han Sans KR Bold"/>
              <a:sym typeface="Source Han Sans KR Bold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200" b="1" spc="-39" dirty="0">
              <a:latin typeface="Source Han Sans KR Bold" panose="020B0600000101010101" charset="-127"/>
              <a:ea typeface="Source Han Sans KR Bold" panose="020B0600000101010101" charset="-127"/>
              <a:cs typeface="Source Han Sans KR Bold"/>
              <a:sym typeface="Source Han Sans KR 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FA4F88-41AD-E1B9-4DB5-F7EEF1CAE543}"/>
              </a:ext>
            </a:extLst>
          </p:cNvPr>
          <p:cNvSpPr txBox="1"/>
          <p:nvPr/>
        </p:nvSpPr>
        <p:spPr>
          <a:xfrm>
            <a:off x="252730" y="2010469"/>
            <a:ext cx="2525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100" dirty="0"/>
              <a:t>어려운 금융 용어에 대한 설명 제시</a:t>
            </a:r>
            <a:endParaRPr kumimoji="1" lang="ko-Kore-KR" alt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903B93-AA29-71EF-CA89-AA0F6AB4E589}"/>
              </a:ext>
            </a:extLst>
          </p:cNvPr>
          <p:cNvSpPr txBox="1"/>
          <p:nvPr/>
        </p:nvSpPr>
        <p:spPr>
          <a:xfrm>
            <a:off x="5011955" y="1950663"/>
            <a:ext cx="34483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ore-KR" altLang="en-US" sz="1100" dirty="0"/>
              <a:t>사용자</a:t>
            </a:r>
            <a:r>
              <a:rPr kumimoji="1" lang="ko-KR" altLang="en-US" sz="1100" dirty="0"/>
              <a:t> 스스로 금융 수준에 대한 이해도 확인 가능</a:t>
            </a:r>
            <a:endParaRPr kumimoji="1" lang="ko-Kore-KR" altLang="en-US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33CA1D-33AA-CD54-F1BB-CC61FB629B02}"/>
              </a:ext>
            </a:extLst>
          </p:cNvPr>
          <p:cNvSpPr txBox="1"/>
          <p:nvPr/>
        </p:nvSpPr>
        <p:spPr>
          <a:xfrm>
            <a:off x="290939" y="991322"/>
            <a:ext cx="1321260" cy="32521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ts val="1950"/>
              </a:lnSpc>
            </a:pPr>
            <a:r>
              <a:rPr lang="ko-Kore-KR" altLang="en-US" b="1" spc="-39" dirty="0">
                <a:ea typeface="Source Han Sans KR Bold" panose="020B0600000101010101" charset="-127"/>
              </a:rPr>
              <a:t>금융</a:t>
            </a:r>
            <a:r>
              <a:rPr lang="ko-KR" altLang="en-US" b="1" spc="-39" dirty="0">
                <a:ea typeface="Source Han Sans KR Bold" panose="020B0600000101010101" charset="-127"/>
              </a:rPr>
              <a:t> 용어 설명</a:t>
            </a:r>
            <a:endParaRPr lang="ko-Kore-KR" altLang="en-US" b="1" spc="-39" dirty="0">
              <a:ea typeface="Source Han Sans KR Bold" panose="020B0600000101010101" charset="-127"/>
            </a:endParaRPr>
          </a:p>
        </p:txBody>
      </p:sp>
      <p:sp>
        <p:nvSpPr>
          <p:cNvPr id="16" name="TextBox 17">
            <a:extLst>
              <a:ext uri="{FF2B5EF4-FFF2-40B4-BE49-F238E27FC236}">
                <a16:creationId xmlns:a16="http://schemas.microsoft.com/office/drawing/2014/main" id="{A915CA72-FAA5-AD5D-3823-131BFC9184E5}"/>
              </a:ext>
            </a:extLst>
          </p:cNvPr>
          <p:cNvSpPr txBox="1"/>
          <p:nvPr/>
        </p:nvSpPr>
        <p:spPr>
          <a:xfrm>
            <a:off x="4990433" y="1435041"/>
            <a:ext cx="3515306" cy="1031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50"/>
              </a:lnSpc>
            </a:pPr>
            <a:r>
              <a:rPr lang="en-US" altLang="ko-KR" sz="1200" b="1" spc="-39" dirty="0">
                <a:latin typeface="Source Han Sans KR Bold" panose="020B0600000101010101" charset="-127"/>
                <a:ea typeface="Source Han Sans KR Bold" panose="020B0600000101010101" charset="-127"/>
                <a:cs typeface="Source Han Sans KR Bold"/>
                <a:sym typeface="Source Han Sans KR Bold"/>
              </a:rPr>
              <a:t>1.</a:t>
            </a:r>
            <a:r>
              <a:rPr lang="ko-KR" altLang="en-US" sz="1200" b="1" spc="-39" dirty="0">
                <a:latin typeface="Source Han Sans KR Bold" panose="020B0600000101010101" charset="-127"/>
                <a:ea typeface="Source Han Sans KR Bold" panose="020B0600000101010101" charset="-127"/>
                <a:cs typeface="Source Han Sans KR Bold"/>
                <a:sym typeface="Source Han Sans KR Bold"/>
              </a:rPr>
              <a:t> </a:t>
            </a:r>
            <a:r>
              <a:rPr lang="en-US" altLang="ko-KR" sz="1200" b="1" spc="-39" dirty="0">
                <a:latin typeface="Source Han Sans KR Bold" panose="020B0600000101010101" charset="-127"/>
                <a:ea typeface="Source Han Sans KR Bold" panose="020B0600000101010101" charset="-127"/>
                <a:cs typeface="Source Han Sans KR Bold"/>
                <a:sym typeface="Source Han Sans KR Bold"/>
              </a:rPr>
              <a:t>E-</a:t>
            </a:r>
            <a:r>
              <a:rPr lang="ko-KR" altLang="en-US" sz="1200" b="1" spc="-39" dirty="0">
                <a:latin typeface="Source Han Sans KR Bold" panose="020B0600000101010101" charset="-127"/>
                <a:ea typeface="Source Han Sans KR Bold" panose="020B0600000101010101" charset="-127"/>
                <a:cs typeface="Source Han Sans KR Bold"/>
                <a:sym typeface="Source Han Sans KR Bold"/>
              </a:rPr>
              <a:t>금융교육센터</a:t>
            </a:r>
            <a:r>
              <a:rPr lang="en-US" altLang="ko-KR" sz="1200" b="1" spc="-39" dirty="0">
                <a:latin typeface="Source Han Sans KR Bold" panose="020B0600000101010101" charset="-127"/>
                <a:ea typeface="Source Han Sans KR Bold" panose="020B0600000101010101" charset="-127"/>
                <a:cs typeface="Source Han Sans KR Bold"/>
                <a:sym typeface="Source Han Sans KR Bold"/>
              </a:rPr>
              <a:t>:</a:t>
            </a:r>
            <a:r>
              <a:rPr lang="ko-KR" altLang="en-US" sz="1200" b="1" spc="-39" dirty="0">
                <a:latin typeface="Source Han Sans KR Bold" panose="020B0600000101010101" charset="-127"/>
                <a:ea typeface="Source Han Sans KR Bold" panose="020B0600000101010101" charset="-127"/>
                <a:cs typeface="Source Han Sans KR Bold"/>
                <a:sym typeface="Source Han Sans KR Bold"/>
              </a:rPr>
              <a:t> 금융감독원</a:t>
            </a:r>
            <a:endParaRPr lang="en-US" altLang="ko-KR" sz="1200" b="1" spc="-39" dirty="0">
              <a:latin typeface="Source Han Sans KR Bold" panose="020B0600000101010101" charset="-127"/>
              <a:ea typeface="Source Han Sans KR Bold" panose="020B0600000101010101" charset="-127"/>
              <a:cs typeface="Source Han Sans KR Bold"/>
              <a:sym typeface="Source Han Sans KR Bold"/>
            </a:endParaRPr>
          </a:p>
          <a:p>
            <a:pPr>
              <a:lnSpc>
                <a:spcPts val="1950"/>
              </a:lnSpc>
            </a:pPr>
            <a:r>
              <a:rPr lang="en-US" altLang="ko-KR" sz="1200" b="1" spc="-39" dirty="0">
                <a:latin typeface="Source Han Sans KR Bold" panose="020B0600000101010101" charset="-127"/>
                <a:ea typeface="Source Han Sans KR Bold" panose="020B0600000101010101" charset="-127"/>
                <a:cs typeface="Source Han Sans KR Bold"/>
                <a:sym typeface="Source Han Sans KR Bold"/>
              </a:rPr>
              <a:t>2.</a:t>
            </a:r>
            <a:r>
              <a:rPr lang="ko-KR" altLang="en-US" sz="1200" b="1" spc="-39" dirty="0">
                <a:latin typeface="Source Han Sans KR Bold" panose="020B0600000101010101" charset="-127"/>
                <a:ea typeface="Source Han Sans KR Bold" panose="020B0600000101010101" charset="-127"/>
                <a:cs typeface="Source Han Sans KR Bold"/>
                <a:sym typeface="Source Han Sans KR Bold"/>
              </a:rPr>
              <a:t> 투자성향 분석 </a:t>
            </a:r>
            <a:r>
              <a:rPr lang="en-US" altLang="ko-KR" sz="1200" b="1" spc="-39" dirty="0">
                <a:latin typeface="Source Han Sans KR Bold" panose="020B0600000101010101" charset="-127"/>
                <a:ea typeface="Source Han Sans KR Bold" panose="020B0600000101010101" charset="-127"/>
                <a:cs typeface="Source Han Sans KR Bold"/>
                <a:sym typeface="Source Han Sans KR Bold"/>
              </a:rPr>
              <a:t>(</a:t>
            </a:r>
            <a:r>
              <a:rPr lang="ko-KR" altLang="en-US" sz="1200" b="1" spc="-39" dirty="0">
                <a:latin typeface="Source Han Sans KR Bold" panose="020B0600000101010101" charset="-127"/>
                <a:ea typeface="Source Han Sans KR Bold" panose="020B0600000101010101" charset="-127"/>
                <a:cs typeface="Source Han Sans KR Bold"/>
                <a:sym typeface="Source Han Sans KR Bold"/>
              </a:rPr>
              <a:t>증권사 및 </a:t>
            </a:r>
            <a:r>
              <a:rPr lang="ko-KR" altLang="en-US" sz="1200" b="1" spc="-39" dirty="0" err="1">
                <a:latin typeface="Source Han Sans KR Bold" panose="020B0600000101010101" charset="-127"/>
                <a:ea typeface="Source Han Sans KR Bold" panose="020B0600000101010101" charset="-127"/>
                <a:cs typeface="Source Han Sans KR Bold"/>
                <a:sym typeface="Source Han Sans KR Bold"/>
              </a:rPr>
              <a:t>은행사</a:t>
            </a:r>
            <a:r>
              <a:rPr lang="en-US" altLang="ko-KR" sz="1200" b="1" spc="-39" dirty="0">
                <a:latin typeface="Source Han Sans KR Bold" panose="020B0600000101010101" charset="-127"/>
                <a:ea typeface="Source Han Sans KR Bold" panose="020B0600000101010101" charset="-127"/>
                <a:cs typeface="Source Han Sans KR Bold"/>
                <a:sym typeface="Source Han Sans KR Bold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200" b="1" spc="-39" dirty="0">
              <a:latin typeface="Source Han Sans KR Bold" panose="020B0600000101010101" charset="-127"/>
              <a:ea typeface="Source Han Sans KR Bold" panose="020B0600000101010101" charset="-127"/>
              <a:cs typeface="Source Han Sans KR Bold"/>
              <a:sym typeface="Source Han Sans KR Bold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200" b="1" spc="-39" dirty="0">
              <a:latin typeface="Source Han Sans KR Bold" panose="020B0600000101010101" charset="-127"/>
              <a:ea typeface="Source Han Sans KR Bold" panose="020B0600000101010101" charset="-127"/>
              <a:cs typeface="Source Han Sans KR Bold"/>
              <a:sym typeface="Source Han Sans KR Bold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E01E7A3-8DA1-AFB9-0F9F-1FC121558F1E}"/>
              </a:ext>
            </a:extLst>
          </p:cNvPr>
          <p:cNvSpPr/>
          <p:nvPr/>
        </p:nvSpPr>
        <p:spPr>
          <a:xfrm>
            <a:off x="4882616" y="914489"/>
            <a:ext cx="3730940" cy="2695089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18" name="그림 17" descr="텍스트, 소프트웨어, 웹 페이지, 웹사이트이(가) 표시된 사진&#10;&#10;자동 생성된 설명">
            <a:extLst>
              <a:ext uri="{FF2B5EF4-FFF2-40B4-BE49-F238E27FC236}">
                <a16:creationId xmlns:a16="http://schemas.microsoft.com/office/drawing/2014/main" id="{9000A1CA-9C30-F762-5D7D-CDDE5B512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5791" y="2259295"/>
            <a:ext cx="2602879" cy="126508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9" name="그림 18" descr="텍스트, 폰트, 스크린샷, 라인이(가) 표시된 사진&#10;&#10;자동 생성된 설명">
            <a:extLst>
              <a:ext uri="{FF2B5EF4-FFF2-40B4-BE49-F238E27FC236}">
                <a16:creationId xmlns:a16="http://schemas.microsoft.com/office/drawing/2014/main" id="{8255108C-0E7C-9FCA-8739-91FE4A36B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60" y="2272079"/>
            <a:ext cx="4276309" cy="102919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20" name="Freeform 15">
            <a:extLst>
              <a:ext uri="{FF2B5EF4-FFF2-40B4-BE49-F238E27FC236}">
                <a16:creationId xmlns:a16="http://schemas.microsoft.com/office/drawing/2014/main" id="{D03E485E-0F8D-304A-DA62-C557B564E4A2}"/>
              </a:ext>
            </a:extLst>
          </p:cNvPr>
          <p:cNvSpPr/>
          <p:nvPr/>
        </p:nvSpPr>
        <p:spPr>
          <a:xfrm rot="5400000">
            <a:off x="1961964" y="3561834"/>
            <a:ext cx="550181" cy="302067"/>
          </a:xfrm>
          <a:custGeom>
            <a:avLst/>
            <a:gdLst/>
            <a:ahLst/>
            <a:cxnLst/>
            <a:rect l="l" t="t" r="r" b="b"/>
            <a:pathLst>
              <a:path w="1100359" h="778254">
                <a:moveTo>
                  <a:pt x="0" y="0"/>
                </a:moveTo>
                <a:lnTo>
                  <a:pt x="1100360" y="0"/>
                </a:lnTo>
                <a:lnTo>
                  <a:pt x="1100360" y="778254"/>
                </a:lnTo>
                <a:lnTo>
                  <a:pt x="0" y="778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ore-KR" altLang="en-US" sz="700"/>
          </a:p>
        </p:txBody>
      </p:sp>
      <p:sp>
        <p:nvSpPr>
          <p:cNvPr id="21" name="Freeform 15">
            <a:extLst>
              <a:ext uri="{FF2B5EF4-FFF2-40B4-BE49-F238E27FC236}">
                <a16:creationId xmlns:a16="http://schemas.microsoft.com/office/drawing/2014/main" id="{D5A128BF-7A14-998A-DC28-852C8EAB076E}"/>
              </a:ext>
            </a:extLst>
          </p:cNvPr>
          <p:cNvSpPr/>
          <p:nvPr/>
        </p:nvSpPr>
        <p:spPr>
          <a:xfrm rot="5400000">
            <a:off x="6442364" y="3653968"/>
            <a:ext cx="365917" cy="302067"/>
          </a:xfrm>
          <a:custGeom>
            <a:avLst/>
            <a:gdLst/>
            <a:ahLst/>
            <a:cxnLst/>
            <a:rect l="l" t="t" r="r" b="b"/>
            <a:pathLst>
              <a:path w="1100359" h="778254">
                <a:moveTo>
                  <a:pt x="0" y="0"/>
                </a:moveTo>
                <a:lnTo>
                  <a:pt x="1100360" y="0"/>
                </a:lnTo>
                <a:lnTo>
                  <a:pt x="1100360" y="778254"/>
                </a:lnTo>
                <a:lnTo>
                  <a:pt x="0" y="778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ore-KR" altLang="en-US" sz="700"/>
          </a:p>
        </p:txBody>
      </p:sp>
      <p:sp>
        <p:nvSpPr>
          <p:cNvPr id="22" name="Google Shape;444;p41">
            <a:extLst>
              <a:ext uri="{FF2B5EF4-FFF2-40B4-BE49-F238E27FC236}">
                <a16:creationId xmlns:a16="http://schemas.microsoft.com/office/drawing/2014/main" id="{FCEECDEC-DFB3-4D87-9B44-41FD2909C24E}"/>
              </a:ext>
            </a:extLst>
          </p:cNvPr>
          <p:cNvSpPr txBox="1"/>
          <p:nvPr/>
        </p:nvSpPr>
        <p:spPr>
          <a:xfrm>
            <a:off x="221324" y="129109"/>
            <a:ext cx="287932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기존 유사 서비스</a:t>
            </a:r>
            <a:endParaRPr sz="700" b="1" dirty="0"/>
          </a:p>
        </p:txBody>
      </p:sp>
    </p:spTree>
    <p:extLst>
      <p:ext uri="{BB962C8B-B14F-4D97-AF65-F5344CB8AC3E}">
        <p14:creationId xmlns:p14="http://schemas.microsoft.com/office/powerpoint/2010/main" val="2718143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AD448-AB6E-8B67-E049-9C14BBD47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40;p26">
            <a:extLst>
              <a:ext uri="{FF2B5EF4-FFF2-40B4-BE49-F238E27FC236}">
                <a16:creationId xmlns:a16="http://schemas.microsoft.com/office/drawing/2014/main" id="{265DEEAB-261D-5FFE-154C-93E898717AAB}"/>
              </a:ext>
            </a:extLst>
          </p:cNvPr>
          <p:cNvSpPr/>
          <p:nvPr/>
        </p:nvSpPr>
        <p:spPr>
          <a:xfrm>
            <a:off x="0" y="-53100"/>
            <a:ext cx="9143998" cy="5196600"/>
          </a:xfrm>
          <a:custGeom>
            <a:avLst/>
            <a:gdLst/>
            <a:ahLst/>
            <a:cxnLst/>
            <a:rect l="l" t="t" r="r" b="b"/>
            <a:pathLst>
              <a:path w="4816592" h="1966933" extrusionOk="0">
                <a:moveTo>
                  <a:pt x="0" y="0"/>
                </a:moveTo>
                <a:lnTo>
                  <a:pt x="4816592" y="0"/>
                </a:lnTo>
                <a:lnTo>
                  <a:pt x="4816592" y="1966933"/>
                </a:lnTo>
                <a:lnTo>
                  <a:pt x="0" y="1966933"/>
                </a:lnTo>
                <a:close/>
              </a:path>
            </a:pathLst>
          </a:custGeom>
          <a:solidFill>
            <a:srgbClr val="EBF0F1"/>
          </a:solidFill>
          <a:ln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" name="Google Shape;157;p27">
            <a:extLst>
              <a:ext uri="{FF2B5EF4-FFF2-40B4-BE49-F238E27FC236}">
                <a16:creationId xmlns:a16="http://schemas.microsoft.com/office/drawing/2014/main" id="{D3AA9A57-44BE-A73D-A960-38FB0B519F3C}"/>
              </a:ext>
            </a:extLst>
          </p:cNvPr>
          <p:cNvSpPr/>
          <p:nvPr/>
        </p:nvSpPr>
        <p:spPr>
          <a:xfrm>
            <a:off x="2762085" y="2444236"/>
            <a:ext cx="3320528" cy="2423985"/>
          </a:xfrm>
          <a:custGeom>
            <a:avLst/>
            <a:gdLst/>
            <a:ahLst/>
            <a:cxnLst/>
            <a:rect l="l" t="t" r="r" b="b"/>
            <a:pathLst>
              <a:path w="6641056" h="4847971" extrusionOk="0">
                <a:moveTo>
                  <a:pt x="0" y="0"/>
                </a:moveTo>
                <a:lnTo>
                  <a:pt x="6641056" y="0"/>
                </a:lnTo>
                <a:lnTo>
                  <a:pt x="6641056" y="4847971"/>
                </a:lnTo>
                <a:lnTo>
                  <a:pt x="0" y="48479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" name="Google Shape;158;p27">
            <a:extLst>
              <a:ext uri="{FF2B5EF4-FFF2-40B4-BE49-F238E27FC236}">
                <a16:creationId xmlns:a16="http://schemas.microsoft.com/office/drawing/2014/main" id="{BD515815-47D5-9E8F-F3E7-26E113C04185}"/>
              </a:ext>
            </a:extLst>
          </p:cNvPr>
          <p:cNvSpPr txBox="1"/>
          <p:nvPr/>
        </p:nvSpPr>
        <p:spPr>
          <a:xfrm>
            <a:off x="2762068" y="808679"/>
            <a:ext cx="3638731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200" b="1" dirty="0">
                <a:solidFill>
                  <a:srgbClr val="20344B"/>
                </a:solidFill>
              </a:rPr>
              <a:t>0</a:t>
            </a:r>
            <a:r>
              <a:rPr lang="en-US" altLang="ko" sz="3200" b="1" dirty="0">
                <a:solidFill>
                  <a:srgbClr val="20344B"/>
                </a:solidFill>
              </a:rPr>
              <a:t>2</a:t>
            </a:r>
            <a:endParaRPr sz="3200" b="1" dirty="0">
              <a:solidFill>
                <a:srgbClr val="20344B"/>
              </a:solidFill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 dirty="0">
                <a:solidFill>
                  <a:srgbClr val="20344B"/>
                </a:solidFill>
              </a:rPr>
              <a:t>아이디어 설명</a:t>
            </a:r>
            <a:endParaRPr sz="3200" b="1" dirty="0">
              <a:solidFill>
                <a:srgbClr val="20344B"/>
              </a:solidFill>
            </a:endParaRPr>
          </a:p>
        </p:txBody>
      </p:sp>
      <p:sp>
        <p:nvSpPr>
          <p:cNvPr id="6" name="Google Shape;159;p27">
            <a:extLst>
              <a:ext uri="{FF2B5EF4-FFF2-40B4-BE49-F238E27FC236}">
                <a16:creationId xmlns:a16="http://schemas.microsoft.com/office/drawing/2014/main" id="{EC32CD46-66EA-0C0C-6A19-F33DE318A6DD}"/>
              </a:ext>
            </a:extLst>
          </p:cNvPr>
          <p:cNvSpPr/>
          <p:nvPr/>
        </p:nvSpPr>
        <p:spPr>
          <a:xfrm>
            <a:off x="0" y="-26550"/>
            <a:ext cx="722700" cy="5196600"/>
          </a:xfrm>
          <a:prstGeom prst="rect">
            <a:avLst/>
          </a:prstGeom>
          <a:solidFill>
            <a:srgbClr val="68BBCD"/>
          </a:solidFill>
          <a:ln w="9525" cap="flat" cmpd="sng">
            <a:solidFill>
              <a:srgbClr val="68BB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60;p27">
            <a:extLst>
              <a:ext uri="{FF2B5EF4-FFF2-40B4-BE49-F238E27FC236}">
                <a16:creationId xmlns:a16="http://schemas.microsoft.com/office/drawing/2014/main" id="{F533A51A-5DC6-D563-4DBE-2D071A3341A3}"/>
              </a:ext>
            </a:extLst>
          </p:cNvPr>
          <p:cNvSpPr/>
          <p:nvPr/>
        </p:nvSpPr>
        <p:spPr>
          <a:xfrm>
            <a:off x="8421300" y="-26550"/>
            <a:ext cx="722700" cy="5196600"/>
          </a:xfrm>
          <a:prstGeom prst="rect">
            <a:avLst/>
          </a:prstGeom>
          <a:solidFill>
            <a:srgbClr val="68BBCD"/>
          </a:solidFill>
          <a:ln w="9525" cap="flat" cmpd="sng">
            <a:solidFill>
              <a:srgbClr val="68BB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0889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727EE-E5B7-5C01-7160-16ADA254E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3">
            <a:extLst>
              <a:ext uri="{FF2B5EF4-FFF2-40B4-BE49-F238E27FC236}">
                <a16:creationId xmlns:a16="http://schemas.microsoft.com/office/drawing/2014/main" id="{26A19906-12DB-E4BC-3F99-E4E6642F7EB2}"/>
              </a:ext>
            </a:extLst>
          </p:cNvPr>
          <p:cNvSpPr/>
          <p:nvPr/>
        </p:nvSpPr>
        <p:spPr>
          <a:xfrm>
            <a:off x="4572000" y="1126894"/>
            <a:ext cx="3347712" cy="430887"/>
          </a:xfrm>
          <a:custGeom>
            <a:avLst/>
            <a:gdLst/>
            <a:ahLst/>
            <a:cxnLst/>
            <a:rect l="l" t="t" r="r" b="b"/>
            <a:pathLst>
              <a:path w="1742067" h="481466">
                <a:moveTo>
                  <a:pt x="35114" y="0"/>
                </a:moveTo>
                <a:lnTo>
                  <a:pt x="1706953" y="0"/>
                </a:lnTo>
                <a:cubicBezTo>
                  <a:pt x="1716266" y="0"/>
                  <a:pt x="1725197" y="3699"/>
                  <a:pt x="1731782" y="10285"/>
                </a:cubicBezTo>
                <a:cubicBezTo>
                  <a:pt x="1738368" y="16870"/>
                  <a:pt x="1742067" y="25801"/>
                  <a:pt x="1742067" y="35114"/>
                </a:cubicBezTo>
                <a:lnTo>
                  <a:pt x="1742067" y="446352"/>
                </a:lnTo>
                <a:cubicBezTo>
                  <a:pt x="1742067" y="455665"/>
                  <a:pt x="1738368" y="464596"/>
                  <a:pt x="1731782" y="471181"/>
                </a:cubicBezTo>
                <a:cubicBezTo>
                  <a:pt x="1725197" y="477766"/>
                  <a:pt x="1716266" y="481466"/>
                  <a:pt x="1706953" y="481466"/>
                </a:cubicBezTo>
                <a:lnTo>
                  <a:pt x="35114" y="481466"/>
                </a:lnTo>
                <a:cubicBezTo>
                  <a:pt x="25801" y="481466"/>
                  <a:pt x="16870" y="477766"/>
                  <a:pt x="10285" y="471181"/>
                </a:cubicBezTo>
                <a:cubicBezTo>
                  <a:pt x="3699" y="464596"/>
                  <a:pt x="0" y="455665"/>
                  <a:pt x="0" y="446352"/>
                </a:cubicBezTo>
                <a:lnTo>
                  <a:pt x="0" y="35114"/>
                </a:lnTo>
                <a:cubicBezTo>
                  <a:pt x="0" y="25801"/>
                  <a:pt x="3699" y="16870"/>
                  <a:pt x="10285" y="10285"/>
                </a:cubicBezTo>
                <a:cubicBezTo>
                  <a:pt x="16870" y="3699"/>
                  <a:pt x="25801" y="0"/>
                  <a:pt x="35114" y="0"/>
                </a:cubicBezTo>
                <a:close/>
              </a:path>
            </a:pathLst>
          </a:custGeom>
          <a:solidFill>
            <a:srgbClr val="EBF0F1"/>
          </a:solidFill>
        </p:spPr>
        <p:txBody>
          <a:bodyPr anchor="ctr"/>
          <a:lstStyle/>
          <a:p>
            <a:pPr>
              <a:lnSpc>
                <a:spcPct val="150000"/>
              </a:lnSpc>
            </a:pPr>
            <a:endParaRPr kumimoji="1" lang="en-US" altLang="ko-KR" sz="1200" b="1" dirty="0"/>
          </a:p>
        </p:txBody>
      </p:sp>
      <p:sp>
        <p:nvSpPr>
          <p:cNvPr id="19" name="Google Shape;444;p41">
            <a:extLst>
              <a:ext uri="{FF2B5EF4-FFF2-40B4-BE49-F238E27FC236}">
                <a16:creationId xmlns:a16="http://schemas.microsoft.com/office/drawing/2014/main" id="{ECF18DD2-2F1A-3380-0204-CD1BDF49D06C}"/>
              </a:ext>
            </a:extLst>
          </p:cNvPr>
          <p:cNvSpPr txBox="1"/>
          <p:nvPr/>
        </p:nvSpPr>
        <p:spPr>
          <a:xfrm>
            <a:off x="221324" y="129109"/>
            <a:ext cx="923024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아이디어 설명</a:t>
            </a:r>
            <a:r>
              <a:rPr lang="en-US" altLang="ko-KR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ko-KR" altLang="en-US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ko-KR" altLang="en-US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사용자 맞춤형 </a:t>
            </a:r>
            <a:r>
              <a:rPr lang="en-US" altLang="ko-KR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r>
              <a:rPr lang="ko-KR" altLang="en-US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금융 지식 답변 서비스</a:t>
            </a:r>
            <a:r>
              <a:rPr lang="en-US" altLang="ko-KR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700" b="1" dirty="0"/>
          </a:p>
        </p:txBody>
      </p:sp>
      <p:sp>
        <p:nvSpPr>
          <p:cNvPr id="65" name="Freeform 3">
            <a:extLst>
              <a:ext uri="{FF2B5EF4-FFF2-40B4-BE49-F238E27FC236}">
                <a16:creationId xmlns:a16="http://schemas.microsoft.com/office/drawing/2014/main" id="{9527A563-2E5C-A664-A559-7EA10B3E775A}"/>
              </a:ext>
            </a:extLst>
          </p:cNvPr>
          <p:cNvSpPr/>
          <p:nvPr/>
        </p:nvSpPr>
        <p:spPr>
          <a:xfrm>
            <a:off x="530092" y="2365134"/>
            <a:ext cx="3396296" cy="714262"/>
          </a:xfrm>
          <a:custGeom>
            <a:avLst/>
            <a:gdLst/>
            <a:ahLst/>
            <a:cxnLst/>
            <a:rect l="l" t="t" r="r" b="b"/>
            <a:pathLst>
              <a:path w="1742067" h="481466">
                <a:moveTo>
                  <a:pt x="35114" y="0"/>
                </a:moveTo>
                <a:lnTo>
                  <a:pt x="1706953" y="0"/>
                </a:lnTo>
                <a:cubicBezTo>
                  <a:pt x="1716266" y="0"/>
                  <a:pt x="1725197" y="3699"/>
                  <a:pt x="1731782" y="10285"/>
                </a:cubicBezTo>
                <a:cubicBezTo>
                  <a:pt x="1738368" y="16870"/>
                  <a:pt x="1742067" y="25801"/>
                  <a:pt x="1742067" y="35114"/>
                </a:cubicBezTo>
                <a:lnTo>
                  <a:pt x="1742067" y="446352"/>
                </a:lnTo>
                <a:cubicBezTo>
                  <a:pt x="1742067" y="455665"/>
                  <a:pt x="1738368" y="464596"/>
                  <a:pt x="1731782" y="471181"/>
                </a:cubicBezTo>
                <a:cubicBezTo>
                  <a:pt x="1725197" y="477766"/>
                  <a:pt x="1716266" y="481466"/>
                  <a:pt x="1706953" y="481466"/>
                </a:cubicBezTo>
                <a:lnTo>
                  <a:pt x="35114" y="481466"/>
                </a:lnTo>
                <a:cubicBezTo>
                  <a:pt x="25801" y="481466"/>
                  <a:pt x="16870" y="477766"/>
                  <a:pt x="10285" y="471181"/>
                </a:cubicBezTo>
                <a:cubicBezTo>
                  <a:pt x="3699" y="464596"/>
                  <a:pt x="0" y="455665"/>
                  <a:pt x="0" y="446352"/>
                </a:cubicBezTo>
                <a:lnTo>
                  <a:pt x="0" y="35114"/>
                </a:lnTo>
                <a:cubicBezTo>
                  <a:pt x="0" y="25801"/>
                  <a:pt x="3699" y="16870"/>
                  <a:pt x="10285" y="10285"/>
                </a:cubicBezTo>
                <a:cubicBezTo>
                  <a:pt x="16870" y="3699"/>
                  <a:pt x="25801" y="0"/>
                  <a:pt x="35114" y="0"/>
                </a:cubicBezTo>
                <a:close/>
              </a:path>
            </a:pathLst>
          </a:custGeom>
          <a:solidFill>
            <a:srgbClr val="EBF0F1"/>
          </a:solidFill>
        </p:spPr>
        <p:txBody>
          <a:bodyPr anchor="ctr"/>
          <a:lstStyle/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ko-KR" altLang="en-US" sz="1200" b="1" dirty="0"/>
              <a:t>자유롭게</a:t>
            </a:r>
            <a:r>
              <a:rPr kumimoji="1" lang="ko-KR" altLang="en-US" sz="1200" dirty="0"/>
              <a:t> 질문 가능한 매개체</a:t>
            </a:r>
            <a:endParaRPr kumimoji="1" lang="en-US" altLang="ko-KR" sz="1200" dirty="0"/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ko-KR" altLang="en-US" sz="1200" b="1" dirty="0"/>
              <a:t>질문</a:t>
            </a:r>
            <a:r>
              <a:rPr kumimoji="1" lang="ko-KR" altLang="en-US" sz="1200" dirty="0"/>
              <a:t>을 통한 </a:t>
            </a:r>
            <a:r>
              <a:rPr kumimoji="1" lang="ko-KR" altLang="en-US" sz="1200" b="1" dirty="0"/>
              <a:t>금융 지식 수준 </a:t>
            </a:r>
            <a:r>
              <a:rPr kumimoji="1" lang="ko-KR" altLang="en-US" sz="1200" dirty="0"/>
              <a:t>실시간 </a:t>
            </a:r>
            <a:r>
              <a:rPr kumimoji="1" lang="ko-KR" altLang="en-US" sz="1200" b="1" dirty="0"/>
              <a:t>판단</a:t>
            </a:r>
            <a:endParaRPr kumimoji="1" lang="en-US" altLang="ko-KR" sz="12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CC9ECD-B41B-868D-4080-7FDBD8750C0D}"/>
              </a:ext>
            </a:extLst>
          </p:cNvPr>
          <p:cNvSpPr txBox="1"/>
          <p:nvPr/>
        </p:nvSpPr>
        <p:spPr>
          <a:xfrm>
            <a:off x="4528557" y="1200919"/>
            <a:ext cx="33477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1200" b="1" dirty="0"/>
              <a:t>주요</a:t>
            </a:r>
            <a:r>
              <a:rPr kumimoji="1" lang="ko-KR" altLang="en-US" sz="1200" b="1" dirty="0"/>
              <a:t> </a:t>
            </a:r>
            <a:r>
              <a:rPr kumimoji="1" lang="ko-Kore-KR" altLang="en-US" sz="1200" b="1" dirty="0"/>
              <a:t>타겟층</a:t>
            </a:r>
            <a:r>
              <a:rPr kumimoji="1" lang="en-US" altLang="ko-Kore-KR" sz="1200" b="1" dirty="0"/>
              <a:t>:</a:t>
            </a:r>
            <a:r>
              <a:rPr kumimoji="1" lang="ko-KR" altLang="en-US" sz="1200" b="1" dirty="0"/>
              <a:t> </a:t>
            </a:r>
            <a:r>
              <a:rPr lang="en-US" altLang="ko-Kore-KR" sz="1200" spc="-40" dirty="0" err="1">
                <a:solidFill>
                  <a:srgbClr val="20344B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금융</a:t>
            </a:r>
            <a:r>
              <a:rPr lang="en-US" altLang="ko-Kore-KR" sz="1200" spc="-40" dirty="0">
                <a:solidFill>
                  <a:srgbClr val="20344B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ko-KR" altLang="en-US" sz="1200" spc="-40" dirty="0">
                <a:solidFill>
                  <a:srgbClr val="20344B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지식</a:t>
            </a:r>
            <a:r>
              <a:rPr lang="en-US" altLang="ko-KR" sz="1200" spc="-40" dirty="0">
                <a:solidFill>
                  <a:srgbClr val="20344B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(</a:t>
            </a:r>
            <a:r>
              <a:rPr lang="ko-KR" altLang="en-US" sz="1200" spc="-40" dirty="0">
                <a:solidFill>
                  <a:srgbClr val="20344B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이해력</a:t>
            </a:r>
            <a:r>
              <a:rPr lang="en-US" altLang="ko-KR" sz="1200" spc="-40" dirty="0">
                <a:solidFill>
                  <a:srgbClr val="20344B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)</a:t>
            </a:r>
            <a:r>
              <a:rPr lang="ko-KR" altLang="en-US" sz="1200" spc="-40" dirty="0">
                <a:solidFill>
                  <a:srgbClr val="20344B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이 낮은 사용자들</a:t>
            </a:r>
            <a:endParaRPr lang="en-US" altLang="ko-Kore-KR" sz="1200" spc="-40" dirty="0">
              <a:solidFill>
                <a:srgbClr val="20344B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EF38D48D-F043-02AB-EA41-F8861C47F0C9}"/>
              </a:ext>
            </a:extLst>
          </p:cNvPr>
          <p:cNvSpPr/>
          <p:nvPr/>
        </p:nvSpPr>
        <p:spPr>
          <a:xfrm>
            <a:off x="283535" y="1843160"/>
            <a:ext cx="8493902" cy="2451548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pSp>
        <p:nvGrpSpPr>
          <p:cNvPr id="77" name="Group 12">
            <a:extLst>
              <a:ext uri="{FF2B5EF4-FFF2-40B4-BE49-F238E27FC236}">
                <a16:creationId xmlns:a16="http://schemas.microsoft.com/office/drawing/2014/main" id="{AE35343F-E578-1675-A768-E8D52E05247D}"/>
              </a:ext>
            </a:extLst>
          </p:cNvPr>
          <p:cNvGrpSpPr/>
          <p:nvPr/>
        </p:nvGrpSpPr>
        <p:grpSpPr>
          <a:xfrm>
            <a:off x="478562" y="2108881"/>
            <a:ext cx="1866910" cy="305048"/>
            <a:chOff x="0" y="0"/>
            <a:chExt cx="6007788" cy="3507953"/>
          </a:xfrm>
          <a:effectLst/>
        </p:grpSpPr>
        <p:grpSp>
          <p:nvGrpSpPr>
            <p:cNvPr id="78" name="Group 13">
              <a:extLst>
                <a:ext uri="{FF2B5EF4-FFF2-40B4-BE49-F238E27FC236}">
                  <a16:creationId xmlns:a16="http://schemas.microsoft.com/office/drawing/2014/main" id="{04A99D50-8F7C-F6FE-632A-FB8F1D091A74}"/>
                </a:ext>
              </a:extLst>
            </p:cNvPr>
            <p:cNvGrpSpPr/>
            <p:nvPr/>
          </p:nvGrpSpPr>
          <p:grpSpPr>
            <a:xfrm>
              <a:off x="0" y="0"/>
              <a:ext cx="6007788" cy="3507953"/>
              <a:chOff x="0" y="0"/>
              <a:chExt cx="1309904" cy="764854"/>
            </a:xfrm>
          </p:grpSpPr>
          <p:sp>
            <p:nvSpPr>
              <p:cNvPr id="80" name="Freeform 14">
                <a:extLst>
                  <a:ext uri="{FF2B5EF4-FFF2-40B4-BE49-F238E27FC236}">
                    <a16:creationId xmlns:a16="http://schemas.microsoft.com/office/drawing/2014/main" id="{FAB97E24-B0E2-D774-C4EF-FE18A12DB7FB}"/>
                  </a:ext>
                </a:extLst>
              </p:cNvPr>
              <p:cNvSpPr/>
              <p:nvPr/>
            </p:nvSpPr>
            <p:spPr>
              <a:xfrm>
                <a:off x="0" y="0"/>
                <a:ext cx="1309904" cy="764854"/>
              </a:xfrm>
              <a:custGeom>
                <a:avLst/>
                <a:gdLst/>
                <a:ahLst/>
                <a:cxnLst/>
                <a:rect l="l" t="t" r="r" b="b"/>
                <a:pathLst>
                  <a:path w="1309904" h="764854">
                    <a:moveTo>
                      <a:pt x="37800" y="0"/>
                    </a:moveTo>
                    <a:lnTo>
                      <a:pt x="1272104" y="0"/>
                    </a:lnTo>
                    <a:cubicBezTo>
                      <a:pt x="1292981" y="0"/>
                      <a:pt x="1309904" y="16924"/>
                      <a:pt x="1309904" y="37800"/>
                    </a:cubicBezTo>
                    <a:lnTo>
                      <a:pt x="1309904" y="727054"/>
                    </a:lnTo>
                    <a:cubicBezTo>
                      <a:pt x="1309904" y="747931"/>
                      <a:pt x="1292981" y="764854"/>
                      <a:pt x="1272104" y="764854"/>
                    </a:cubicBezTo>
                    <a:lnTo>
                      <a:pt x="37800" y="764854"/>
                    </a:lnTo>
                    <a:cubicBezTo>
                      <a:pt x="16924" y="764854"/>
                      <a:pt x="0" y="747931"/>
                      <a:pt x="0" y="727054"/>
                    </a:cubicBezTo>
                    <a:lnTo>
                      <a:pt x="0" y="37800"/>
                    </a:lnTo>
                    <a:cubicBezTo>
                      <a:pt x="0" y="16924"/>
                      <a:pt x="16924" y="0"/>
                      <a:pt x="378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68BBCD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 sz="700"/>
              </a:p>
            </p:txBody>
          </p:sp>
          <p:sp>
            <p:nvSpPr>
              <p:cNvPr id="81" name="TextBox 15">
                <a:extLst>
                  <a:ext uri="{FF2B5EF4-FFF2-40B4-BE49-F238E27FC236}">
                    <a16:creationId xmlns:a16="http://schemas.microsoft.com/office/drawing/2014/main" id="{9F5280D7-071A-8A79-3B40-58718F0C154B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309904" cy="822004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575"/>
                  </a:lnSpc>
                </a:pPr>
                <a:endParaRPr sz="700"/>
              </a:p>
            </p:txBody>
          </p:sp>
        </p:grpSp>
        <p:sp>
          <p:nvSpPr>
            <p:cNvPr id="79" name="TextBox 17">
              <a:extLst>
                <a:ext uri="{FF2B5EF4-FFF2-40B4-BE49-F238E27FC236}">
                  <a16:creationId xmlns:a16="http://schemas.microsoft.com/office/drawing/2014/main" id="{8505F97E-4C95-0E55-4190-B61D84AE1D0F}"/>
                </a:ext>
              </a:extLst>
            </p:cNvPr>
            <p:cNvSpPr txBox="1"/>
            <p:nvPr/>
          </p:nvSpPr>
          <p:spPr>
            <a:xfrm>
              <a:off x="665785" y="545334"/>
              <a:ext cx="4727999" cy="24014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ko-KR" altLang="en-US" sz="1300" b="1" spc="-39" dirty="0">
                  <a:solidFill>
                    <a:srgbClr val="1195B2"/>
                  </a:solidFill>
                  <a:latin typeface="Source Han Sans KR Bold" panose="020B0600000101010101" charset="-127"/>
                  <a:ea typeface="Source Han Sans KR Bold" panose="020B0600000101010101" charset="-127"/>
                  <a:cs typeface="Source Han Sans KR Bold"/>
                  <a:sym typeface="Source Han Sans KR Bold"/>
                </a:rPr>
                <a:t>사용자 편의성 증진</a:t>
              </a:r>
              <a:endParaRPr lang="en-US" sz="1300" b="1" spc="-39" dirty="0">
                <a:solidFill>
                  <a:srgbClr val="1195B2"/>
                </a:solidFill>
                <a:latin typeface="Source Han Sans KR Bold" panose="020B0600000101010101" charset="-127"/>
                <a:ea typeface="Source Han Sans KR Bold" panose="020B0600000101010101" charset="-127"/>
                <a:cs typeface="Source Han Sans KR Bold"/>
                <a:sym typeface="Source Han Sans KR Bold"/>
              </a:endParaRPr>
            </a:p>
          </p:txBody>
        </p:sp>
      </p:grpSp>
      <p:sp>
        <p:nvSpPr>
          <p:cNvPr id="17" name="Freeform 3">
            <a:extLst>
              <a:ext uri="{FF2B5EF4-FFF2-40B4-BE49-F238E27FC236}">
                <a16:creationId xmlns:a16="http://schemas.microsoft.com/office/drawing/2014/main" id="{22D42749-E1E5-E9A3-7B6E-D4B2623882DA}"/>
              </a:ext>
            </a:extLst>
          </p:cNvPr>
          <p:cNvSpPr/>
          <p:nvPr/>
        </p:nvSpPr>
        <p:spPr>
          <a:xfrm>
            <a:off x="4427071" y="3393315"/>
            <a:ext cx="3639645" cy="641089"/>
          </a:xfrm>
          <a:custGeom>
            <a:avLst/>
            <a:gdLst/>
            <a:ahLst/>
            <a:cxnLst/>
            <a:rect l="l" t="t" r="r" b="b"/>
            <a:pathLst>
              <a:path w="1742067" h="481466">
                <a:moveTo>
                  <a:pt x="35114" y="0"/>
                </a:moveTo>
                <a:lnTo>
                  <a:pt x="1706953" y="0"/>
                </a:lnTo>
                <a:cubicBezTo>
                  <a:pt x="1716266" y="0"/>
                  <a:pt x="1725197" y="3699"/>
                  <a:pt x="1731782" y="10285"/>
                </a:cubicBezTo>
                <a:cubicBezTo>
                  <a:pt x="1738368" y="16870"/>
                  <a:pt x="1742067" y="25801"/>
                  <a:pt x="1742067" y="35114"/>
                </a:cubicBezTo>
                <a:lnTo>
                  <a:pt x="1742067" y="446352"/>
                </a:lnTo>
                <a:cubicBezTo>
                  <a:pt x="1742067" y="455665"/>
                  <a:pt x="1738368" y="464596"/>
                  <a:pt x="1731782" y="471181"/>
                </a:cubicBezTo>
                <a:cubicBezTo>
                  <a:pt x="1725197" y="477766"/>
                  <a:pt x="1716266" y="481466"/>
                  <a:pt x="1706953" y="481466"/>
                </a:cubicBezTo>
                <a:lnTo>
                  <a:pt x="35114" y="481466"/>
                </a:lnTo>
                <a:cubicBezTo>
                  <a:pt x="25801" y="481466"/>
                  <a:pt x="16870" y="477766"/>
                  <a:pt x="10285" y="471181"/>
                </a:cubicBezTo>
                <a:cubicBezTo>
                  <a:pt x="3699" y="464596"/>
                  <a:pt x="0" y="455665"/>
                  <a:pt x="0" y="446352"/>
                </a:cubicBezTo>
                <a:lnTo>
                  <a:pt x="0" y="35114"/>
                </a:lnTo>
                <a:cubicBezTo>
                  <a:pt x="0" y="25801"/>
                  <a:pt x="3699" y="16870"/>
                  <a:pt x="10285" y="10285"/>
                </a:cubicBezTo>
                <a:cubicBezTo>
                  <a:pt x="16870" y="3699"/>
                  <a:pt x="25801" y="0"/>
                  <a:pt x="35114" y="0"/>
                </a:cubicBezTo>
                <a:close/>
              </a:path>
            </a:pathLst>
          </a:custGeom>
          <a:solidFill>
            <a:srgbClr val="EBF0F1"/>
          </a:solidFill>
        </p:spPr>
        <p:txBody>
          <a:bodyPr anchor="ctr"/>
          <a:lstStyle/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ko-KR" sz="1200" dirty="0"/>
              <a:t>AI</a:t>
            </a:r>
            <a:r>
              <a:rPr kumimoji="1" lang="ko-KR" altLang="en-US" sz="1200" dirty="0"/>
              <a:t>의 </a:t>
            </a:r>
            <a:r>
              <a:rPr kumimoji="1" lang="ko-KR" altLang="en-US" sz="1200" b="1" dirty="0"/>
              <a:t>학습된 기존 금융 지식</a:t>
            </a:r>
            <a:endParaRPr kumimoji="1" lang="en-US" altLang="ko-KR" sz="1200" b="1" dirty="0"/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ko-KR" altLang="en-US" sz="1200" dirty="0"/>
              <a:t>사용자가 </a:t>
            </a:r>
            <a:r>
              <a:rPr kumimoji="1" lang="ko-KR" altLang="en-US" sz="1200" b="1" dirty="0"/>
              <a:t>추가 금융 상품 문서 업로드 </a:t>
            </a:r>
            <a:r>
              <a:rPr kumimoji="1" lang="ko-KR" altLang="en-US" sz="1200" dirty="0"/>
              <a:t>가능</a:t>
            </a:r>
            <a:endParaRPr kumimoji="1" lang="en-US" altLang="ko-KR" sz="1200" dirty="0"/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6F802370-24CA-BA0C-EDA0-E75CDD994D97}"/>
              </a:ext>
            </a:extLst>
          </p:cNvPr>
          <p:cNvGrpSpPr/>
          <p:nvPr/>
        </p:nvGrpSpPr>
        <p:grpSpPr>
          <a:xfrm>
            <a:off x="4361967" y="3122995"/>
            <a:ext cx="3208875" cy="532619"/>
            <a:chOff x="0" y="0"/>
            <a:chExt cx="6007788" cy="6124946"/>
          </a:xfrm>
          <a:effectLst/>
        </p:grpSpPr>
        <p:grpSp>
          <p:nvGrpSpPr>
            <p:cNvPr id="3" name="Group 13">
              <a:extLst>
                <a:ext uri="{FF2B5EF4-FFF2-40B4-BE49-F238E27FC236}">
                  <a16:creationId xmlns:a16="http://schemas.microsoft.com/office/drawing/2014/main" id="{9C2E40EC-5A21-F4E9-14E7-3DEC733F2E9F}"/>
                </a:ext>
              </a:extLst>
            </p:cNvPr>
            <p:cNvGrpSpPr/>
            <p:nvPr/>
          </p:nvGrpSpPr>
          <p:grpSpPr>
            <a:xfrm>
              <a:off x="0" y="0"/>
              <a:ext cx="6007788" cy="3507953"/>
              <a:chOff x="0" y="0"/>
              <a:chExt cx="1309904" cy="764854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87EF5A6-4D0E-43A2-B82A-4B2E82D41DF1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309904" cy="822004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575"/>
                  </a:lnSpc>
                </a:pPr>
                <a:endParaRPr sz="700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1F30084-37BF-1C20-AA8F-E200B98C0024}"/>
                  </a:ext>
                </a:extLst>
              </p:cNvPr>
              <p:cNvSpPr/>
              <p:nvPr/>
            </p:nvSpPr>
            <p:spPr>
              <a:xfrm>
                <a:off x="0" y="0"/>
                <a:ext cx="1309904" cy="764854"/>
              </a:xfrm>
              <a:custGeom>
                <a:avLst/>
                <a:gdLst/>
                <a:ahLst/>
                <a:cxnLst/>
                <a:rect l="l" t="t" r="r" b="b"/>
                <a:pathLst>
                  <a:path w="1309904" h="764854">
                    <a:moveTo>
                      <a:pt x="37800" y="0"/>
                    </a:moveTo>
                    <a:lnTo>
                      <a:pt x="1272104" y="0"/>
                    </a:lnTo>
                    <a:cubicBezTo>
                      <a:pt x="1292981" y="0"/>
                      <a:pt x="1309904" y="16924"/>
                      <a:pt x="1309904" y="37800"/>
                    </a:cubicBezTo>
                    <a:lnTo>
                      <a:pt x="1309904" y="727054"/>
                    </a:lnTo>
                    <a:cubicBezTo>
                      <a:pt x="1309904" y="747931"/>
                      <a:pt x="1292981" y="764854"/>
                      <a:pt x="1272104" y="764854"/>
                    </a:cubicBezTo>
                    <a:lnTo>
                      <a:pt x="37800" y="764854"/>
                    </a:lnTo>
                    <a:cubicBezTo>
                      <a:pt x="16924" y="764854"/>
                      <a:pt x="0" y="747931"/>
                      <a:pt x="0" y="727054"/>
                    </a:cubicBezTo>
                    <a:lnTo>
                      <a:pt x="0" y="37800"/>
                    </a:lnTo>
                    <a:cubicBezTo>
                      <a:pt x="0" y="16924"/>
                      <a:pt x="16924" y="0"/>
                      <a:pt x="378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68BBCD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 sz="700"/>
              </a:p>
            </p:txBody>
          </p:sp>
        </p:grpSp>
        <p:sp>
          <p:nvSpPr>
            <p:cNvPr id="4" name="TextBox 17">
              <a:extLst>
                <a:ext uri="{FF2B5EF4-FFF2-40B4-BE49-F238E27FC236}">
                  <a16:creationId xmlns:a16="http://schemas.microsoft.com/office/drawing/2014/main" id="{F3C55FDC-5053-62BB-E74C-B983CF01F949}"/>
                </a:ext>
              </a:extLst>
            </p:cNvPr>
            <p:cNvSpPr txBox="1"/>
            <p:nvPr/>
          </p:nvSpPr>
          <p:spPr>
            <a:xfrm>
              <a:off x="665786" y="545338"/>
              <a:ext cx="4728000" cy="55796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ko-KR" altLang="en-US" sz="1300" b="1" spc="-39" dirty="0">
                  <a:solidFill>
                    <a:srgbClr val="1195B2"/>
                  </a:solidFill>
                  <a:latin typeface="Source Han Sans KR Bold" panose="020B0600000101010101" charset="-127"/>
                  <a:ea typeface="Source Han Sans KR Bold" panose="020B0600000101010101" charset="-127"/>
                  <a:cs typeface="Source Han Sans KR Bold"/>
                  <a:sym typeface="Source Han Sans KR Bold"/>
                </a:rPr>
                <a:t>다양한 범위의 금융 지식 질문 가능</a:t>
              </a:r>
              <a:endParaRPr lang="en-US" sz="1300" b="1" spc="-39" dirty="0">
                <a:solidFill>
                  <a:srgbClr val="1195B2"/>
                </a:solidFill>
                <a:latin typeface="Source Han Sans KR Bold" panose="020B0600000101010101" charset="-127"/>
                <a:ea typeface="Source Han Sans KR Bold" panose="020B0600000101010101" charset="-127"/>
                <a:cs typeface="Source Han Sans KR Bold"/>
                <a:sym typeface="Source Han Sans KR Bold"/>
              </a:endParaRPr>
            </a:p>
          </p:txBody>
        </p:sp>
      </p:grpSp>
      <p:sp>
        <p:nvSpPr>
          <p:cNvPr id="18" name="Freeform 3">
            <a:extLst>
              <a:ext uri="{FF2B5EF4-FFF2-40B4-BE49-F238E27FC236}">
                <a16:creationId xmlns:a16="http://schemas.microsoft.com/office/drawing/2014/main" id="{A041E807-B096-5C5C-F1B5-5B8EAFBF26AF}"/>
              </a:ext>
            </a:extLst>
          </p:cNvPr>
          <p:cNvSpPr/>
          <p:nvPr/>
        </p:nvSpPr>
        <p:spPr>
          <a:xfrm>
            <a:off x="4456729" y="2299117"/>
            <a:ext cx="4166612" cy="479089"/>
          </a:xfrm>
          <a:custGeom>
            <a:avLst/>
            <a:gdLst/>
            <a:ahLst/>
            <a:cxnLst/>
            <a:rect l="l" t="t" r="r" b="b"/>
            <a:pathLst>
              <a:path w="1742067" h="481466">
                <a:moveTo>
                  <a:pt x="35114" y="0"/>
                </a:moveTo>
                <a:lnTo>
                  <a:pt x="1706953" y="0"/>
                </a:lnTo>
                <a:cubicBezTo>
                  <a:pt x="1716266" y="0"/>
                  <a:pt x="1725197" y="3699"/>
                  <a:pt x="1731782" y="10285"/>
                </a:cubicBezTo>
                <a:cubicBezTo>
                  <a:pt x="1738368" y="16870"/>
                  <a:pt x="1742067" y="25801"/>
                  <a:pt x="1742067" y="35114"/>
                </a:cubicBezTo>
                <a:lnTo>
                  <a:pt x="1742067" y="446352"/>
                </a:lnTo>
                <a:cubicBezTo>
                  <a:pt x="1742067" y="455665"/>
                  <a:pt x="1738368" y="464596"/>
                  <a:pt x="1731782" y="471181"/>
                </a:cubicBezTo>
                <a:cubicBezTo>
                  <a:pt x="1725197" y="477766"/>
                  <a:pt x="1716266" y="481466"/>
                  <a:pt x="1706953" y="481466"/>
                </a:cubicBezTo>
                <a:lnTo>
                  <a:pt x="35114" y="481466"/>
                </a:lnTo>
                <a:cubicBezTo>
                  <a:pt x="25801" y="481466"/>
                  <a:pt x="16870" y="477766"/>
                  <a:pt x="10285" y="471181"/>
                </a:cubicBezTo>
                <a:cubicBezTo>
                  <a:pt x="3699" y="464596"/>
                  <a:pt x="0" y="455665"/>
                  <a:pt x="0" y="446352"/>
                </a:cubicBezTo>
                <a:lnTo>
                  <a:pt x="0" y="35114"/>
                </a:lnTo>
                <a:cubicBezTo>
                  <a:pt x="0" y="25801"/>
                  <a:pt x="3699" y="16870"/>
                  <a:pt x="10285" y="10285"/>
                </a:cubicBezTo>
                <a:cubicBezTo>
                  <a:pt x="16870" y="3699"/>
                  <a:pt x="25801" y="0"/>
                  <a:pt x="35114" y="0"/>
                </a:cubicBezTo>
                <a:close/>
              </a:path>
            </a:pathLst>
          </a:custGeom>
          <a:solidFill>
            <a:srgbClr val="EBF0F1"/>
          </a:solidFill>
        </p:spPr>
        <p:txBody>
          <a:bodyPr anchor="ctr"/>
          <a:lstStyle/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ko-KR" altLang="en-US" sz="1200" dirty="0"/>
              <a:t>개인별 금융 지식 수준 구분에 따른 </a:t>
            </a:r>
            <a:r>
              <a:rPr kumimoji="1" lang="ko-KR" altLang="en-US" sz="1200" b="1" dirty="0"/>
              <a:t>설명 답변 추가 가공</a:t>
            </a:r>
            <a:endParaRPr kumimoji="1" lang="en-US" altLang="ko-KR" sz="1200" b="1" dirty="0"/>
          </a:p>
        </p:txBody>
      </p:sp>
      <p:grpSp>
        <p:nvGrpSpPr>
          <p:cNvPr id="82" name="Group 12">
            <a:extLst>
              <a:ext uri="{FF2B5EF4-FFF2-40B4-BE49-F238E27FC236}">
                <a16:creationId xmlns:a16="http://schemas.microsoft.com/office/drawing/2014/main" id="{8FBFB61A-47B7-8FB2-39E1-BE658688766D}"/>
              </a:ext>
            </a:extLst>
          </p:cNvPr>
          <p:cNvGrpSpPr/>
          <p:nvPr/>
        </p:nvGrpSpPr>
        <p:grpSpPr>
          <a:xfrm>
            <a:off x="4385485" y="2114914"/>
            <a:ext cx="2073303" cy="532619"/>
            <a:chOff x="0" y="0"/>
            <a:chExt cx="6007788" cy="6124946"/>
          </a:xfrm>
          <a:effectLst/>
        </p:grpSpPr>
        <p:grpSp>
          <p:nvGrpSpPr>
            <p:cNvPr id="83" name="Group 13">
              <a:extLst>
                <a:ext uri="{FF2B5EF4-FFF2-40B4-BE49-F238E27FC236}">
                  <a16:creationId xmlns:a16="http://schemas.microsoft.com/office/drawing/2014/main" id="{B68AF0DB-E36C-6858-F426-9AA0B4FF474F}"/>
                </a:ext>
              </a:extLst>
            </p:cNvPr>
            <p:cNvGrpSpPr/>
            <p:nvPr/>
          </p:nvGrpSpPr>
          <p:grpSpPr>
            <a:xfrm>
              <a:off x="0" y="0"/>
              <a:ext cx="6007788" cy="3507953"/>
              <a:chOff x="0" y="0"/>
              <a:chExt cx="1309904" cy="764854"/>
            </a:xfrm>
          </p:grpSpPr>
          <p:sp>
            <p:nvSpPr>
              <p:cNvPr id="85" name="Freeform 14">
                <a:extLst>
                  <a:ext uri="{FF2B5EF4-FFF2-40B4-BE49-F238E27FC236}">
                    <a16:creationId xmlns:a16="http://schemas.microsoft.com/office/drawing/2014/main" id="{39F40659-2893-7751-A9BC-48126DA33A05}"/>
                  </a:ext>
                </a:extLst>
              </p:cNvPr>
              <p:cNvSpPr/>
              <p:nvPr/>
            </p:nvSpPr>
            <p:spPr>
              <a:xfrm>
                <a:off x="0" y="0"/>
                <a:ext cx="1309904" cy="764854"/>
              </a:xfrm>
              <a:custGeom>
                <a:avLst/>
                <a:gdLst/>
                <a:ahLst/>
                <a:cxnLst/>
                <a:rect l="l" t="t" r="r" b="b"/>
                <a:pathLst>
                  <a:path w="1309904" h="764854">
                    <a:moveTo>
                      <a:pt x="37800" y="0"/>
                    </a:moveTo>
                    <a:lnTo>
                      <a:pt x="1272104" y="0"/>
                    </a:lnTo>
                    <a:cubicBezTo>
                      <a:pt x="1292981" y="0"/>
                      <a:pt x="1309904" y="16924"/>
                      <a:pt x="1309904" y="37800"/>
                    </a:cubicBezTo>
                    <a:lnTo>
                      <a:pt x="1309904" y="727054"/>
                    </a:lnTo>
                    <a:cubicBezTo>
                      <a:pt x="1309904" y="747931"/>
                      <a:pt x="1292981" y="764854"/>
                      <a:pt x="1272104" y="764854"/>
                    </a:cubicBezTo>
                    <a:lnTo>
                      <a:pt x="37800" y="764854"/>
                    </a:lnTo>
                    <a:cubicBezTo>
                      <a:pt x="16924" y="764854"/>
                      <a:pt x="0" y="747931"/>
                      <a:pt x="0" y="727054"/>
                    </a:cubicBezTo>
                    <a:lnTo>
                      <a:pt x="0" y="37800"/>
                    </a:lnTo>
                    <a:cubicBezTo>
                      <a:pt x="0" y="16924"/>
                      <a:pt x="16924" y="0"/>
                      <a:pt x="378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68BBCD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 sz="700"/>
              </a:p>
            </p:txBody>
          </p:sp>
          <p:sp>
            <p:nvSpPr>
              <p:cNvPr id="86" name="TextBox 15">
                <a:extLst>
                  <a:ext uri="{FF2B5EF4-FFF2-40B4-BE49-F238E27FC236}">
                    <a16:creationId xmlns:a16="http://schemas.microsoft.com/office/drawing/2014/main" id="{2F51A480-7496-7D26-320F-E55358787CC1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309904" cy="822004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575"/>
                  </a:lnSpc>
                </a:pPr>
                <a:endParaRPr sz="700"/>
              </a:p>
            </p:txBody>
          </p:sp>
        </p:grpSp>
        <p:sp>
          <p:nvSpPr>
            <p:cNvPr id="84" name="TextBox 17">
              <a:extLst>
                <a:ext uri="{FF2B5EF4-FFF2-40B4-BE49-F238E27FC236}">
                  <a16:creationId xmlns:a16="http://schemas.microsoft.com/office/drawing/2014/main" id="{2F429887-1D34-6F28-B10F-E1911540EF15}"/>
                </a:ext>
              </a:extLst>
            </p:cNvPr>
            <p:cNvSpPr txBox="1"/>
            <p:nvPr/>
          </p:nvSpPr>
          <p:spPr>
            <a:xfrm>
              <a:off x="665786" y="545338"/>
              <a:ext cx="4728000" cy="55796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ko-KR" altLang="en-US" sz="1300" b="1" spc="-39" dirty="0">
                  <a:solidFill>
                    <a:srgbClr val="1195B2"/>
                  </a:solidFill>
                  <a:latin typeface="Source Han Sans KR Bold" panose="020B0600000101010101" charset="-127"/>
                  <a:ea typeface="Source Han Sans KR Bold" panose="020B0600000101010101" charset="-127"/>
                  <a:cs typeface="Source Han Sans KR Bold"/>
                  <a:sym typeface="Source Han Sans KR Bold"/>
                </a:rPr>
                <a:t>맞춤형 학습 경험 제공</a:t>
              </a:r>
              <a:endParaRPr lang="en-US" sz="1300" b="1" spc="-39" dirty="0">
                <a:solidFill>
                  <a:srgbClr val="1195B2"/>
                </a:solidFill>
                <a:latin typeface="Source Han Sans KR Bold" panose="020B0600000101010101" charset="-127"/>
                <a:ea typeface="Source Han Sans KR Bold" panose="020B0600000101010101" charset="-127"/>
                <a:cs typeface="Source Han Sans KR Bold"/>
                <a:sym typeface="Source Han Sans KR Bold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653E8DB-B69C-02D5-7874-5C087ADA3E73}"/>
              </a:ext>
            </a:extLst>
          </p:cNvPr>
          <p:cNvSpPr txBox="1"/>
          <p:nvPr/>
        </p:nvSpPr>
        <p:spPr>
          <a:xfrm>
            <a:off x="685454" y="3041561"/>
            <a:ext cx="3316934" cy="8224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ore-KR" altLang="en-US" sz="1100" dirty="0"/>
              <a:t>질문에는</a:t>
            </a:r>
            <a:r>
              <a:rPr kumimoji="1" lang="ko-KR" altLang="en-US" sz="1100" dirty="0"/>
              <a:t> 질문자의 이해도나 경험이 반영</a:t>
            </a:r>
            <a:br>
              <a:rPr kumimoji="1" lang="en-US" altLang="ko-KR" sz="1100" dirty="0"/>
            </a:br>
            <a:r>
              <a:rPr kumimoji="1" lang="ko-KR" altLang="en-US" sz="1100" dirty="0"/>
              <a:t>예시</a:t>
            </a:r>
            <a:r>
              <a:rPr kumimoji="1" lang="en-US" altLang="ko-KR" sz="1100" dirty="0"/>
              <a:t>) </a:t>
            </a:r>
            <a:r>
              <a:rPr kumimoji="1" lang="ko-KR" altLang="en-US" sz="1100" dirty="0"/>
              <a:t>초급</a:t>
            </a:r>
            <a:r>
              <a:rPr kumimoji="1" lang="en-US" altLang="ko-KR" sz="1100" dirty="0"/>
              <a:t>:</a:t>
            </a:r>
            <a:r>
              <a:rPr kumimoji="1" lang="ko-KR" altLang="en-US" sz="1100" dirty="0"/>
              <a:t> </a:t>
            </a:r>
            <a:r>
              <a:rPr kumimoji="1" lang="en-US" altLang="ko-KR" sz="1100" dirty="0"/>
              <a:t>‘</a:t>
            </a:r>
            <a:r>
              <a:rPr kumimoji="1" lang="ko-KR" altLang="en-US" sz="1100" dirty="0"/>
              <a:t>적금과 예금의 차이는 무엇인가요</a:t>
            </a:r>
            <a:r>
              <a:rPr kumimoji="1" lang="en-US" altLang="ko-KR" sz="1100" dirty="0"/>
              <a:t>?’</a:t>
            </a:r>
            <a:br>
              <a:rPr kumimoji="1" lang="en-US" altLang="ko-KR" sz="1100" dirty="0"/>
            </a:br>
            <a:r>
              <a:rPr kumimoji="1" lang="en-US" altLang="ko-KR" sz="1100" dirty="0"/>
              <a:t>       </a:t>
            </a:r>
            <a:r>
              <a:rPr kumimoji="1" lang="ko-KR" altLang="en-US" sz="1100" dirty="0"/>
              <a:t>  중급</a:t>
            </a:r>
            <a:r>
              <a:rPr kumimoji="1" lang="en-US" altLang="ko-KR" sz="1100" dirty="0"/>
              <a:t>:</a:t>
            </a:r>
            <a:r>
              <a:rPr kumimoji="1" lang="ko-KR" altLang="en-US" sz="1100" dirty="0"/>
              <a:t> </a:t>
            </a:r>
            <a:r>
              <a:rPr kumimoji="1" lang="en-US" altLang="ko-KR" sz="1100" dirty="0"/>
              <a:t>‘ETF</a:t>
            </a:r>
            <a:r>
              <a:rPr kumimoji="1" lang="ko-KR" altLang="en-US" sz="1100" dirty="0"/>
              <a:t>의 리스크 관리 방법은</a:t>
            </a:r>
            <a:r>
              <a:rPr kumimoji="1" lang="en-US" altLang="ko-KR" sz="1100" dirty="0"/>
              <a:t>?’</a:t>
            </a:r>
          </a:p>
        </p:txBody>
      </p:sp>
      <p:sp>
        <p:nvSpPr>
          <p:cNvPr id="35" name="Freeform 3">
            <a:extLst>
              <a:ext uri="{FF2B5EF4-FFF2-40B4-BE49-F238E27FC236}">
                <a16:creationId xmlns:a16="http://schemas.microsoft.com/office/drawing/2014/main" id="{E1660B5D-E413-F8BC-A42E-F297780C7C79}"/>
              </a:ext>
            </a:extLst>
          </p:cNvPr>
          <p:cNvSpPr/>
          <p:nvPr/>
        </p:nvSpPr>
        <p:spPr>
          <a:xfrm>
            <a:off x="1034566" y="1126894"/>
            <a:ext cx="2900411" cy="430887"/>
          </a:xfrm>
          <a:custGeom>
            <a:avLst/>
            <a:gdLst/>
            <a:ahLst/>
            <a:cxnLst/>
            <a:rect l="l" t="t" r="r" b="b"/>
            <a:pathLst>
              <a:path w="1742067" h="481466">
                <a:moveTo>
                  <a:pt x="35114" y="0"/>
                </a:moveTo>
                <a:lnTo>
                  <a:pt x="1706953" y="0"/>
                </a:lnTo>
                <a:cubicBezTo>
                  <a:pt x="1716266" y="0"/>
                  <a:pt x="1725197" y="3699"/>
                  <a:pt x="1731782" y="10285"/>
                </a:cubicBezTo>
                <a:cubicBezTo>
                  <a:pt x="1738368" y="16870"/>
                  <a:pt x="1742067" y="25801"/>
                  <a:pt x="1742067" y="35114"/>
                </a:cubicBezTo>
                <a:lnTo>
                  <a:pt x="1742067" y="446352"/>
                </a:lnTo>
                <a:cubicBezTo>
                  <a:pt x="1742067" y="455665"/>
                  <a:pt x="1738368" y="464596"/>
                  <a:pt x="1731782" y="471181"/>
                </a:cubicBezTo>
                <a:cubicBezTo>
                  <a:pt x="1725197" y="477766"/>
                  <a:pt x="1716266" y="481466"/>
                  <a:pt x="1706953" y="481466"/>
                </a:cubicBezTo>
                <a:lnTo>
                  <a:pt x="35114" y="481466"/>
                </a:lnTo>
                <a:cubicBezTo>
                  <a:pt x="25801" y="481466"/>
                  <a:pt x="16870" y="477766"/>
                  <a:pt x="10285" y="471181"/>
                </a:cubicBezTo>
                <a:cubicBezTo>
                  <a:pt x="3699" y="464596"/>
                  <a:pt x="0" y="455665"/>
                  <a:pt x="0" y="446352"/>
                </a:cubicBezTo>
                <a:lnTo>
                  <a:pt x="0" y="35114"/>
                </a:lnTo>
                <a:cubicBezTo>
                  <a:pt x="0" y="25801"/>
                  <a:pt x="3699" y="16870"/>
                  <a:pt x="10285" y="10285"/>
                </a:cubicBezTo>
                <a:cubicBezTo>
                  <a:pt x="16870" y="3699"/>
                  <a:pt x="25801" y="0"/>
                  <a:pt x="35114" y="0"/>
                </a:cubicBezTo>
                <a:close/>
              </a:path>
            </a:pathLst>
          </a:custGeom>
          <a:solidFill>
            <a:srgbClr val="EBF0F1"/>
          </a:solidFill>
        </p:spPr>
        <p:txBody>
          <a:bodyPr anchor="ctr"/>
          <a:lstStyle/>
          <a:p>
            <a:pPr>
              <a:lnSpc>
                <a:spcPct val="150000"/>
              </a:lnSpc>
            </a:pPr>
            <a:endParaRPr kumimoji="1" lang="en-US" altLang="ko-KR" sz="12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CCE37BB-CE0B-C5A0-440B-172479404576}"/>
              </a:ext>
            </a:extLst>
          </p:cNvPr>
          <p:cNvSpPr txBox="1"/>
          <p:nvPr/>
        </p:nvSpPr>
        <p:spPr>
          <a:xfrm>
            <a:off x="991123" y="1200919"/>
            <a:ext cx="2727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b="1" dirty="0"/>
              <a:t>목표</a:t>
            </a:r>
            <a:r>
              <a:rPr kumimoji="1" lang="en-US" altLang="ko-Kore-KR" sz="1200" b="1" dirty="0"/>
              <a:t>:</a:t>
            </a:r>
            <a:r>
              <a:rPr kumimoji="1" lang="ko-KR" altLang="en-US" sz="1200" b="1" dirty="0"/>
              <a:t> </a:t>
            </a:r>
            <a:r>
              <a:rPr kumimoji="1" lang="ko-KR" altLang="en-US" sz="1200" dirty="0"/>
              <a:t>사용자의 </a:t>
            </a:r>
            <a:r>
              <a:rPr lang="en-US" altLang="ko-Kore-KR" sz="1200" spc="-40" dirty="0" err="1">
                <a:solidFill>
                  <a:srgbClr val="20344B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금융</a:t>
            </a:r>
            <a:r>
              <a:rPr lang="en-US" altLang="ko-Kore-KR" sz="1200" spc="-40" dirty="0">
                <a:solidFill>
                  <a:srgbClr val="20344B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ko-KR" altLang="en-US" sz="1200" spc="-40" dirty="0">
                <a:solidFill>
                  <a:srgbClr val="20344B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지식</a:t>
            </a:r>
            <a:r>
              <a:rPr lang="en-US" altLang="ko-KR" sz="1200" spc="-40" dirty="0">
                <a:solidFill>
                  <a:srgbClr val="20344B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(</a:t>
            </a:r>
            <a:r>
              <a:rPr lang="ko-KR" altLang="en-US" sz="1200" spc="-40" dirty="0">
                <a:solidFill>
                  <a:srgbClr val="20344B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이해력</a:t>
            </a:r>
            <a:r>
              <a:rPr lang="en-US" altLang="ko-KR" sz="1200" spc="-40" dirty="0">
                <a:solidFill>
                  <a:srgbClr val="20344B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)</a:t>
            </a:r>
            <a:r>
              <a:rPr lang="ko-KR" altLang="en-US" sz="1200" spc="-40" dirty="0">
                <a:solidFill>
                  <a:srgbClr val="20344B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증진</a:t>
            </a:r>
            <a:endParaRPr lang="en-US" altLang="ko-Kore-KR" sz="1200" spc="-40" dirty="0">
              <a:solidFill>
                <a:srgbClr val="20344B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06643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454ED-82E0-5D6C-9930-A3FA824C8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69B3266C-E448-F7DC-C5C7-3F0A3FCCCADE}"/>
              </a:ext>
            </a:extLst>
          </p:cNvPr>
          <p:cNvSpPr/>
          <p:nvPr/>
        </p:nvSpPr>
        <p:spPr>
          <a:xfrm flipV="1">
            <a:off x="184789" y="1307997"/>
            <a:ext cx="8428532" cy="184953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6" name="Freeform 3">
            <a:extLst>
              <a:ext uri="{FF2B5EF4-FFF2-40B4-BE49-F238E27FC236}">
                <a16:creationId xmlns:a16="http://schemas.microsoft.com/office/drawing/2014/main" id="{AFD41471-7DE9-1782-0DCA-48DD1B7C8D69}"/>
              </a:ext>
            </a:extLst>
          </p:cNvPr>
          <p:cNvSpPr/>
          <p:nvPr/>
        </p:nvSpPr>
        <p:spPr>
          <a:xfrm>
            <a:off x="4976622" y="1586569"/>
            <a:ext cx="3539407" cy="1323165"/>
          </a:xfrm>
          <a:custGeom>
            <a:avLst/>
            <a:gdLst/>
            <a:ahLst/>
            <a:cxnLst/>
            <a:rect l="l" t="t" r="r" b="b"/>
            <a:pathLst>
              <a:path w="1742067" h="481466">
                <a:moveTo>
                  <a:pt x="35114" y="0"/>
                </a:moveTo>
                <a:lnTo>
                  <a:pt x="1706953" y="0"/>
                </a:lnTo>
                <a:cubicBezTo>
                  <a:pt x="1716266" y="0"/>
                  <a:pt x="1725197" y="3699"/>
                  <a:pt x="1731782" y="10285"/>
                </a:cubicBezTo>
                <a:cubicBezTo>
                  <a:pt x="1738368" y="16870"/>
                  <a:pt x="1742067" y="25801"/>
                  <a:pt x="1742067" y="35114"/>
                </a:cubicBezTo>
                <a:lnTo>
                  <a:pt x="1742067" y="446352"/>
                </a:lnTo>
                <a:cubicBezTo>
                  <a:pt x="1742067" y="455665"/>
                  <a:pt x="1738368" y="464596"/>
                  <a:pt x="1731782" y="471181"/>
                </a:cubicBezTo>
                <a:cubicBezTo>
                  <a:pt x="1725197" y="477766"/>
                  <a:pt x="1716266" y="481466"/>
                  <a:pt x="1706953" y="481466"/>
                </a:cubicBezTo>
                <a:lnTo>
                  <a:pt x="35114" y="481466"/>
                </a:lnTo>
                <a:cubicBezTo>
                  <a:pt x="25801" y="481466"/>
                  <a:pt x="16870" y="477766"/>
                  <a:pt x="10285" y="471181"/>
                </a:cubicBezTo>
                <a:cubicBezTo>
                  <a:pt x="3699" y="464596"/>
                  <a:pt x="0" y="455665"/>
                  <a:pt x="0" y="446352"/>
                </a:cubicBezTo>
                <a:lnTo>
                  <a:pt x="0" y="35114"/>
                </a:lnTo>
                <a:cubicBezTo>
                  <a:pt x="0" y="25801"/>
                  <a:pt x="3699" y="16870"/>
                  <a:pt x="10285" y="10285"/>
                </a:cubicBezTo>
                <a:cubicBezTo>
                  <a:pt x="16870" y="3699"/>
                  <a:pt x="25801" y="0"/>
                  <a:pt x="35114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anchor="ctr"/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endParaRPr kumimoji="1" lang="ko-Kore-KR" altLang="en-US" sz="1200" dirty="0"/>
          </a:p>
        </p:txBody>
      </p:sp>
      <p:sp>
        <p:nvSpPr>
          <p:cNvPr id="17" name="Freeform 3">
            <a:extLst>
              <a:ext uri="{FF2B5EF4-FFF2-40B4-BE49-F238E27FC236}">
                <a16:creationId xmlns:a16="http://schemas.microsoft.com/office/drawing/2014/main" id="{6528D95A-9AD8-148D-046B-44326E220FCB}"/>
              </a:ext>
            </a:extLst>
          </p:cNvPr>
          <p:cNvSpPr/>
          <p:nvPr/>
        </p:nvSpPr>
        <p:spPr>
          <a:xfrm>
            <a:off x="243457" y="1491808"/>
            <a:ext cx="3846787" cy="1521543"/>
          </a:xfrm>
          <a:custGeom>
            <a:avLst/>
            <a:gdLst/>
            <a:ahLst/>
            <a:cxnLst/>
            <a:rect l="l" t="t" r="r" b="b"/>
            <a:pathLst>
              <a:path w="1742067" h="481466">
                <a:moveTo>
                  <a:pt x="35114" y="0"/>
                </a:moveTo>
                <a:lnTo>
                  <a:pt x="1706953" y="0"/>
                </a:lnTo>
                <a:cubicBezTo>
                  <a:pt x="1716266" y="0"/>
                  <a:pt x="1725197" y="3699"/>
                  <a:pt x="1731782" y="10285"/>
                </a:cubicBezTo>
                <a:cubicBezTo>
                  <a:pt x="1738368" y="16870"/>
                  <a:pt x="1742067" y="25801"/>
                  <a:pt x="1742067" y="35114"/>
                </a:cubicBezTo>
                <a:lnTo>
                  <a:pt x="1742067" y="446352"/>
                </a:lnTo>
                <a:cubicBezTo>
                  <a:pt x="1742067" y="455665"/>
                  <a:pt x="1738368" y="464596"/>
                  <a:pt x="1731782" y="471181"/>
                </a:cubicBezTo>
                <a:cubicBezTo>
                  <a:pt x="1725197" y="477766"/>
                  <a:pt x="1716266" y="481466"/>
                  <a:pt x="1706953" y="481466"/>
                </a:cubicBezTo>
                <a:lnTo>
                  <a:pt x="35114" y="481466"/>
                </a:lnTo>
                <a:cubicBezTo>
                  <a:pt x="25801" y="481466"/>
                  <a:pt x="16870" y="477766"/>
                  <a:pt x="10285" y="471181"/>
                </a:cubicBezTo>
                <a:cubicBezTo>
                  <a:pt x="3699" y="464596"/>
                  <a:pt x="0" y="455665"/>
                  <a:pt x="0" y="446352"/>
                </a:cubicBezTo>
                <a:lnTo>
                  <a:pt x="0" y="35114"/>
                </a:lnTo>
                <a:cubicBezTo>
                  <a:pt x="0" y="25801"/>
                  <a:pt x="3699" y="16870"/>
                  <a:pt x="10285" y="10285"/>
                </a:cubicBezTo>
                <a:cubicBezTo>
                  <a:pt x="16870" y="3699"/>
                  <a:pt x="25801" y="0"/>
                  <a:pt x="35114" y="0"/>
                </a:cubicBezTo>
                <a:close/>
              </a:path>
            </a:pathLst>
          </a:custGeom>
          <a:solidFill>
            <a:srgbClr val="EBF0F1"/>
          </a:solidFill>
        </p:spPr>
        <p:txBody>
          <a:bodyPr anchor="ctr"/>
          <a:lstStyle/>
          <a:p>
            <a:pPr algn="ctr"/>
            <a:endParaRPr lang="ko-Kore-KR" altLang="en-US" spc="-39" dirty="0">
              <a:ea typeface="Source Han Sans KR Bold" panose="020B0600000101010101" charset="-127"/>
            </a:endParaRPr>
          </a:p>
        </p:txBody>
      </p:sp>
      <p:sp>
        <p:nvSpPr>
          <p:cNvPr id="18" name="Freeform 15">
            <a:extLst>
              <a:ext uri="{FF2B5EF4-FFF2-40B4-BE49-F238E27FC236}">
                <a16:creationId xmlns:a16="http://schemas.microsoft.com/office/drawing/2014/main" id="{506F351F-19E4-BBEC-5395-C54E9472B5DB}"/>
              </a:ext>
            </a:extLst>
          </p:cNvPr>
          <p:cNvSpPr/>
          <p:nvPr/>
        </p:nvSpPr>
        <p:spPr>
          <a:xfrm>
            <a:off x="4460196" y="3985210"/>
            <a:ext cx="550180" cy="389127"/>
          </a:xfrm>
          <a:custGeom>
            <a:avLst/>
            <a:gdLst/>
            <a:ahLst/>
            <a:cxnLst/>
            <a:rect l="l" t="t" r="r" b="b"/>
            <a:pathLst>
              <a:path w="1100359" h="778254">
                <a:moveTo>
                  <a:pt x="0" y="0"/>
                </a:moveTo>
                <a:lnTo>
                  <a:pt x="1100360" y="0"/>
                </a:lnTo>
                <a:lnTo>
                  <a:pt x="1100360" y="778254"/>
                </a:lnTo>
                <a:lnTo>
                  <a:pt x="0" y="778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ore-KR" altLang="en-US" sz="700"/>
          </a:p>
        </p:txBody>
      </p:sp>
      <p:sp>
        <p:nvSpPr>
          <p:cNvPr id="19" name="Google Shape;444;p41">
            <a:extLst>
              <a:ext uri="{FF2B5EF4-FFF2-40B4-BE49-F238E27FC236}">
                <a16:creationId xmlns:a16="http://schemas.microsoft.com/office/drawing/2014/main" id="{6DEA8A4B-789A-E91F-55ED-EB4411B64372}"/>
              </a:ext>
            </a:extLst>
          </p:cNvPr>
          <p:cNvSpPr txBox="1"/>
          <p:nvPr/>
        </p:nvSpPr>
        <p:spPr>
          <a:xfrm>
            <a:off x="221324" y="129109"/>
            <a:ext cx="923024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아이디어 설명</a:t>
            </a:r>
            <a:r>
              <a:rPr lang="en-US" altLang="ko-KR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ko-KR" altLang="en-US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 생성형</a:t>
            </a:r>
            <a:r>
              <a:rPr lang="en-US" altLang="ko-KR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 AI</a:t>
            </a:r>
            <a:r>
              <a:rPr lang="ko-KR" altLang="en-US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의 역할 및 효과</a:t>
            </a:r>
            <a:endParaRPr sz="700" b="1" dirty="0"/>
          </a:p>
        </p:txBody>
      </p:sp>
      <p:sp>
        <p:nvSpPr>
          <p:cNvPr id="20" name="Freeform 3">
            <a:extLst>
              <a:ext uri="{FF2B5EF4-FFF2-40B4-BE49-F238E27FC236}">
                <a16:creationId xmlns:a16="http://schemas.microsoft.com/office/drawing/2014/main" id="{C3EF09DC-C83B-D603-42C6-7A406F1D9BE1}"/>
              </a:ext>
            </a:extLst>
          </p:cNvPr>
          <p:cNvSpPr/>
          <p:nvPr/>
        </p:nvSpPr>
        <p:spPr>
          <a:xfrm>
            <a:off x="2498034" y="3671277"/>
            <a:ext cx="1647481" cy="334439"/>
          </a:xfrm>
          <a:custGeom>
            <a:avLst/>
            <a:gdLst/>
            <a:ahLst/>
            <a:cxnLst/>
            <a:rect l="l" t="t" r="r" b="b"/>
            <a:pathLst>
              <a:path w="1742067" h="481466">
                <a:moveTo>
                  <a:pt x="35114" y="0"/>
                </a:moveTo>
                <a:lnTo>
                  <a:pt x="1706953" y="0"/>
                </a:lnTo>
                <a:cubicBezTo>
                  <a:pt x="1716266" y="0"/>
                  <a:pt x="1725197" y="3699"/>
                  <a:pt x="1731782" y="10285"/>
                </a:cubicBezTo>
                <a:cubicBezTo>
                  <a:pt x="1738368" y="16870"/>
                  <a:pt x="1742067" y="25801"/>
                  <a:pt x="1742067" y="35114"/>
                </a:cubicBezTo>
                <a:lnTo>
                  <a:pt x="1742067" y="446352"/>
                </a:lnTo>
                <a:cubicBezTo>
                  <a:pt x="1742067" y="455665"/>
                  <a:pt x="1738368" y="464596"/>
                  <a:pt x="1731782" y="471181"/>
                </a:cubicBezTo>
                <a:cubicBezTo>
                  <a:pt x="1725197" y="477766"/>
                  <a:pt x="1716266" y="481466"/>
                  <a:pt x="1706953" y="481466"/>
                </a:cubicBezTo>
                <a:lnTo>
                  <a:pt x="35114" y="481466"/>
                </a:lnTo>
                <a:cubicBezTo>
                  <a:pt x="25801" y="481466"/>
                  <a:pt x="16870" y="477766"/>
                  <a:pt x="10285" y="471181"/>
                </a:cubicBezTo>
                <a:cubicBezTo>
                  <a:pt x="3699" y="464596"/>
                  <a:pt x="0" y="455665"/>
                  <a:pt x="0" y="446352"/>
                </a:cubicBezTo>
                <a:lnTo>
                  <a:pt x="0" y="35114"/>
                </a:lnTo>
                <a:cubicBezTo>
                  <a:pt x="0" y="25801"/>
                  <a:pt x="3699" y="16870"/>
                  <a:pt x="10285" y="10285"/>
                </a:cubicBezTo>
                <a:cubicBezTo>
                  <a:pt x="16870" y="3699"/>
                  <a:pt x="25801" y="0"/>
                  <a:pt x="35114" y="0"/>
                </a:cubicBezTo>
                <a:close/>
              </a:path>
            </a:pathLst>
          </a:custGeom>
          <a:solidFill>
            <a:srgbClr val="EBF0F1"/>
          </a:solidFill>
        </p:spPr>
        <p:txBody>
          <a:bodyPr anchor="ctr"/>
          <a:lstStyle/>
          <a:p>
            <a:pPr algn="ctr"/>
            <a:r>
              <a:rPr lang="ko-KR" altLang="en-US" sz="1200" spc="-39" dirty="0">
                <a:ea typeface="Source Han Sans KR Bold" panose="020B0600000101010101" charset="-127"/>
              </a:rPr>
              <a:t>금융 용어 이해도 촉진</a:t>
            </a:r>
            <a:endParaRPr lang="ko-Kore-KR" altLang="en-US" sz="1200" spc="-39" dirty="0">
              <a:ea typeface="Source Han Sans KR Bold" panose="020B0600000101010101" charset="-127"/>
            </a:endParaRPr>
          </a:p>
        </p:txBody>
      </p:sp>
      <p:sp>
        <p:nvSpPr>
          <p:cNvPr id="21" name="Freeform 3">
            <a:extLst>
              <a:ext uri="{FF2B5EF4-FFF2-40B4-BE49-F238E27FC236}">
                <a16:creationId xmlns:a16="http://schemas.microsoft.com/office/drawing/2014/main" id="{02BF16D1-0235-549B-316A-0C7097C631C6}"/>
              </a:ext>
            </a:extLst>
          </p:cNvPr>
          <p:cNvSpPr/>
          <p:nvPr/>
        </p:nvSpPr>
        <p:spPr>
          <a:xfrm>
            <a:off x="694653" y="3597882"/>
            <a:ext cx="1660730" cy="430886"/>
          </a:xfrm>
          <a:custGeom>
            <a:avLst/>
            <a:gdLst/>
            <a:ahLst/>
            <a:cxnLst/>
            <a:rect l="l" t="t" r="r" b="b"/>
            <a:pathLst>
              <a:path w="1742067" h="481466">
                <a:moveTo>
                  <a:pt x="35114" y="0"/>
                </a:moveTo>
                <a:lnTo>
                  <a:pt x="1706953" y="0"/>
                </a:lnTo>
                <a:cubicBezTo>
                  <a:pt x="1716266" y="0"/>
                  <a:pt x="1725197" y="3699"/>
                  <a:pt x="1731782" y="10285"/>
                </a:cubicBezTo>
                <a:cubicBezTo>
                  <a:pt x="1738368" y="16870"/>
                  <a:pt x="1742067" y="25801"/>
                  <a:pt x="1742067" y="35114"/>
                </a:cubicBezTo>
                <a:lnTo>
                  <a:pt x="1742067" y="446352"/>
                </a:lnTo>
                <a:cubicBezTo>
                  <a:pt x="1742067" y="455665"/>
                  <a:pt x="1738368" y="464596"/>
                  <a:pt x="1731782" y="471181"/>
                </a:cubicBezTo>
                <a:cubicBezTo>
                  <a:pt x="1725197" y="477766"/>
                  <a:pt x="1716266" y="481466"/>
                  <a:pt x="1706953" y="481466"/>
                </a:cubicBezTo>
                <a:lnTo>
                  <a:pt x="35114" y="481466"/>
                </a:lnTo>
                <a:cubicBezTo>
                  <a:pt x="25801" y="481466"/>
                  <a:pt x="16870" y="477766"/>
                  <a:pt x="10285" y="471181"/>
                </a:cubicBezTo>
                <a:cubicBezTo>
                  <a:pt x="3699" y="464596"/>
                  <a:pt x="0" y="455665"/>
                  <a:pt x="0" y="446352"/>
                </a:cubicBezTo>
                <a:lnTo>
                  <a:pt x="0" y="35114"/>
                </a:lnTo>
                <a:cubicBezTo>
                  <a:pt x="0" y="25801"/>
                  <a:pt x="3699" y="16870"/>
                  <a:pt x="10285" y="10285"/>
                </a:cubicBezTo>
                <a:cubicBezTo>
                  <a:pt x="16870" y="3699"/>
                  <a:pt x="25801" y="0"/>
                  <a:pt x="35114" y="0"/>
                </a:cubicBezTo>
                <a:close/>
              </a:path>
            </a:pathLst>
          </a:custGeom>
          <a:solidFill>
            <a:srgbClr val="EBF0F1"/>
          </a:solidFill>
        </p:spPr>
        <p:txBody>
          <a:bodyPr anchor="ctr"/>
          <a:lstStyle/>
          <a:p>
            <a:pPr algn="ctr"/>
            <a:r>
              <a:rPr lang="ko-KR" altLang="en-US" sz="1200" spc="-39" dirty="0">
                <a:ea typeface="Source Han Sans KR Bold" panose="020B0600000101010101" charset="-127"/>
              </a:rPr>
              <a:t>금융 상품 이용 활성화</a:t>
            </a:r>
            <a:endParaRPr lang="ko-Kore-KR" altLang="en-US" sz="1200" spc="-39" dirty="0">
              <a:ea typeface="Source Han Sans KR Bold" panose="020B0600000101010101" charset="-127"/>
            </a:endParaRPr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1497FF1E-696D-A11A-4E0B-61CBCC31F06A}"/>
              </a:ext>
            </a:extLst>
          </p:cNvPr>
          <p:cNvSpPr/>
          <p:nvPr/>
        </p:nvSpPr>
        <p:spPr>
          <a:xfrm>
            <a:off x="2454566" y="4152786"/>
            <a:ext cx="1591406" cy="490917"/>
          </a:xfrm>
          <a:custGeom>
            <a:avLst/>
            <a:gdLst/>
            <a:ahLst/>
            <a:cxnLst/>
            <a:rect l="l" t="t" r="r" b="b"/>
            <a:pathLst>
              <a:path w="1742067" h="481466">
                <a:moveTo>
                  <a:pt x="35114" y="0"/>
                </a:moveTo>
                <a:lnTo>
                  <a:pt x="1706953" y="0"/>
                </a:lnTo>
                <a:cubicBezTo>
                  <a:pt x="1716266" y="0"/>
                  <a:pt x="1725197" y="3699"/>
                  <a:pt x="1731782" y="10285"/>
                </a:cubicBezTo>
                <a:cubicBezTo>
                  <a:pt x="1738368" y="16870"/>
                  <a:pt x="1742067" y="25801"/>
                  <a:pt x="1742067" y="35114"/>
                </a:cubicBezTo>
                <a:lnTo>
                  <a:pt x="1742067" y="446352"/>
                </a:lnTo>
                <a:cubicBezTo>
                  <a:pt x="1742067" y="455665"/>
                  <a:pt x="1738368" y="464596"/>
                  <a:pt x="1731782" y="471181"/>
                </a:cubicBezTo>
                <a:cubicBezTo>
                  <a:pt x="1725197" y="477766"/>
                  <a:pt x="1716266" y="481466"/>
                  <a:pt x="1706953" y="481466"/>
                </a:cubicBezTo>
                <a:lnTo>
                  <a:pt x="35114" y="481466"/>
                </a:lnTo>
                <a:cubicBezTo>
                  <a:pt x="25801" y="481466"/>
                  <a:pt x="16870" y="477766"/>
                  <a:pt x="10285" y="471181"/>
                </a:cubicBezTo>
                <a:cubicBezTo>
                  <a:pt x="3699" y="464596"/>
                  <a:pt x="0" y="455665"/>
                  <a:pt x="0" y="446352"/>
                </a:cubicBezTo>
                <a:lnTo>
                  <a:pt x="0" y="35114"/>
                </a:lnTo>
                <a:cubicBezTo>
                  <a:pt x="0" y="25801"/>
                  <a:pt x="3699" y="16870"/>
                  <a:pt x="10285" y="10285"/>
                </a:cubicBezTo>
                <a:cubicBezTo>
                  <a:pt x="16870" y="3699"/>
                  <a:pt x="25801" y="0"/>
                  <a:pt x="35114" y="0"/>
                </a:cubicBezTo>
                <a:close/>
              </a:path>
            </a:pathLst>
          </a:custGeom>
          <a:solidFill>
            <a:srgbClr val="EBF0F1"/>
          </a:solidFill>
        </p:spPr>
        <p:txBody>
          <a:bodyPr anchor="ctr"/>
          <a:lstStyle/>
          <a:p>
            <a:pPr algn="ctr"/>
            <a:r>
              <a:rPr lang="ko-KR" altLang="en-US" sz="1200" spc="-39" dirty="0">
                <a:ea typeface="Source Han Sans KR Bold" panose="020B0600000101010101" charset="-127"/>
              </a:rPr>
              <a:t>사용자 편의성 증진 </a:t>
            </a:r>
            <a:br>
              <a:rPr lang="en-US" altLang="ko-KR" sz="1200" spc="-39" dirty="0">
                <a:ea typeface="Source Han Sans KR Bold" panose="020B0600000101010101" charset="-127"/>
              </a:rPr>
            </a:br>
            <a:r>
              <a:rPr lang="en-US" altLang="ko-KR" sz="1200" spc="-39" dirty="0">
                <a:ea typeface="Source Han Sans KR Bold" panose="020B0600000101010101" charset="-127"/>
              </a:rPr>
              <a:t>&amp;</a:t>
            </a:r>
            <a:r>
              <a:rPr lang="ko-KR" altLang="en-US" sz="1200" spc="-39" dirty="0">
                <a:ea typeface="Source Han Sans KR Bold" panose="020B0600000101010101" charset="-127"/>
              </a:rPr>
              <a:t> 기업 이미지 제고</a:t>
            </a:r>
            <a:endParaRPr lang="ko-Kore-KR" altLang="en-US" sz="1200" spc="-39" dirty="0">
              <a:ea typeface="Source Han Sans KR Bold" panose="020B0600000101010101" charset="-127"/>
            </a:endParaRPr>
          </a:p>
        </p:txBody>
      </p:sp>
      <p:sp>
        <p:nvSpPr>
          <p:cNvPr id="23" name="Freeform 3">
            <a:extLst>
              <a:ext uri="{FF2B5EF4-FFF2-40B4-BE49-F238E27FC236}">
                <a16:creationId xmlns:a16="http://schemas.microsoft.com/office/drawing/2014/main" id="{CAA0F3FA-B44D-0AC8-51D1-CFA063F56706}"/>
              </a:ext>
            </a:extLst>
          </p:cNvPr>
          <p:cNvSpPr/>
          <p:nvPr/>
        </p:nvSpPr>
        <p:spPr>
          <a:xfrm>
            <a:off x="831261" y="4243017"/>
            <a:ext cx="1232479" cy="412154"/>
          </a:xfrm>
          <a:custGeom>
            <a:avLst/>
            <a:gdLst/>
            <a:ahLst/>
            <a:cxnLst/>
            <a:rect l="l" t="t" r="r" b="b"/>
            <a:pathLst>
              <a:path w="1742067" h="481466">
                <a:moveTo>
                  <a:pt x="35114" y="0"/>
                </a:moveTo>
                <a:lnTo>
                  <a:pt x="1706953" y="0"/>
                </a:lnTo>
                <a:cubicBezTo>
                  <a:pt x="1716266" y="0"/>
                  <a:pt x="1725197" y="3699"/>
                  <a:pt x="1731782" y="10285"/>
                </a:cubicBezTo>
                <a:cubicBezTo>
                  <a:pt x="1738368" y="16870"/>
                  <a:pt x="1742067" y="25801"/>
                  <a:pt x="1742067" y="35114"/>
                </a:cubicBezTo>
                <a:lnTo>
                  <a:pt x="1742067" y="446352"/>
                </a:lnTo>
                <a:cubicBezTo>
                  <a:pt x="1742067" y="455665"/>
                  <a:pt x="1738368" y="464596"/>
                  <a:pt x="1731782" y="471181"/>
                </a:cubicBezTo>
                <a:cubicBezTo>
                  <a:pt x="1725197" y="477766"/>
                  <a:pt x="1716266" y="481466"/>
                  <a:pt x="1706953" y="481466"/>
                </a:cubicBezTo>
                <a:lnTo>
                  <a:pt x="35114" y="481466"/>
                </a:lnTo>
                <a:cubicBezTo>
                  <a:pt x="25801" y="481466"/>
                  <a:pt x="16870" y="477766"/>
                  <a:pt x="10285" y="471181"/>
                </a:cubicBezTo>
                <a:cubicBezTo>
                  <a:pt x="3699" y="464596"/>
                  <a:pt x="0" y="455665"/>
                  <a:pt x="0" y="446352"/>
                </a:cubicBezTo>
                <a:lnTo>
                  <a:pt x="0" y="35114"/>
                </a:lnTo>
                <a:cubicBezTo>
                  <a:pt x="0" y="25801"/>
                  <a:pt x="3699" y="16870"/>
                  <a:pt x="10285" y="10285"/>
                </a:cubicBezTo>
                <a:cubicBezTo>
                  <a:pt x="16870" y="3699"/>
                  <a:pt x="25801" y="0"/>
                  <a:pt x="35114" y="0"/>
                </a:cubicBezTo>
                <a:close/>
              </a:path>
            </a:pathLst>
          </a:custGeom>
          <a:solidFill>
            <a:srgbClr val="EBF0F1"/>
          </a:solidFill>
        </p:spPr>
        <p:txBody>
          <a:bodyPr anchor="ctr"/>
          <a:lstStyle/>
          <a:p>
            <a:pPr algn="ctr"/>
            <a:r>
              <a:rPr lang="ko-KR" altLang="en-US" sz="1200" spc="-39" dirty="0">
                <a:ea typeface="Source Han Sans KR Bold" panose="020B0600000101010101" charset="-127"/>
              </a:rPr>
              <a:t>금융 사고 예방</a:t>
            </a:r>
            <a:endParaRPr lang="ko-Kore-KR" altLang="en-US" sz="1200" spc="-39" dirty="0">
              <a:ea typeface="Source Han Sans KR Bold" panose="020B0600000101010101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6C3B94-8BC4-AD50-EE54-227CD456ED86}"/>
              </a:ext>
            </a:extLst>
          </p:cNvPr>
          <p:cNvSpPr txBox="1"/>
          <p:nvPr/>
        </p:nvSpPr>
        <p:spPr>
          <a:xfrm>
            <a:off x="295220" y="1483643"/>
            <a:ext cx="3743332" cy="14659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ore-KR" altLang="en-US" sz="1300" b="1" dirty="0"/>
              <a:t>요구</a:t>
            </a:r>
            <a:r>
              <a:rPr kumimoji="1" lang="ko-KR" altLang="en-US" sz="1300" b="1" dirty="0"/>
              <a:t> 사항</a:t>
            </a:r>
            <a:endParaRPr kumimoji="1" lang="en-US" altLang="ko-KR" sz="13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dirty="0"/>
              <a:t>질문 바탕</a:t>
            </a:r>
            <a:r>
              <a:rPr kumimoji="1" lang="en-US" altLang="ko-KR" sz="1200" dirty="0"/>
              <a:t>,</a:t>
            </a:r>
            <a:r>
              <a:rPr kumimoji="1" lang="ko-KR" altLang="en-US" sz="1200" dirty="0"/>
              <a:t> 사용자의 금융 지식 수준 실시간 분류</a:t>
            </a:r>
            <a:endParaRPr kumimoji="1" lang="en-US" altLang="ko-KR" sz="12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dirty="0"/>
              <a:t>다양한 질문에 대한 답변 생성</a:t>
            </a:r>
            <a:endParaRPr kumimoji="1" lang="en-US" altLang="ko-KR" sz="12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dirty="0"/>
              <a:t>광범위한 금융 지식</a:t>
            </a:r>
            <a:endParaRPr kumimoji="1" lang="en-US" altLang="ko-KR" sz="12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dirty="0"/>
              <a:t>복수 사용자 동시 접속 및 개별 답변 도출</a:t>
            </a:r>
            <a:endParaRPr kumimoji="1" lang="ko-Kore-KR" altLang="en-U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04DAE0-9297-3E63-4AFB-53F29A597B1A}"/>
              </a:ext>
            </a:extLst>
          </p:cNvPr>
          <p:cNvSpPr txBox="1"/>
          <p:nvPr/>
        </p:nvSpPr>
        <p:spPr>
          <a:xfrm>
            <a:off x="5063999" y="1634831"/>
            <a:ext cx="3459601" cy="1211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b="1" dirty="0"/>
              <a:t>LLM (Large Language Model) </a:t>
            </a:r>
            <a:r>
              <a:rPr kumimoji="1" lang="ko-KR" altLang="en-US" b="1" dirty="0"/>
              <a:t>활용</a:t>
            </a:r>
            <a:endParaRPr kumimoji="1" lang="en-US" altLang="ko-KR" b="1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ko-KR" altLang="en-US" sz="1200" dirty="0"/>
              <a:t>질문을 이해하고 자연스러운 답변 생성 능력</a:t>
            </a:r>
            <a:endParaRPr kumimoji="1" lang="en-US" altLang="ko-KR" sz="1200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ko-KR" altLang="en-US" sz="1200" dirty="0"/>
              <a:t>우수한 추론 및 판단 능력</a:t>
            </a:r>
            <a:endParaRPr kumimoji="1" lang="en-US" altLang="ko-KR" sz="1200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ko-KR" altLang="en-US" sz="1200" dirty="0"/>
              <a:t>광범위한 금융 데이터 학습</a:t>
            </a:r>
            <a:r>
              <a:rPr kumimoji="1" lang="en-US" altLang="ko-KR" sz="1200" dirty="0"/>
              <a:t> </a:t>
            </a:r>
            <a:r>
              <a:rPr kumimoji="1" lang="ko-KR" altLang="en-US" sz="1200" dirty="0"/>
              <a:t>가능</a:t>
            </a:r>
            <a:endParaRPr kumimoji="1" lang="en-US" altLang="ko-KR" sz="1200" dirty="0"/>
          </a:p>
        </p:txBody>
      </p:sp>
      <p:sp>
        <p:nvSpPr>
          <p:cNvPr id="26" name="Freeform 15">
            <a:extLst>
              <a:ext uri="{FF2B5EF4-FFF2-40B4-BE49-F238E27FC236}">
                <a16:creationId xmlns:a16="http://schemas.microsoft.com/office/drawing/2014/main" id="{54E4A75F-6B8E-E4B0-D735-3207F126D1EF}"/>
              </a:ext>
            </a:extLst>
          </p:cNvPr>
          <p:cNvSpPr/>
          <p:nvPr/>
        </p:nvSpPr>
        <p:spPr>
          <a:xfrm>
            <a:off x="4214440" y="2026738"/>
            <a:ext cx="550180" cy="389127"/>
          </a:xfrm>
          <a:custGeom>
            <a:avLst/>
            <a:gdLst/>
            <a:ahLst/>
            <a:cxnLst/>
            <a:rect l="l" t="t" r="r" b="b"/>
            <a:pathLst>
              <a:path w="1100359" h="778254">
                <a:moveTo>
                  <a:pt x="0" y="0"/>
                </a:moveTo>
                <a:lnTo>
                  <a:pt x="1100360" y="0"/>
                </a:lnTo>
                <a:lnTo>
                  <a:pt x="1100360" y="778254"/>
                </a:lnTo>
                <a:lnTo>
                  <a:pt x="0" y="778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ore-KR" altLang="en-US" sz="7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97E580-FAD4-5627-F439-308FFDAC55B1}"/>
              </a:ext>
            </a:extLst>
          </p:cNvPr>
          <p:cNvSpPr txBox="1"/>
          <p:nvPr/>
        </p:nvSpPr>
        <p:spPr>
          <a:xfrm>
            <a:off x="5158933" y="3813325"/>
            <a:ext cx="3036409" cy="6983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b="1" dirty="0"/>
              <a:t>“</a:t>
            </a:r>
            <a:r>
              <a:rPr kumimoji="1" lang="ko-KR" altLang="en-US" b="1" dirty="0"/>
              <a:t> </a:t>
            </a:r>
            <a:r>
              <a:rPr kumimoji="1" lang="ko-Kore-KR" altLang="en-US" b="1" dirty="0"/>
              <a:t>경제적</a:t>
            </a:r>
            <a:r>
              <a:rPr kumimoji="1" lang="ko-KR" altLang="en-US" b="1" dirty="0"/>
              <a:t> 의사결정 능력 향상을 통한</a:t>
            </a:r>
            <a:br>
              <a:rPr kumimoji="1" lang="en-US" altLang="ko-KR" b="1" dirty="0"/>
            </a:br>
            <a:r>
              <a:rPr kumimoji="1" lang="ko-KR" altLang="en-US" b="1" dirty="0"/>
              <a:t>안전한 금융 시장 이용 활성화 </a:t>
            </a:r>
            <a:r>
              <a:rPr kumimoji="1" lang="en-US" altLang="ko-KR" b="1" dirty="0"/>
              <a:t>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2B2C8A-8914-9164-E523-CFFC02B5B8B3}"/>
              </a:ext>
            </a:extLst>
          </p:cNvPr>
          <p:cNvSpPr txBox="1"/>
          <p:nvPr/>
        </p:nvSpPr>
        <p:spPr>
          <a:xfrm>
            <a:off x="184789" y="985027"/>
            <a:ext cx="2757486" cy="3077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ko-KR" altLang="en-US" b="1" dirty="0">
                <a:solidFill>
                  <a:schemeClr val="bg1"/>
                </a:solidFill>
              </a:rPr>
              <a:t>사용자 맞춤형 </a:t>
            </a:r>
            <a:r>
              <a:rPr kumimoji="1" lang="en-US" altLang="ko-KR" b="1" dirty="0">
                <a:solidFill>
                  <a:schemeClr val="bg1"/>
                </a:solidFill>
              </a:rPr>
              <a:t>AI</a:t>
            </a:r>
            <a:r>
              <a:rPr kumimoji="1" lang="ko-KR" altLang="en-US" b="1" dirty="0">
                <a:solidFill>
                  <a:schemeClr val="bg1"/>
                </a:solidFill>
              </a:rPr>
              <a:t> 금융 지식 답변</a:t>
            </a:r>
            <a:endParaRPr kumimoji="1" lang="ko-Kore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872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97C53-612A-AFB3-D3F9-F0737A799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40;p26">
            <a:extLst>
              <a:ext uri="{FF2B5EF4-FFF2-40B4-BE49-F238E27FC236}">
                <a16:creationId xmlns:a16="http://schemas.microsoft.com/office/drawing/2014/main" id="{CC987464-8576-8754-D276-24F44C9223B3}"/>
              </a:ext>
            </a:extLst>
          </p:cNvPr>
          <p:cNvSpPr/>
          <p:nvPr/>
        </p:nvSpPr>
        <p:spPr>
          <a:xfrm>
            <a:off x="0" y="-53100"/>
            <a:ext cx="9143998" cy="5196600"/>
          </a:xfrm>
          <a:custGeom>
            <a:avLst/>
            <a:gdLst/>
            <a:ahLst/>
            <a:cxnLst/>
            <a:rect l="l" t="t" r="r" b="b"/>
            <a:pathLst>
              <a:path w="4816592" h="1966933" extrusionOk="0">
                <a:moveTo>
                  <a:pt x="0" y="0"/>
                </a:moveTo>
                <a:lnTo>
                  <a:pt x="4816592" y="0"/>
                </a:lnTo>
                <a:lnTo>
                  <a:pt x="4816592" y="1966933"/>
                </a:lnTo>
                <a:lnTo>
                  <a:pt x="0" y="1966933"/>
                </a:lnTo>
                <a:close/>
              </a:path>
            </a:pathLst>
          </a:custGeom>
          <a:solidFill>
            <a:srgbClr val="EBF0F1"/>
          </a:solidFill>
          <a:ln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" name="Google Shape;157;p27">
            <a:extLst>
              <a:ext uri="{FF2B5EF4-FFF2-40B4-BE49-F238E27FC236}">
                <a16:creationId xmlns:a16="http://schemas.microsoft.com/office/drawing/2014/main" id="{DF39430D-30F2-3101-44C6-D5C165D8C426}"/>
              </a:ext>
            </a:extLst>
          </p:cNvPr>
          <p:cNvSpPr/>
          <p:nvPr/>
        </p:nvSpPr>
        <p:spPr>
          <a:xfrm>
            <a:off x="2762085" y="2444236"/>
            <a:ext cx="3320528" cy="2423985"/>
          </a:xfrm>
          <a:custGeom>
            <a:avLst/>
            <a:gdLst/>
            <a:ahLst/>
            <a:cxnLst/>
            <a:rect l="l" t="t" r="r" b="b"/>
            <a:pathLst>
              <a:path w="6641056" h="4847971" extrusionOk="0">
                <a:moveTo>
                  <a:pt x="0" y="0"/>
                </a:moveTo>
                <a:lnTo>
                  <a:pt x="6641056" y="0"/>
                </a:lnTo>
                <a:lnTo>
                  <a:pt x="6641056" y="4847971"/>
                </a:lnTo>
                <a:lnTo>
                  <a:pt x="0" y="48479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" name="Google Shape;158;p27">
            <a:extLst>
              <a:ext uri="{FF2B5EF4-FFF2-40B4-BE49-F238E27FC236}">
                <a16:creationId xmlns:a16="http://schemas.microsoft.com/office/drawing/2014/main" id="{8B664ACC-F14C-08DB-9D4C-1982515BE663}"/>
              </a:ext>
            </a:extLst>
          </p:cNvPr>
          <p:cNvSpPr txBox="1"/>
          <p:nvPr/>
        </p:nvSpPr>
        <p:spPr>
          <a:xfrm>
            <a:off x="2762068" y="808679"/>
            <a:ext cx="3638731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200" b="1" dirty="0">
                <a:solidFill>
                  <a:srgbClr val="20344B"/>
                </a:solidFill>
              </a:rPr>
              <a:t>0</a:t>
            </a:r>
            <a:r>
              <a:rPr lang="en-US" altLang="ko-KR" sz="3200" b="1" dirty="0">
                <a:solidFill>
                  <a:srgbClr val="20344B"/>
                </a:solidFill>
              </a:rPr>
              <a:t>3</a:t>
            </a:r>
            <a:endParaRPr sz="3200" b="1" dirty="0">
              <a:solidFill>
                <a:srgbClr val="20344B"/>
              </a:solidFill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 dirty="0">
                <a:solidFill>
                  <a:srgbClr val="20344B"/>
                </a:solidFill>
              </a:rPr>
              <a:t>실현 방법</a:t>
            </a:r>
            <a:endParaRPr sz="3200" b="1" dirty="0">
              <a:solidFill>
                <a:srgbClr val="20344B"/>
              </a:solidFill>
            </a:endParaRPr>
          </a:p>
        </p:txBody>
      </p:sp>
      <p:sp>
        <p:nvSpPr>
          <p:cNvPr id="6" name="Google Shape;159;p27">
            <a:extLst>
              <a:ext uri="{FF2B5EF4-FFF2-40B4-BE49-F238E27FC236}">
                <a16:creationId xmlns:a16="http://schemas.microsoft.com/office/drawing/2014/main" id="{F96F4E32-9577-84A4-C07E-DB92C5E973C7}"/>
              </a:ext>
            </a:extLst>
          </p:cNvPr>
          <p:cNvSpPr/>
          <p:nvPr/>
        </p:nvSpPr>
        <p:spPr>
          <a:xfrm>
            <a:off x="0" y="-26550"/>
            <a:ext cx="722700" cy="5196600"/>
          </a:xfrm>
          <a:prstGeom prst="rect">
            <a:avLst/>
          </a:prstGeom>
          <a:solidFill>
            <a:srgbClr val="68BBCD"/>
          </a:solidFill>
          <a:ln w="9525" cap="flat" cmpd="sng">
            <a:solidFill>
              <a:srgbClr val="68BB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60;p27">
            <a:extLst>
              <a:ext uri="{FF2B5EF4-FFF2-40B4-BE49-F238E27FC236}">
                <a16:creationId xmlns:a16="http://schemas.microsoft.com/office/drawing/2014/main" id="{236A218F-B9CD-B74C-15FC-40E52BF8E549}"/>
              </a:ext>
            </a:extLst>
          </p:cNvPr>
          <p:cNvSpPr/>
          <p:nvPr/>
        </p:nvSpPr>
        <p:spPr>
          <a:xfrm>
            <a:off x="8421300" y="-26550"/>
            <a:ext cx="722700" cy="5196600"/>
          </a:xfrm>
          <a:prstGeom prst="rect">
            <a:avLst/>
          </a:prstGeom>
          <a:solidFill>
            <a:srgbClr val="68BBCD"/>
          </a:solidFill>
          <a:ln w="9525" cap="flat" cmpd="sng">
            <a:solidFill>
              <a:srgbClr val="68BB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19949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8C21A-0C96-4628-72FF-E8B1D88A5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44;p41">
            <a:extLst>
              <a:ext uri="{FF2B5EF4-FFF2-40B4-BE49-F238E27FC236}">
                <a16:creationId xmlns:a16="http://schemas.microsoft.com/office/drawing/2014/main" id="{B473E60B-E858-5755-1B80-14E17A9C80C1}"/>
              </a:ext>
            </a:extLst>
          </p:cNvPr>
          <p:cNvSpPr txBox="1"/>
          <p:nvPr/>
        </p:nvSpPr>
        <p:spPr>
          <a:xfrm>
            <a:off x="221324" y="129109"/>
            <a:ext cx="189849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PoC </a:t>
            </a:r>
            <a:r>
              <a:rPr lang="ko-KR" altLang="en-US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구조도</a:t>
            </a:r>
            <a:endParaRPr sz="7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DA1A63-B754-74A7-03BB-B1F77E5BF6F7}"/>
              </a:ext>
            </a:extLst>
          </p:cNvPr>
          <p:cNvSpPr txBox="1"/>
          <p:nvPr/>
        </p:nvSpPr>
        <p:spPr>
          <a:xfrm>
            <a:off x="6167272" y="1322755"/>
            <a:ext cx="2364750" cy="525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000" dirty="0"/>
              <a:t>ETF</a:t>
            </a:r>
            <a:r>
              <a:rPr kumimoji="1" lang="ko-KR" altLang="en-US" sz="1000" dirty="0"/>
              <a:t> 금융 상품</a:t>
            </a:r>
            <a:endParaRPr kumimoji="1" lang="en-US" altLang="ko-KR" sz="1000" dirty="0"/>
          </a:p>
          <a:p>
            <a:pPr marL="171450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kumimoji="1" lang="ko-KR" altLang="en-US" sz="1000" dirty="0"/>
              <a:t>간이 투자 설명서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월간 운용 보고서</a:t>
            </a:r>
            <a:endParaRPr kumimoji="1" lang="ko-Kore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5F49A6-2F3A-58EA-7290-0E9D4CE72779}"/>
              </a:ext>
            </a:extLst>
          </p:cNvPr>
          <p:cNvSpPr txBox="1"/>
          <p:nvPr/>
        </p:nvSpPr>
        <p:spPr>
          <a:xfrm>
            <a:off x="6327882" y="995196"/>
            <a:ext cx="2542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PoC</a:t>
            </a:r>
            <a:r>
              <a:rPr kumimoji="1" lang="ko-KR" altLang="en-US" dirty="0"/>
              <a:t> 단계에서의 활용 데이터</a:t>
            </a:r>
            <a:endParaRPr kumimoji="1" lang="ko-Kore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57CA922-CA00-0DC6-F547-33EB024E2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431297"/>
              </p:ext>
            </p:extLst>
          </p:nvPr>
        </p:nvGraphicFramePr>
        <p:xfrm>
          <a:off x="2874458" y="4022768"/>
          <a:ext cx="3145414" cy="8466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3875">
                  <a:extLst>
                    <a:ext uri="{9D8B030D-6E8A-4147-A177-3AD203B41FA5}">
                      <a16:colId xmlns:a16="http://schemas.microsoft.com/office/drawing/2014/main" val="589148340"/>
                    </a:ext>
                  </a:extLst>
                </a:gridCol>
                <a:gridCol w="2751539">
                  <a:extLst>
                    <a:ext uri="{9D8B030D-6E8A-4147-A177-3AD203B41FA5}">
                      <a16:colId xmlns:a16="http://schemas.microsoft.com/office/drawing/2014/main" val="110148006"/>
                    </a:ext>
                  </a:extLst>
                </a:gridCol>
              </a:tblGrid>
              <a:tr h="136810">
                <a:tc>
                  <a:txBody>
                    <a:bodyPr/>
                    <a:lstStyle/>
                    <a:p>
                      <a:pPr algn="ctr" latinLnBrk="1"/>
                      <a:r>
                        <a:rPr lang="ko-KR" sz="800" b="1" kern="100" dirty="0">
                          <a:effectLst/>
                        </a:rPr>
                        <a:t>순번</a:t>
                      </a:r>
                      <a:endParaRPr lang="ko-Kore-KR" sz="800" b="1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9290" marR="49290" marT="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sz="800" b="1" kern="100" dirty="0">
                          <a:effectLst/>
                        </a:rPr>
                        <a:t>질문</a:t>
                      </a:r>
                      <a:endParaRPr lang="ko-Kore-KR" sz="800" b="1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9290" marR="49290" marT="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329274"/>
                  </a:ext>
                </a:extLst>
              </a:tr>
              <a:tr h="141970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800" kern="100">
                          <a:effectLst/>
                        </a:rPr>
                        <a:t>1</a:t>
                      </a:r>
                      <a:endParaRPr lang="ko-Kore-KR" sz="8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9290" marR="4929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sz="800" kern="100">
                          <a:effectLst/>
                        </a:rPr>
                        <a:t>해당 상품의 투자등급은 몇 등급입니까</a:t>
                      </a:r>
                      <a:r>
                        <a:rPr lang="en-US" sz="800" kern="100">
                          <a:effectLst/>
                        </a:rPr>
                        <a:t>?</a:t>
                      </a:r>
                      <a:endParaRPr lang="ko-Kore-KR" sz="8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9290" marR="49290" marT="0" marB="0" anchor="ctr"/>
                </a:tc>
                <a:extLst>
                  <a:ext uri="{0D108BD9-81ED-4DB2-BD59-A6C34878D82A}">
                    <a16:rowId xmlns:a16="http://schemas.microsoft.com/office/drawing/2014/main" val="1471802576"/>
                  </a:ext>
                </a:extLst>
              </a:tr>
              <a:tr h="141970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800" kern="100">
                          <a:effectLst/>
                        </a:rPr>
                        <a:t>2</a:t>
                      </a:r>
                      <a:endParaRPr lang="ko-Kore-KR" sz="8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9290" marR="4929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sz="800" kern="100">
                          <a:effectLst/>
                        </a:rPr>
                        <a:t>해당 상품의 기초 지수는 어떻게 되나요</a:t>
                      </a:r>
                      <a:r>
                        <a:rPr lang="en-US" sz="800" kern="100">
                          <a:effectLst/>
                        </a:rPr>
                        <a:t>?</a:t>
                      </a:r>
                      <a:endParaRPr lang="ko-Kore-KR" sz="8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9290" marR="49290" marT="0" marB="0" anchor="ctr"/>
                </a:tc>
                <a:extLst>
                  <a:ext uri="{0D108BD9-81ED-4DB2-BD59-A6C34878D82A}">
                    <a16:rowId xmlns:a16="http://schemas.microsoft.com/office/drawing/2014/main" val="3291821489"/>
                  </a:ext>
                </a:extLst>
              </a:tr>
              <a:tr h="141970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800" kern="100">
                          <a:effectLst/>
                        </a:rPr>
                        <a:t>3</a:t>
                      </a:r>
                      <a:endParaRPr lang="ko-Kore-KR" sz="8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9290" marR="4929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sz="800" kern="100" dirty="0">
                          <a:effectLst/>
                        </a:rPr>
                        <a:t>해당 상품의 투자 포인트는 무엇인가요</a:t>
                      </a:r>
                      <a:r>
                        <a:rPr lang="en-US" sz="800" kern="100" dirty="0">
                          <a:effectLst/>
                        </a:rPr>
                        <a:t>?</a:t>
                      </a:r>
                      <a:endParaRPr lang="ko-Kore-KR" sz="8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9290" marR="49290" marT="0" marB="0" anchor="ctr"/>
                </a:tc>
                <a:extLst>
                  <a:ext uri="{0D108BD9-81ED-4DB2-BD59-A6C34878D82A}">
                    <a16:rowId xmlns:a16="http://schemas.microsoft.com/office/drawing/2014/main" val="2611678018"/>
                  </a:ext>
                </a:extLst>
              </a:tr>
              <a:tr h="141970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800" kern="100" dirty="0">
                          <a:effectLst/>
                        </a:rPr>
                        <a:t>4</a:t>
                      </a:r>
                      <a:endParaRPr lang="ko-Kore-KR" sz="8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9290" marR="4929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sz="800" kern="100">
                          <a:effectLst/>
                        </a:rPr>
                        <a:t>해당 상품의 주요 종목 현황은 어떻게 되나요</a:t>
                      </a:r>
                      <a:r>
                        <a:rPr lang="en-US" sz="800" kern="100">
                          <a:effectLst/>
                        </a:rPr>
                        <a:t>?</a:t>
                      </a:r>
                      <a:endParaRPr lang="ko-Kore-KR" sz="8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9290" marR="49290" marT="0" marB="0" anchor="ctr"/>
                </a:tc>
                <a:extLst>
                  <a:ext uri="{0D108BD9-81ED-4DB2-BD59-A6C34878D82A}">
                    <a16:rowId xmlns:a16="http://schemas.microsoft.com/office/drawing/2014/main" val="1425165769"/>
                  </a:ext>
                </a:extLst>
              </a:tr>
              <a:tr h="141970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800" kern="100">
                          <a:effectLst/>
                        </a:rPr>
                        <a:t>5</a:t>
                      </a:r>
                      <a:endParaRPr lang="ko-Kore-KR" sz="8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9290" marR="4929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sz="800" kern="100" dirty="0">
                          <a:effectLst/>
                        </a:rPr>
                        <a:t>해당 상품의 운용 성과는 어떻게 되나요</a:t>
                      </a:r>
                      <a:r>
                        <a:rPr lang="en-US" sz="800" kern="100" dirty="0">
                          <a:effectLst/>
                        </a:rPr>
                        <a:t>?</a:t>
                      </a:r>
                      <a:endParaRPr lang="ko-Kore-KR" sz="8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9290" marR="49290" marT="0" marB="0" anchor="ctr"/>
                </a:tc>
                <a:extLst>
                  <a:ext uri="{0D108BD9-81ED-4DB2-BD59-A6C34878D82A}">
                    <a16:rowId xmlns:a16="http://schemas.microsoft.com/office/drawing/2014/main" val="643388714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C0F5B6-2DBF-77C9-EA6C-5D4A10AE0444}"/>
              </a:ext>
            </a:extLst>
          </p:cNvPr>
          <p:cNvSpPr/>
          <p:nvPr/>
        </p:nvSpPr>
        <p:spPr>
          <a:xfrm>
            <a:off x="6088910" y="942752"/>
            <a:ext cx="2941675" cy="3013489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41C4A5E-9E84-0C40-CE89-547D10D04733}"/>
              </a:ext>
            </a:extLst>
          </p:cNvPr>
          <p:cNvSpPr/>
          <p:nvPr/>
        </p:nvSpPr>
        <p:spPr>
          <a:xfrm>
            <a:off x="2785729" y="3956241"/>
            <a:ext cx="6244856" cy="1123507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E704EA-0CE2-A258-F7A6-44087BC8D10B}"/>
              </a:ext>
            </a:extLst>
          </p:cNvPr>
          <p:cNvSpPr txBox="1"/>
          <p:nvPr/>
        </p:nvSpPr>
        <p:spPr>
          <a:xfrm>
            <a:off x="3958089" y="4842058"/>
            <a:ext cx="8274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800" dirty="0"/>
              <a:t>[Test Dataset]</a:t>
            </a:r>
            <a:endParaRPr kumimoji="1" lang="ko-Kore-KR" altLang="en-US" sz="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B8DF97-4EA4-B428-2981-028DD9F2EBF0}"/>
              </a:ext>
            </a:extLst>
          </p:cNvPr>
          <p:cNvSpPr txBox="1"/>
          <p:nvPr/>
        </p:nvSpPr>
        <p:spPr>
          <a:xfrm>
            <a:off x="7281349" y="4808411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800" dirty="0"/>
              <a:t>[Raw Data]</a:t>
            </a:r>
            <a:endParaRPr kumimoji="1" lang="ko-Kore-KR" altLang="en-US" sz="800" dirty="0"/>
          </a:p>
        </p:txBody>
      </p:sp>
      <p:pic>
        <p:nvPicPr>
          <p:cNvPr id="16" name="그림 15" descr="화이트, 디자인이(가) 표시된 사진&#10;&#10;자동 생성된 설명">
            <a:extLst>
              <a:ext uri="{FF2B5EF4-FFF2-40B4-BE49-F238E27FC236}">
                <a16:creationId xmlns:a16="http://schemas.microsoft.com/office/drawing/2014/main" id="{441A475A-5B68-CFE8-9B34-86D858D42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2490" y="3704481"/>
            <a:ext cx="2918095" cy="330200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6BEB152-4D94-0155-8C03-77ADB3B7A0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197345"/>
              </p:ext>
            </p:extLst>
          </p:nvPr>
        </p:nvGraphicFramePr>
        <p:xfrm>
          <a:off x="6224017" y="1934623"/>
          <a:ext cx="2698815" cy="290743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22963">
                  <a:extLst>
                    <a:ext uri="{9D8B030D-6E8A-4147-A177-3AD203B41FA5}">
                      <a16:colId xmlns:a16="http://schemas.microsoft.com/office/drawing/2014/main" val="849695924"/>
                    </a:ext>
                  </a:extLst>
                </a:gridCol>
                <a:gridCol w="551675">
                  <a:extLst>
                    <a:ext uri="{9D8B030D-6E8A-4147-A177-3AD203B41FA5}">
                      <a16:colId xmlns:a16="http://schemas.microsoft.com/office/drawing/2014/main" val="830737398"/>
                    </a:ext>
                  </a:extLst>
                </a:gridCol>
                <a:gridCol w="1724177">
                  <a:extLst>
                    <a:ext uri="{9D8B030D-6E8A-4147-A177-3AD203B41FA5}">
                      <a16:colId xmlns:a16="http://schemas.microsoft.com/office/drawing/2014/main" val="92618929"/>
                    </a:ext>
                  </a:extLst>
                </a:gridCol>
              </a:tblGrid>
              <a:tr h="135230">
                <a:tc>
                  <a:txBody>
                    <a:bodyPr/>
                    <a:lstStyle/>
                    <a:p>
                      <a:pPr algn="ctr" latinLnBrk="1"/>
                      <a:r>
                        <a:rPr lang="ko-KR" sz="700" b="1" kern="100" dirty="0">
                          <a:effectLst/>
                        </a:rPr>
                        <a:t>순번</a:t>
                      </a:r>
                      <a:endParaRPr lang="ko-Kore-KR" sz="700" b="1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sz="700" b="1" kern="100" dirty="0">
                          <a:effectLst/>
                        </a:rPr>
                        <a:t>테마</a:t>
                      </a:r>
                      <a:endParaRPr lang="ko-Kore-KR" sz="700" b="1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sz="700" b="1" kern="100" dirty="0">
                          <a:effectLst/>
                        </a:rPr>
                        <a:t>상품명</a:t>
                      </a:r>
                      <a:endParaRPr lang="ko-Kore-KR" sz="700" b="1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853736"/>
                  </a:ext>
                </a:extLst>
              </a:tr>
              <a:tr h="203053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kern="100">
                          <a:effectLst/>
                        </a:rPr>
                        <a:t>1</a:t>
                      </a:r>
                      <a:endParaRPr lang="ko-Kore-KR" sz="7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sz="600" kern="100">
                          <a:effectLst/>
                        </a:rPr>
                        <a:t>월분배</a:t>
                      </a:r>
                      <a:endParaRPr lang="ko-Kore-KR" sz="7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kern="100" dirty="0">
                          <a:effectLst/>
                        </a:rPr>
                        <a:t>TIGER </a:t>
                      </a:r>
                      <a:r>
                        <a:rPr lang="ko-KR" sz="600" kern="100" dirty="0">
                          <a:effectLst/>
                        </a:rPr>
                        <a:t>미국</a:t>
                      </a:r>
                      <a:r>
                        <a:rPr lang="en-US" sz="600" kern="100" dirty="0">
                          <a:effectLst/>
                        </a:rPr>
                        <a:t>30</a:t>
                      </a:r>
                      <a:r>
                        <a:rPr lang="ko-KR" sz="600" kern="100" dirty="0" err="1">
                          <a:effectLst/>
                        </a:rPr>
                        <a:t>년국채프리미엄액티브</a:t>
                      </a:r>
                      <a:r>
                        <a:rPr lang="en-US" sz="600" kern="100" dirty="0">
                          <a:effectLst/>
                        </a:rPr>
                        <a:t>(H)</a:t>
                      </a:r>
                      <a:endParaRPr lang="ko-Kore-KR" sz="7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839425"/>
                  </a:ext>
                </a:extLst>
              </a:tr>
              <a:tr h="127238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kern="100">
                          <a:effectLst/>
                        </a:rPr>
                        <a:t>2</a:t>
                      </a:r>
                      <a:endParaRPr lang="ko-Kore-KR" sz="7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kern="100" dirty="0">
                          <a:effectLst/>
                        </a:rPr>
                        <a:t>TIGER </a:t>
                      </a:r>
                      <a:r>
                        <a:rPr lang="ko-KR" sz="600" kern="100" dirty="0">
                          <a:effectLst/>
                        </a:rPr>
                        <a:t>미국</a:t>
                      </a:r>
                      <a:r>
                        <a:rPr lang="en-US" sz="600" kern="100" dirty="0">
                          <a:effectLst/>
                        </a:rPr>
                        <a:t> MSCI</a:t>
                      </a:r>
                      <a:r>
                        <a:rPr lang="ko-KR" sz="600" kern="100" dirty="0">
                          <a:effectLst/>
                        </a:rPr>
                        <a:t>리츠</a:t>
                      </a:r>
                      <a:r>
                        <a:rPr lang="en-US" sz="600" kern="100" dirty="0">
                          <a:effectLst/>
                        </a:rPr>
                        <a:t> (</a:t>
                      </a:r>
                      <a:r>
                        <a:rPr lang="ko-KR" sz="600" kern="100" dirty="0">
                          <a:effectLst/>
                        </a:rPr>
                        <a:t>합성</a:t>
                      </a:r>
                      <a:r>
                        <a:rPr lang="en-US" sz="600" kern="100" dirty="0">
                          <a:effectLst/>
                        </a:rPr>
                        <a:t> H)</a:t>
                      </a:r>
                      <a:endParaRPr lang="ko-Kore-KR" sz="7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007371"/>
                  </a:ext>
                </a:extLst>
              </a:tr>
              <a:tr h="127238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kern="100">
                          <a:effectLst/>
                        </a:rPr>
                        <a:t>3</a:t>
                      </a:r>
                      <a:endParaRPr lang="ko-Kore-KR" sz="7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sz="600" kern="100">
                          <a:effectLst/>
                        </a:rPr>
                        <a:t>2</a:t>
                      </a:r>
                      <a:r>
                        <a:rPr lang="ko-KR" sz="600" kern="100">
                          <a:effectLst/>
                        </a:rPr>
                        <a:t>차전지</a:t>
                      </a:r>
                      <a:endParaRPr lang="ko-Kore-KR" sz="7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kern="100" dirty="0">
                          <a:effectLst/>
                        </a:rPr>
                        <a:t>TIGER 2</a:t>
                      </a:r>
                      <a:r>
                        <a:rPr lang="ko-KR" sz="600" kern="100" dirty="0" err="1">
                          <a:effectLst/>
                        </a:rPr>
                        <a:t>차전지</a:t>
                      </a:r>
                      <a:r>
                        <a:rPr lang="en-US" sz="600" kern="100" dirty="0">
                          <a:effectLst/>
                        </a:rPr>
                        <a:t>TOP10</a:t>
                      </a:r>
                      <a:r>
                        <a:rPr lang="ko-KR" sz="600" kern="100" dirty="0">
                          <a:effectLst/>
                        </a:rPr>
                        <a:t>레버리지</a:t>
                      </a:r>
                      <a:endParaRPr lang="ko-Kore-KR" sz="7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750924"/>
                  </a:ext>
                </a:extLst>
              </a:tr>
              <a:tr h="127238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kern="100" dirty="0">
                          <a:effectLst/>
                        </a:rPr>
                        <a:t>4</a:t>
                      </a:r>
                      <a:endParaRPr lang="ko-Kore-KR" sz="7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kern="100" dirty="0">
                          <a:effectLst/>
                        </a:rPr>
                        <a:t>TIGER 2</a:t>
                      </a:r>
                      <a:r>
                        <a:rPr lang="ko-KR" sz="600" kern="100" dirty="0" err="1">
                          <a:effectLst/>
                        </a:rPr>
                        <a:t>차전지</a:t>
                      </a:r>
                      <a:r>
                        <a:rPr lang="en-US" sz="600" kern="100" dirty="0">
                          <a:effectLst/>
                        </a:rPr>
                        <a:t>TOP10</a:t>
                      </a:r>
                      <a:endParaRPr lang="ko-Kore-KR" sz="7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03401"/>
                  </a:ext>
                </a:extLst>
              </a:tr>
              <a:tr h="127238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kern="100">
                          <a:effectLst/>
                        </a:rPr>
                        <a:t>5</a:t>
                      </a:r>
                      <a:endParaRPr lang="ko-Kore-KR" sz="7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sz="600" kern="100">
                          <a:effectLst/>
                        </a:rPr>
                        <a:t>전기차</a:t>
                      </a:r>
                      <a:endParaRPr lang="ko-Kore-KR" sz="7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kern="100" dirty="0">
                          <a:effectLst/>
                        </a:rPr>
                        <a:t>TIGER </a:t>
                      </a:r>
                      <a:r>
                        <a:rPr lang="ko-KR" sz="600" kern="100" dirty="0" err="1">
                          <a:effectLst/>
                        </a:rPr>
                        <a:t>테슬라채권혼합</a:t>
                      </a:r>
                      <a:r>
                        <a:rPr lang="en-US" sz="600" kern="100" dirty="0" err="1">
                          <a:effectLst/>
                        </a:rPr>
                        <a:t>Fn</a:t>
                      </a:r>
                      <a:endParaRPr lang="ko-Kore-KR" sz="7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4664079"/>
                  </a:ext>
                </a:extLst>
              </a:tr>
              <a:tr h="127238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kern="100">
                          <a:effectLst/>
                        </a:rPr>
                        <a:t>6</a:t>
                      </a:r>
                      <a:endParaRPr lang="ko-Kore-KR" sz="7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kern="100" dirty="0">
                          <a:effectLst/>
                        </a:rPr>
                        <a:t>TIGER </a:t>
                      </a:r>
                      <a:r>
                        <a:rPr lang="ko-KR" sz="600" kern="100" dirty="0">
                          <a:effectLst/>
                        </a:rPr>
                        <a:t>한중전기차</a:t>
                      </a:r>
                      <a:r>
                        <a:rPr lang="en-US" sz="600" kern="100" dirty="0">
                          <a:effectLst/>
                        </a:rPr>
                        <a:t>(</a:t>
                      </a:r>
                      <a:r>
                        <a:rPr lang="ko-KR" sz="600" kern="100" dirty="0">
                          <a:effectLst/>
                        </a:rPr>
                        <a:t>합성</a:t>
                      </a:r>
                      <a:r>
                        <a:rPr lang="en-US" sz="600" kern="100" dirty="0">
                          <a:effectLst/>
                        </a:rPr>
                        <a:t>)</a:t>
                      </a:r>
                      <a:endParaRPr lang="ko-Kore-KR" sz="7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369760"/>
                  </a:ext>
                </a:extLst>
              </a:tr>
              <a:tr h="127238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kern="100">
                          <a:effectLst/>
                        </a:rPr>
                        <a:t>7</a:t>
                      </a:r>
                      <a:endParaRPr lang="ko-Kore-KR" sz="7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sz="600" kern="100" dirty="0">
                          <a:effectLst/>
                        </a:rPr>
                        <a:t>사이버보안</a:t>
                      </a:r>
                      <a:r>
                        <a:rPr lang="en-US" sz="600" kern="100" dirty="0">
                          <a:effectLst/>
                        </a:rPr>
                        <a:t>/</a:t>
                      </a:r>
                      <a:endParaRPr lang="ko-Kore-KR" sz="700" kern="100" dirty="0">
                        <a:effectLst/>
                      </a:endParaRPr>
                    </a:p>
                    <a:p>
                      <a:pPr algn="ctr" latinLnBrk="1"/>
                      <a:r>
                        <a:rPr lang="ko-KR" sz="600" kern="100" dirty="0">
                          <a:effectLst/>
                        </a:rPr>
                        <a:t>클라우드</a:t>
                      </a:r>
                      <a:endParaRPr lang="ko-Kore-KR" sz="7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kern="100" dirty="0">
                          <a:effectLst/>
                        </a:rPr>
                        <a:t>TIGER </a:t>
                      </a:r>
                      <a:r>
                        <a:rPr lang="ko-KR" sz="600" kern="100" dirty="0">
                          <a:effectLst/>
                        </a:rPr>
                        <a:t>글로벌사이버보안</a:t>
                      </a:r>
                      <a:r>
                        <a:rPr lang="en-US" sz="600" kern="100" dirty="0">
                          <a:effectLst/>
                        </a:rPr>
                        <a:t> INDXX</a:t>
                      </a:r>
                      <a:endParaRPr lang="ko-Kore-KR" sz="7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396138"/>
                  </a:ext>
                </a:extLst>
              </a:tr>
              <a:tr h="203053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kern="100">
                          <a:effectLst/>
                        </a:rPr>
                        <a:t>8</a:t>
                      </a:r>
                      <a:endParaRPr lang="ko-Kore-KR" sz="7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kern="100">
                          <a:effectLst/>
                        </a:rPr>
                        <a:t>TIGER </a:t>
                      </a:r>
                      <a:r>
                        <a:rPr lang="ko-KR" sz="600" kern="100">
                          <a:effectLst/>
                        </a:rPr>
                        <a:t>글로벌클라우드컴퓨팅</a:t>
                      </a:r>
                      <a:r>
                        <a:rPr lang="en-US" sz="600" kern="100">
                          <a:effectLst/>
                        </a:rPr>
                        <a:t>INDXX</a:t>
                      </a:r>
                      <a:endParaRPr lang="ko-Kore-KR" sz="7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2790506"/>
                  </a:ext>
                </a:extLst>
              </a:tr>
              <a:tr h="127238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kern="100">
                          <a:effectLst/>
                        </a:rPr>
                        <a:t>9</a:t>
                      </a:r>
                      <a:endParaRPr lang="ko-Kore-KR" sz="7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sz="600" kern="100">
                          <a:effectLst/>
                        </a:rPr>
                        <a:t>AI/</a:t>
                      </a:r>
                      <a:r>
                        <a:rPr lang="ko-KR" sz="600" kern="100">
                          <a:effectLst/>
                        </a:rPr>
                        <a:t>반도체</a:t>
                      </a:r>
                      <a:endParaRPr lang="ko-Kore-KR" sz="7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kern="100" dirty="0">
                          <a:effectLst/>
                        </a:rPr>
                        <a:t>TIGER </a:t>
                      </a:r>
                      <a:r>
                        <a:rPr lang="ko-KR" sz="600" kern="100" dirty="0">
                          <a:effectLst/>
                        </a:rPr>
                        <a:t>글로벌</a:t>
                      </a:r>
                      <a:r>
                        <a:rPr lang="en-US" sz="600" kern="100" dirty="0">
                          <a:effectLst/>
                        </a:rPr>
                        <a:t>AI</a:t>
                      </a:r>
                      <a:r>
                        <a:rPr lang="ko-KR" sz="600" kern="100" dirty="0">
                          <a:effectLst/>
                        </a:rPr>
                        <a:t>액티브</a:t>
                      </a:r>
                      <a:endParaRPr lang="ko-Kore-KR" sz="7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854953"/>
                  </a:ext>
                </a:extLst>
              </a:tr>
              <a:tr h="203053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kern="100">
                          <a:effectLst/>
                        </a:rPr>
                        <a:t>10</a:t>
                      </a:r>
                      <a:endParaRPr lang="ko-Kore-KR" sz="7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kern="100">
                          <a:effectLst/>
                        </a:rPr>
                        <a:t>TIGER </a:t>
                      </a:r>
                      <a:r>
                        <a:rPr lang="ko-KR" sz="600" kern="100">
                          <a:effectLst/>
                        </a:rPr>
                        <a:t>미국필라델피아반도체나스닥</a:t>
                      </a:r>
                      <a:endParaRPr lang="ko-Kore-KR" sz="7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261521"/>
                  </a:ext>
                </a:extLst>
              </a:tr>
              <a:tr h="127238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kern="100">
                          <a:effectLst/>
                        </a:rPr>
                        <a:t>11</a:t>
                      </a:r>
                      <a:endParaRPr lang="ko-Kore-KR" sz="7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sz="600" kern="100">
                          <a:effectLst/>
                        </a:rPr>
                        <a:t>메타버스</a:t>
                      </a:r>
                      <a:endParaRPr lang="ko-Kore-KR" sz="7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kern="100">
                          <a:effectLst/>
                        </a:rPr>
                        <a:t>TIGER </a:t>
                      </a:r>
                      <a:r>
                        <a:rPr lang="ko-KR" sz="600" kern="100">
                          <a:effectLst/>
                        </a:rPr>
                        <a:t>글로벌메타버스액티브</a:t>
                      </a:r>
                      <a:endParaRPr lang="ko-Kore-KR" sz="7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154914"/>
                  </a:ext>
                </a:extLst>
              </a:tr>
              <a:tr h="127238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kern="100">
                          <a:effectLst/>
                        </a:rPr>
                        <a:t>12</a:t>
                      </a:r>
                      <a:endParaRPr lang="ko-Kore-KR" sz="7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kern="100" dirty="0">
                          <a:effectLst/>
                        </a:rPr>
                        <a:t>TIGER </a:t>
                      </a:r>
                      <a:r>
                        <a:rPr lang="ko-KR" sz="600" kern="100" dirty="0">
                          <a:effectLst/>
                        </a:rPr>
                        <a:t>게임</a:t>
                      </a:r>
                      <a:r>
                        <a:rPr lang="en-US" sz="600" kern="100" dirty="0">
                          <a:effectLst/>
                        </a:rPr>
                        <a:t>TOP10</a:t>
                      </a:r>
                      <a:endParaRPr lang="ko-Kore-KR" sz="7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7908619"/>
                  </a:ext>
                </a:extLst>
              </a:tr>
              <a:tr h="127238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kern="100">
                          <a:effectLst/>
                        </a:rPr>
                        <a:t>13</a:t>
                      </a:r>
                      <a:endParaRPr lang="ko-Kore-KR" sz="7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sz="600" kern="100">
                          <a:effectLst/>
                        </a:rPr>
                        <a:t>바이오</a:t>
                      </a:r>
                      <a:endParaRPr lang="ko-Kore-KR" sz="7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kern="100" dirty="0">
                          <a:effectLst/>
                        </a:rPr>
                        <a:t>TIGER </a:t>
                      </a:r>
                      <a:r>
                        <a:rPr lang="ko-KR" sz="600" kern="100" dirty="0">
                          <a:effectLst/>
                        </a:rPr>
                        <a:t>바이오</a:t>
                      </a:r>
                      <a:r>
                        <a:rPr lang="en-US" sz="600" kern="100" dirty="0">
                          <a:effectLst/>
                        </a:rPr>
                        <a:t>TOP10</a:t>
                      </a:r>
                      <a:endParaRPr lang="ko-Kore-KR" sz="7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830316"/>
                  </a:ext>
                </a:extLst>
              </a:tr>
              <a:tr h="127238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kern="100">
                          <a:effectLst/>
                        </a:rPr>
                        <a:t>14</a:t>
                      </a:r>
                      <a:endParaRPr lang="ko-Kore-KR" sz="7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kern="100" dirty="0">
                          <a:effectLst/>
                        </a:rPr>
                        <a:t>TIGER S&amp;P </a:t>
                      </a:r>
                      <a:r>
                        <a:rPr lang="ko-KR" sz="600" kern="100" dirty="0" err="1">
                          <a:effectLst/>
                        </a:rPr>
                        <a:t>글로벌헬스케어</a:t>
                      </a:r>
                      <a:r>
                        <a:rPr lang="en-US" sz="600" kern="100" dirty="0">
                          <a:effectLst/>
                        </a:rPr>
                        <a:t>(</a:t>
                      </a:r>
                      <a:r>
                        <a:rPr lang="ko-KR" sz="600" kern="100" dirty="0">
                          <a:effectLst/>
                        </a:rPr>
                        <a:t>합성</a:t>
                      </a:r>
                      <a:r>
                        <a:rPr lang="en-US" sz="600" kern="100" dirty="0">
                          <a:effectLst/>
                        </a:rPr>
                        <a:t>)</a:t>
                      </a:r>
                      <a:endParaRPr lang="ko-Kore-KR" sz="7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725605"/>
                  </a:ext>
                </a:extLst>
              </a:tr>
              <a:tr h="127238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kern="100">
                          <a:effectLst/>
                        </a:rPr>
                        <a:t>15</a:t>
                      </a:r>
                      <a:endParaRPr lang="ko-Kore-KR" sz="7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sz="600" kern="100">
                          <a:effectLst/>
                        </a:rPr>
                        <a:t>클린 에너지</a:t>
                      </a:r>
                      <a:endParaRPr lang="ko-Kore-KR" sz="7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kern="100" dirty="0">
                          <a:effectLst/>
                        </a:rPr>
                        <a:t>TIGER KRX</a:t>
                      </a:r>
                      <a:r>
                        <a:rPr lang="ko-KR" sz="600" kern="100" dirty="0">
                          <a:effectLst/>
                        </a:rPr>
                        <a:t>기후변화솔루션</a:t>
                      </a:r>
                      <a:endParaRPr lang="ko-Kore-KR" sz="7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609253"/>
                  </a:ext>
                </a:extLst>
              </a:tr>
              <a:tr h="127238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kern="100">
                          <a:effectLst/>
                        </a:rPr>
                        <a:t>16</a:t>
                      </a:r>
                      <a:endParaRPr lang="ko-Kore-KR" sz="7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kern="100" dirty="0">
                          <a:effectLst/>
                        </a:rPr>
                        <a:t>TIGER </a:t>
                      </a:r>
                      <a:r>
                        <a:rPr lang="ko-KR" sz="600" kern="100" dirty="0">
                          <a:effectLst/>
                        </a:rPr>
                        <a:t>탄소효율그린뉴딜</a:t>
                      </a:r>
                      <a:endParaRPr lang="ko-Kore-KR" sz="7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054185"/>
                  </a:ext>
                </a:extLst>
              </a:tr>
              <a:tr h="127238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kern="100">
                          <a:effectLst/>
                        </a:rPr>
                        <a:t>17</a:t>
                      </a:r>
                      <a:endParaRPr lang="ko-Kore-KR" sz="7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sz="600" kern="100" dirty="0" err="1">
                          <a:effectLst/>
                        </a:rPr>
                        <a:t>테크</a:t>
                      </a:r>
                      <a:endParaRPr lang="ko-Kore-KR" sz="7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kern="100" dirty="0">
                          <a:effectLst/>
                        </a:rPr>
                        <a:t>TIGER </a:t>
                      </a:r>
                      <a:r>
                        <a:rPr lang="ko-KR" sz="600" kern="100" dirty="0" err="1">
                          <a:effectLst/>
                        </a:rPr>
                        <a:t>미국테크</a:t>
                      </a:r>
                      <a:r>
                        <a:rPr lang="en-US" sz="600" kern="100" dirty="0">
                          <a:effectLst/>
                        </a:rPr>
                        <a:t>TOP10INDXX(H)</a:t>
                      </a:r>
                      <a:endParaRPr lang="ko-Kore-KR" sz="7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355816"/>
                  </a:ext>
                </a:extLst>
              </a:tr>
              <a:tr h="127238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kern="100">
                          <a:effectLst/>
                        </a:rPr>
                        <a:t>18</a:t>
                      </a:r>
                      <a:endParaRPr lang="ko-Kore-KR" sz="7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kern="100">
                          <a:effectLst/>
                        </a:rPr>
                        <a:t>TIGER </a:t>
                      </a:r>
                      <a:r>
                        <a:rPr lang="ko-KR" sz="600" kern="100">
                          <a:effectLst/>
                        </a:rPr>
                        <a:t>미국나스닥</a:t>
                      </a:r>
                      <a:r>
                        <a:rPr lang="en-US" sz="600" kern="100">
                          <a:effectLst/>
                        </a:rPr>
                        <a:t>100TR(H)</a:t>
                      </a:r>
                      <a:endParaRPr lang="ko-Kore-KR" sz="7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46579"/>
                  </a:ext>
                </a:extLst>
              </a:tr>
              <a:tr h="127238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kern="100" dirty="0">
                          <a:effectLst/>
                        </a:rPr>
                        <a:t>19</a:t>
                      </a:r>
                      <a:endParaRPr lang="ko-Kore-KR" sz="7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sz="600" kern="100" dirty="0">
                          <a:effectLst/>
                        </a:rPr>
                        <a:t>배당주</a:t>
                      </a:r>
                      <a:endParaRPr lang="ko-Kore-KR" sz="7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kern="100" dirty="0">
                          <a:effectLst/>
                        </a:rPr>
                        <a:t>TIGER </a:t>
                      </a:r>
                      <a:r>
                        <a:rPr lang="ko-KR" sz="600" kern="100" dirty="0">
                          <a:effectLst/>
                        </a:rPr>
                        <a:t>배당성장</a:t>
                      </a:r>
                      <a:endParaRPr lang="ko-Kore-KR" sz="7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155923"/>
                  </a:ext>
                </a:extLst>
              </a:tr>
              <a:tr h="127238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kern="100">
                          <a:effectLst/>
                        </a:rPr>
                        <a:t>20</a:t>
                      </a:r>
                      <a:endParaRPr lang="ko-Kore-KR" sz="7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kern="100" dirty="0">
                          <a:effectLst/>
                        </a:rPr>
                        <a:t>TIGER MKF</a:t>
                      </a:r>
                      <a:r>
                        <a:rPr lang="ko-KR" sz="600" kern="100" dirty="0">
                          <a:effectLst/>
                        </a:rPr>
                        <a:t>배당귀족</a:t>
                      </a:r>
                      <a:endParaRPr lang="ko-Kore-KR" sz="7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4100" marR="441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674815"/>
                  </a:ext>
                </a:extLst>
              </a:tr>
            </a:tbl>
          </a:graphicData>
        </a:graphic>
      </p:graphicFrame>
      <p:pic>
        <p:nvPicPr>
          <p:cNvPr id="20" name="그림 19" descr="텍스트, 도표, 폰트, 평면도이(가) 표시된 사진&#10;&#10;자동 생성된 설명">
            <a:extLst>
              <a:ext uri="{FF2B5EF4-FFF2-40B4-BE49-F238E27FC236}">
                <a16:creationId xmlns:a16="http://schemas.microsoft.com/office/drawing/2014/main" id="{9BF021D7-C51E-2961-087F-39D174B4DE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08" y="559996"/>
            <a:ext cx="5927874" cy="3362981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34314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0B746-AB63-01AB-0749-B77325ABF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B132ECA5-01D6-06B8-B501-B7DE59D01C67}"/>
              </a:ext>
            </a:extLst>
          </p:cNvPr>
          <p:cNvSpPr/>
          <p:nvPr/>
        </p:nvSpPr>
        <p:spPr>
          <a:xfrm>
            <a:off x="6114947" y="1156970"/>
            <a:ext cx="2672316" cy="308049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7184DCC-3521-018B-EF91-0BC6849595AF}"/>
              </a:ext>
            </a:extLst>
          </p:cNvPr>
          <p:cNvSpPr/>
          <p:nvPr/>
        </p:nvSpPr>
        <p:spPr>
          <a:xfrm>
            <a:off x="6843989" y="1091416"/>
            <a:ext cx="1218803" cy="270116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b="1" dirty="0"/>
              <a:t>Investigator</a:t>
            </a:r>
            <a:endParaRPr kumimoji="1" lang="ko-Kore-KR" altLang="en-US" b="1" dirty="0"/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D223BE0D-AB60-B184-9D0C-CBFF9B3B4D8C}"/>
              </a:ext>
            </a:extLst>
          </p:cNvPr>
          <p:cNvSpPr/>
          <p:nvPr/>
        </p:nvSpPr>
        <p:spPr>
          <a:xfrm>
            <a:off x="3224062" y="1156971"/>
            <a:ext cx="2672316" cy="306061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F092DF-0D5C-1AFB-4A5A-CC084EB913EC}"/>
              </a:ext>
            </a:extLst>
          </p:cNvPr>
          <p:cNvSpPr/>
          <p:nvPr/>
        </p:nvSpPr>
        <p:spPr>
          <a:xfrm>
            <a:off x="3927158" y="1071629"/>
            <a:ext cx="1218803" cy="270116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b="1" dirty="0"/>
              <a:t>Learner</a:t>
            </a:r>
            <a:endParaRPr kumimoji="1" lang="ko-Kore-KR" altLang="en-US" b="1" dirty="0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87F44C6E-2C7D-646C-9D26-0345A9F0E653}"/>
              </a:ext>
            </a:extLst>
          </p:cNvPr>
          <p:cNvSpPr/>
          <p:nvPr/>
        </p:nvSpPr>
        <p:spPr>
          <a:xfrm>
            <a:off x="319469" y="1164154"/>
            <a:ext cx="2672316" cy="305342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F7AE77A9-6FE0-0E3F-3176-81509A147442}"/>
              </a:ext>
            </a:extLst>
          </p:cNvPr>
          <p:cNvGrpSpPr/>
          <p:nvPr/>
        </p:nvGrpSpPr>
        <p:grpSpPr>
          <a:xfrm>
            <a:off x="1125353" y="1343879"/>
            <a:ext cx="846473" cy="774848"/>
            <a:chOff x="0" y="0"/>
            <a:chExt cx="812800" cy="812800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ECB7C823-38E5-9EDB-67C1-CB244C88831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F0F1"/>
            </a:solidFill>
          </p:spPr>
          <p:txBody>
            <a:bodyPr/>
            <a:lstStyle/>
            <a:p>
              <a:endParaRPr lang="ko-KR" altLang="en-US" sz="700"/>
            </a:p>
          </p:txBody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6B23E7CE-FBA2-3B73-A229-061BF3F9B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575"/>
                </a:lnSpc>
              </a:pPr>
              <a:endParaRPr sz="700"/>
            </a:p>
          </p:txBody>
        </p:sp>
      </p:grpSp>
      <p:grpSp>
        <p:nvGrpSpPr>
          <p:cNvPr id="10" name="Group 5">
            <a:extLst>
              <a:ext uri="{FF2B5EF4-FFF2-40B4-BE49-F238E27FC236}">
                <a16:creationId xmlns:a16="http://schemas.microsoft.com/office/drawing/2014/main" id="{F5692585-6F98-12EC-B0BC-55B293F3F6AA}"/>
              </a:ext>
            </a:extLst>
          </p:cNvPr>
          <p:cNvGrpSpPr/>
          <p:nvPr/>
        </p:nvGrpSpPr>
        <p:grpSpPr>
          <a:xfrm>
            <a:off x="4142888" y="1369580"/>
            <a:ext cx="846473" cy="774848"/>
            <a:chOff x="0" y="0"/>
            <a:chExt cx="812800" cy="812800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33C64658-F211-53A4-999D-CF80217153E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F0F1"/>
            </a:solidFill>
          </p:spPr>
          <p:txBody>
            <a:bodyPr/>
            <a:lstStyle/>
            <a:p>
              <a:endParaRPr lang="ko-KR" altLang="en-US" sz="700"/>
            </a:p>
          </p:txBody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F09D11E0-F497-3427-5FE2-02EA1FBA9FE0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575"/>
                </a:lnSpc>
              </a:pPr>
              <a:endParaRPr sz="700"/>
            </a:p>
          </p:txBody>
        </p:sp>
      </p:grpSp>
      <p:grpSp>
        <p:nvGrpSpPr>
          <p:cNvPr id="13" name="Group 8">
            <a:extLst>
              <a:ext uri="{FF2B5EF4-FFF2-40B4-BE49-F238E27FC236}">
                <a16:creationId xmlns:a16="http://schemas.microsoft.com/office/drawing/2014/main" id="{C94393D7-8BD1-6B85-3CAC-ADC3F4AFC199}"/>
              </a:ext>
            </a:extLst>
          </p:cNvPr>
          <p:cNvGrpSpPr/>
          <p:nvPr/>
        </p:nvGrpSpPr>
        <p:grpSpPr>
          <a:xfrm>
            <a:off x="7047826" y="1400570"/>
            <a:ext cx="846473" cy="774848"/>
            <a:chOff x="0" y="0"/>
            <a:chExt cx="812800" cy="812800"/>
          </a:xfrm>
        </p:grpSpPr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2DFCA46D-0021-5041-9434-7BBB0716786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F0F1"/>
            </a:solidFill>
          </p:spPr>
          <p:txBody>
            <a:bodyPr/>
            <a:lstStyle/>
            <a:p>
              <a:endParaRPr lang="ko-KR" altLang="en-US" sz="700"/>
            </a:p>
          </p:txBody>
        </p:sp>
        <p:sp>
          <p:nvSpPr>
            <p:cNvPr id="15" name="TextBox 10">
              <a:extLst>
                <a:ext uri="{FF2B5EF4-FFF2-40B4-BE49-F238E27FC236}">
                  <a16:creationId xmlns:a16="http://schemas.microsoft.com/office/drawing/2014/main" id="{13B05310-E455-8800-B387-4B0CFAE0313C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575"/>
                </a:lnSpc>
              </a:pPr>
              <a:endParaRPr sz="700"/>
            </a:p>
          </p:txBody>
        </p:sp>
      </p:grpSp>
      <p:sp>
        <p:nvSpPr>
          <p:cNvPr id="16" name="TextBox 12">
            <a:extLst>
              <a:ext uri="{FF2B5EF4-FFF2-40B4-BE49-F238E27FC236}">
                <a16:creationId xmlns:a16="http://schemas.microsoft.com/office/drawing/2014/main" id="{D8471D6C-A0C5-F60E-8ED8-EFF929A31460}"/>
              </a:ext>
            </a:extLst>
          </p:cNvPr>
          <p:cNvSpPr txBox="1"/>
          <p:nvPr/>
        </p:nvSpPr>
        <p:spPr>
          <a:xfrm>
            <a:off x="466713" y="2043604"/>
            <a:ext cx="2278704" cy="188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lang="ko-KR" altLang="en-US" sz="1050" b="1" spc="-32" dirty="0">
                <a:solidFill>
                  <a:srgbClr val="20344B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처음 금융 세계에 들어선 이용자</a:t>
            </a:r>
            <a:endParaRPr lang="en-US" altLang="ko-KR" sz="1050" b="1" spc="-32" dirty="0">
              <a:solidFill>
                <a:srgbClr val="20344B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731CA080-0903-821A-3615-CA32D2885311}"/>
              </a:ext>
            </a:extLst>
          </p:cNvPr>
          <p:cNvSpPr txBox="1"/>
          <p:nvPr/>
        </p:nvSpPr>
        <p:spPr>
          <a:xfrm>
            <a:off x="3508208" y="2046763"/>
            <a:ext cx="2229464" cy="188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lang="ko-KR" altLang="en-US" sz="1050" b="1" spc="-32" dirty="0">
                <a:solidFill>
                  <a:srgbClr val="20344B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보다 더 많은 지식을 습득하려는 이용자</a:t>
            </a:r>
            <a:endParaRPr lang="en-US" altLang="ko-KR" sz="1050" b="1" spc="-32" dirty="0">
              <a:solidFill>
                <a:srgbClr val="20344B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37263D52-2EB9-0723-A96B-347D7F6467D5}"/>
              </a:ext>
            </a:extLst>
          </p:cNvPr>
          <p:cNvSpPr txBox="1"/>
          <p:nvPr/>
        </p:nvSpPr>
        <p:spPr>
          <a:xfrm>
            <a:off x="6405529" y="2046763"/>
            <a:ext cx="2091151" cy="188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lang="ko-KR" altLang="en-US" sz="1050" b="1" spc="-32" dirty="0">
                <a:solidFill>
                  <a:srgbClr val="20344B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구체적인 정보를 찾는 이용자</a:t>
            </a:r>
            <a:endParaRPr lang="en-US" altLang="ko-KR" sz="1050" b="1" spc="-32" dirty="0">
              <a:solidFill>
                <a:srgbClr val="20344B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</p:txBody>
      </p:sp>
      <p:pic>
        <p:nvPicPr>
          <p:cNvPr id="19" name="그림 18" descr="클립아트, 그래픽이(가) 표시된 사진&#10;&#10;자동 생성된 설명">
            <a:extLst>
              <a:ext uri="{FF2B5EF4-FFF2-40B4-BE49-F238E27FC236}">
                <a16:creationId xmlns:a16="http://schemas.microsoft.com/office/drawing/2014/main" id="{23B1EC51-0E3C-87DA-A46C-C93152CDD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974" y="1524685"/>
            <a:ext cx="461802" cy="461802"/>
          </a:xfrm>
          <a:prstGeom prst="rect">
            <a:avLst/>
          </a:prstGeom>
        </p:spPr>
      </p:pic>
      <p:pic>
        <p:nvPicPr>
          <p:cNvPr id="20" name="그림 19" descr="클립아트, 그래픽, 디자인이(가) 표시된 사진&#10;&#10;자동 생성된 설명">
            <a:extLst>
              <a:ext uri="{FF2B5EF4-FFF2-40B4-BE49-F238E27FC236}">
                <a16:creationId xmlns:a16="http://schemas.microsoft.com/office/drawing/2014/main" id="{DE4D8DE0-255F-5364-6417-6C47F43FB4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9835" y="1533192"/>
            <a:ext cx="481649" cy="481649"/>
          </a:xfrm>
          <a:prstGeom prst="rect">
            <a:avLst/>
          </a:prstGeom>
        </p:spPr>
      </p:pic>
      <p:pic>
        <p:nvPicPr>
          <p:cNvPr id="21" name="그림 20" descr="직소퍼즐이(가) 표시된 사진&#10;&#10;자동 생성된 설명">
            <a:extLst>
              <a:ext uri="{FF2B5EF4-FFF2-40B4-BE49-F238E27FC236}">
                <a16:creationId xmlns:a16="http://schemas.microsoft.com/office/drawing/2014/main" id="{EA51CB47-B3FC-85E1-C263-9EA236D7EC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312" y="1518157"/>
            <a:ext cx="445777" cy="445777"/>
          </a:xfrm>
          <a:prstGeom prst="rect">
            <a:avLst/>
          </a:prstGeom>
        </p:spPr>
      </p:pic>
      <p:sp>
        <p:nvSpPr>
          <p:cNvPr id="22" name="Google Shape;444;p41">
            <a:extLst>
              <a:ext uri="{FF2B5EF4-FFF2-40B4-BE49-F238E27FC236}">
                <a16:creationId xmlns:a16="http://schemas.microsoft.com/office/drawing/2014/main" id="{BC87A5AA-76A0-F8B7-36BC-05E966E1A842}"/>
              </a:ext>
            </a:extLst>
          </p:cNvPr>
          <p:cNvSpPr txBox="1"/>
          <p:nvPr/>
        </p:nvSpPr>
        <p:spPr>
          <a:xfrm>
            <a:off x="221324" y="129109"/>
            <a:ext cx="418055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사용자의 금융 지식 수준 판별</a:t>
            </a:r>
            <a:endParaRPr sz="7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85A415-F83E-905B-AB96-871E9DA07E9D}"/>
              </a:ext>
            </a:extLst>
          </p:cNvPr>
          <p:cNvSpPr txBox="1"/>
          <p:nvPr/>
        </p:nvSpPr>
        <p:spPr>
          <a:xfrm>
            <a:off x="203902" y="648518"/>
            <a:ext cx="45945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kumimoji="1" lang="ko-KR" altLang="en-US" sz="1200" b="1" dirty="0"/>
              <a:t>질문의 구체성 및 깊이를 고려</a:t>
            </a:r>
            <a:r>
              <a:rPr kumimoji="1" lang="ko-KR" altLang="en-US" sz="1200" dirty="0"/>
              <a:t>한</a:t>
            </a:r>
            <a:r>
              <a:rPr kumimoji="1" lang="ko-KR" altLang="en-US" sz="1200" b="1" dirty="0"/>
              <a:t> </a:t>
            </a:r>
            <a:r>
              <a:rPr kumimoji="1" lang="ko-KR" altLang="en-US" sz="1200" dirty="0"/>
              <a:t>사용자의 금융 지식 수준 판별</a:t>
            </a:r>
            <a:endParaRPr kumimoji="1" lang="ko-Kore-KR" altLang="en-US" sz="12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A5E62FE-01DC-1069-F93E-027B50336C20}"/>
              </a:ext>
            </a:extLst>
          </p:cNvPr>
          <p:cNvSpPr/>
          <p:nvPr/>
        </p:nvSpPr>
        <p:spPr>
          <a:xfrm>
            <a:off x="963760" y="1097471"/>
            <a:ext cx="1218803" cy="270116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b="1" dirty="0"/>
              <a:t>Newcomer</a:t>
            </a:r>
            <a:endParaRPr kumimoji="1" lang="ko-Kore-KR" altLang="en-US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C95A38-F097-8CAC-9376-48616D0D9E53}"/>
              </a:ext>
            </a:extLst>
          </p:cNvPr>
          <p:cNvSpPr txBox="1"/>
          <p:nvPr/>
        </p:nvSpPr>
        <p:spPr>
          <a:xfrm>
            <a:off x="416141" y="2346536"/>
            <a:ext cx="2475915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ko-KR" altLang="en-US" sz="1000" spc="-32" dirty="0">
                <a:solidFill>
                  <a:srgbClr val="20344B"/>
                </a:solidFill>
                <a:latin typeface="Source Han Sans KR Medium"/>
                <a:sym typeface="Source Han Sans KR Medium"/>
              </a:rPr>
              <a:t>금융</a:t>
            </a:r>
            <a:r>
              <a:rPr lang="en-US" altLang="ko-KR" sz="1000" spc="-32" dirty="0">
                <a:solidFill>
                  <a:srgbClr val="20344B"/>
                </a:solidFill>
                <a:latin typeface="Source Han Sans KR Medium"/>
                <a:sym typeface="Source Han Sans KR Medium"/>
              </a:rPr>
              <a:t>(</a:t>
            </a:r>
            <a:r>
              <a:rPr lang="ko-KR" altLang="en-US" sz="1000" spc="-32" dirty="0">
                <a:solidFill>
                  <a:srgbClr val="20344B"/>
                </a:solidFill>
                <a:latin typeface="Source Han Sans KR Medium"/>
                <a:sym typeface="Source Han Sans KR Medium"/>
              </a:rPr>
              <a:t>퍼즐 조각</a:t>
            </a:r>
            <a:r>
              <a:rPr lang="en-US" altLang="ko-KR" sz="1000" spc="-32" dirty="0">
                <a:solidFill>
                  <a:srgbClr val="20344B"/>
                </a:solidFill>
                <a:latin typeface="Source Han Sans KR Medium"/>
                <a:sym typeface="Source Han Sans KR Medium"/>
              </a:rPr>
              <a:t>)</a:t>
            </a:r>
            <a:r>
              <a:rPr lang="ko-KR" altLang="en-US" sz="1000" spc="-32" dirty="0">
                <a:solidFill>
                  <a:srgbClr val="20344B"/>
                </a:solidFill>
                <a:latin typeface="Source Han Sans KR Medium"/>
                <a:sym typeface="Source Han Sans KR Medium"/>
              </a:rPr>
              <a:t>이 어떻게 맞춰지는지 모르는 상태</a:t>
            </a:r>
            <a:endParaRPr lang="en-US" altLang="ko-KR" sz="1000" spc="-32" dirty="0">
              <a:solidFill>
                <a:srgbClr val="20344B"/>
              </a:solidFill>
              <a:latin typeface="Source Han Sans KR Medium"/>
              <a:sym typeface="Source Han Sans KR Medium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ko-Kore-KR" altLang="en-US" sz="1000" spc="-32" dirty="0">
                <a:solidFill>
                  <a:srgbClr val="20344B"/>
                </a:solidFill>
                <a:latin typeface="Source Han Sans KR Medium"/>
              </a:rPr>
              <a:t>기본적인</a:t>
            </a:r>
            <a:r>
              <a:rPr lang="ko-KR" altLang="en-US" sz="1000" spc="-32" dirty="0">
                <a:solidFill>
                  <a:srgbClr val="20344B"/>
                </a:solidFill>
                <a:latin typeface="Source Han Sans KR Medium"/>
              </a:rPr>
              <a:t> 금융 용어를 잘 모르는 수준</a:t>
            </a:r>
            <a:endParaRPr lang="en-US" altLang="ko-KR" sz="1000" spc="-32" dirty="0">
              <a:solidFill>
                <a:srgbClr val="20344B"/>
              </a:solidFill>
              <a:latin typeface="Source Han Sans KR Medium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endParaRPr lang="en-US" altLang="ko-KR" sz="1000" spc="-32" dirty="0">
              <a:solidFill>
                <a:srgbClr val="20344B"/>
              </a:solidFill>
              <a:latin typeface="Source Han Sans KR Medium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ko-KR" altLang="en-US" sz="1000" spc="-32" dirty="0">
                <a:solidFill>
                  <a:srgbClr val="20344B"/>
                </a:solidFill>
                <a:latin typeface="Source Han Sans KR Medium"/>
              </a:rPr>
              <a:t>질문 예시</a:t>
            </a:r>
            <a:r>
              <a:rPr lang="en-US" altLang="ko-KR" sz="1000" spc="-32" dirty="0">
                <a:solidFill>
                  <a:srgbClr val="20344B"/>
                </a:solidFill>
                <a:latin typeface="Source Han Sans KR Medium"/>
              </a:rPr>
              <a:t>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CF8D3C-694F-197B-AFFD-9141941149F2}"/>
              </a:ext>
            </a:extLst>
          </p:cNvPr>
          <p:cNvSpPr txBox="1"/>
          <p:nvPr/>
        </p:nvSpPr>
        <p:spPr>
          <a:xfrm>
            <a:off x="3282367" y="2295168"/>
            <a:ext cx="2614011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ko-KR" altLang="en-US" sz="1000" spc="-32" dirty="0">
                <a:solidFill>
                  <a:srgbClr val="20344B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금융</a:t>
            </a:r>
            <a:r>
              <a:rPr lang="en-US" altLang="ko-KR" sz="1000" spc="-32" dirty="0">
                <a:solidFill>
                  <a:srgbClr val="20344B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(</a:t>
            </a:r>
            <a:r>
              <a:rPr lang="ko-KR" altLang="en-US" sz="1000" spc="-32" dirty="0">
                <a:solidFill>
                  <a:srgbClr val="20344B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퍼즐</a:t>
            </a:r>
            <a:r>
              <a:rPr lang="en-US" altLang="ko-KR" sz="1000" spc="-32" dirty="0">
                <a:solidFill>
                  <a:srgbClr val="20344B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)</a:t>
            </a:r>
            <a:r>
              <a:rPr lang="ko-KR" altLang="en-US" sz="1000" spc="-32" dirty="0">
                <a:solidFill>
                  <a:srgbClr val="20344B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을 배워가고 있는 상태</a:t>
            </a:r>
            <a:endParaRPr lang="en-US" altLang="ko-Kore-KR" sz="1000" spc="-32" dirty="0">
              <a:solidFill>
                <a:srgbClr val="20344B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ko-Kore-KR" altLang="en-US" sz="1000" spc="-32" dirty="0">
                <a:solidFill>
                  <a:srgbClr val="20344B"/>
                </a:solidFill>
                <a:latin typeface="Source Han Sans KR Medium"/>
              </a:rPr>
              <a:t>기본적인</a:t>
            </a:r>
            <a:r>
              <a:rPr lang="ko-KR" altLang="en-US" sz="1000" spc="-32" dirty="0">
                <a:solidFill>
                  <a:srgbClr val="20344B"/>
                </a:solidFill>
                <a:latin typeface="Source Han Sans KR Medium"/>
              </a:rPr>
              <a:t> 금융 용어를 들어본 적은 있지만</a:t>
            </a:r>
            <a:r>
              <a:rPr lang="en-US" altLang="ko-KR" sz="1000" spc="-32" dirty="0">
                <a:solidFill>
                  <a:srgbClr val="20344B"/>
                </a:solidFill>
                <a:latin typeface="Source Han Sans KR Medium"/>
              </a:rPr>
              <a:t>,</a:t>
            </a:r>
            <a:r>
              <a:rPr lang="ko-KR" altLang="en-US" sz="1000" spc="-32" dirty="0">
                <a:solidFill>
                  <a:srgbClr val="20344B"/>
                </a:solidFill>
                <a:latin typeface="Source Han Sans KR Medium"/>
              </a:rPr>
              <a:t> 정확한 의미 확신이 없음</a:t>
            </a:r>
            <a:endParaRPr lang="en-US" altLang="ko-KR" sz="1000" spc="-32" dirty="0">
              <a:solidFill>
                <a:srgbClr val="20344B"/>
              </a:solidFill>
              <a:latin typeface="Source Han Sans KR Medium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endParaRPr lang="en-US" altLang="ko-KR" sz="1000" spc="-32" dirty="0">
              <a:solidFill>
                <a:srgbClr val="20344B"/>
              </a:solidFill>
              <a:latin typeface="Source Han Sans KR Medium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ko-KR" altLang="en-US" sz="1000" spc="-32" dirty="0">
                <a:solidFill>
                  <a:srgbClr val="20344B"/>
                </a:solidFill>
                <a:latin typeface="Source Han Sans KR Medium"/>
              </a:rPr>
              <a:t>질문</a:t>
            </a:r>
            <a:r>
              <a:rPr lang="en-US" altLang="ko-KR" sz="1000" spc="-32" dirty="0">
                <a:solidFill>
                  <a:srgbClr val="20344B"/>
                </a:solidFill>
                <a:latin typeface="Source Han Sans KR Medium"/>
              </a:rPr>
              <a:t> </a:t>
            </a:r>
            <a:r>
              <a:rPr lang="ko-KR" altLang="en-US" sz="1000" spc="-32" dirty="0">
                <a:solidFill>
                  <a:srgbClr val="20344B"/>
                </a:solidFill>
                <a:latin typeface="Source Han Sans KR Medium"/>
              </a:rPr>
              <a:t>예시</a:t>
            </a:r>
            <a:r>
              <a:rPr lang="en-US" altLang="ko-KR" sz="1000" spc="-32" dirty="0">
                <a:solidFill>
                  <a:srgbClr val="20344B"/>
                </a:solidFill>
                <a:latin typeface="Source Han Sans KR Medium"/>
              </a:rPr>
              <a:t>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A757A7-15C1-BA03-71A2-38BFF8D5E011}"/>
              </a:ext>
            </a:extLst>
          </p:cNvPr>
          <p:cNvSpPr txBox="1"/>
          <p:nvPr/>
        </p:nvSpPr>
        <p:spPr>
          <a:xfrm>
            <a:off x="6170281" y="2289879"/>
            <a:ext cx="2616981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ko-KR" altLang="en-US" sz="1000" spc="-32" dirty="0">
                <a:solidFill>
                  <a:srgbClr val="20344B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자신만의 목표하는 그림이 있는 상태</a:t>
            </a:r>
            <a:endParaRPr lang="en-US" altLang="ko-KR" sz="1000" spc="-32" dirty="0">
              <a:solidFill>
                <a:srgbClr val="20344B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ko-KR" altLang="en-US" sz="1000" spc="-32" dirty="0">
                <a:solidFill>
                  <a:srgbClr val="20344B"/>
                </a:solidFill>
                <a:latin typeface="Source Han Sans KR Medium"/>
              </a:rPr>
              <a:t>구체적인 정보를 요구하며 상대적으로 어려운 금융 용어를 활용</a:t>
            </a:r>
            <a:endParaRPr lang="en-US" altLang="ko-KR" sz="1000" spc="-32" dirty="0">
              <a:solidFill>
                <a:srgbClr val="20344B"/>
              </a:solidFill>
              <a:latin typeface="Source Han Sans KR Medium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endParaRPr lang="en-US" altLang="ko-KR" sz="1000" spc="-32" dirty="0">
              <a:solidFill>
                <a:srgbClr val="20344B"/>
              </a:solidFill>
              <a:latin typeface="Source Han Sans KR Medium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ko-KR" altLang="en-US" sz="1000" spc="-32" dirty="0">
                <a:solidFill>
                  <a:srgbClr val="20344B"/>
                </a:solidFill>
                <a:latin typeface="Source Han Sans KR Medium"/>
              </a:rPr>
              <a:t>질문 예시</a:t>
            </a:r>
            <a:r>
              <a:rPr lang="en-US" altLang="ko-KR" sz="1000" spc="-32" dirty="0">
                <a:solidFill>
                  <a:srgbClr val="20344B"/>
                </a:solidFill>
                <a:latin typeface="Source Han Sans KR Medium"/>
              </a:rPr>
              <a:t>:</a:t>
            </a:r>
            <a:r>
              <a:rPr lang="en-US" altLang="ko-Kore-KR" sz="1000" spc="-32" dirty="0">
                <a:solidFill>
                  <a:srgbClr val="20344B"/>
                </a:solidFill>
                <a:latin typeface="Source Han Sans KR Medium"/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1A005C-004C-1FEA-C3B4-8FD3405CCA82}"/>
              </a:ext>
            </a:extLst>
          </p:cNvPr>
          <p:cNvSpPr txBox="1"/>
          <p:nvPr/>
        </p:nvSpPr>
        <p:spPr>
          <a:xfrm>
            <a:off x="389421" y="4547967"/>
            <a:ext cx="2587247" cy="276999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lgDash"/>
          </a:ln>
        </p:spPr>
        <p:txBody>
          <a:bodyPr wrap="none" rtlCol="0">
            <a:spAutoFit/>
          </a:bodyPr>
          <a:lstStyle/>
          <a:p>
            <a:r>
              <a:rPr lang="ko-KR" altLang="en-US" sz="1200" b="1" spc="-32" dirty="0">
                <a:solidFill>
                  <a:srgbClr val="20344B"/>
                </a:solidFill>
                <a:latin typeface="Source Han Sans KR Medium"/>
              </a:rPr>
              <a:t>기초적인 용어와 개념 중심 설명 제공</a:t>
            </a:r>
            <a:endParaRPr lang="ko-Kore-KR" altLang="en-US" sz="1200" b="1" spc="-32" dirty="0">
              <a:solidFill>
                <a:srgbClr val="20344B"/>
              </a:solidFill>
              <a:latin typeface="Source Han Sans KR Medium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D08E21-BEF6-225C-5EDB-2FBA7545BBCF}"/>
              </a:ext>
            </a:extLst>
          </p:cNvPr>
          <p:cNvSpPr txBox="1"/>
          <p:nvPr/>
        </p:nvSpPr>
        <p:spPr>
          <a:xfrm>
            <a:off x="3267765" y="4543791"/>
            <a:ext cx="2556084" cy="46166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lgDash"/>
          </a:ln>
        </p:spPr>
        <p:txBody>
          <a:bodyPr wrap="none" rtlCol="0">
            <a:spAutoFit/>
          </a:bodyPr>
          <a:lstStyle/>
          <a:p>
            <a:r>
              <a:rPr lang="ko-KR" altLang="en-US" sz="1200" b="1" spc="-32" dirty="0">
                <a:solidFill>
                  <a:srgbClr val="20344B"/>
                </a:solidFill>
                <a:latin typeface="Source Han Sans KR Medium"/>
              </a:rPr>
              <a:t>심화된 설명을 제공하되</a:t>
            </a:r>
            <a:r>
              <a:rPr lang="en-US" altLang="ko-KR" sz="1200" b="1" spc="-32" dirty="0">
                <a:solidFill>
                  <a:srgbClr val="20344B"/>
                </a:solidFill>
                <a:latin typeface="Source Han Sans KR Medium"/>
              </a:rPr>
              <a:t>,</a:t>
            </a:r>
          </a:p>
          <a:p>
            <a:r>
              <a:rPr lang="ko-KR" altLang="en-US" sz="1200" b="1" spc="-32" dirty="0">
                <a:solidFill>
                  <a:srgbClr val="20344B"/>
                </a:solidFill>
                <a:latin typeface="Source Han Sans KR Medium"/>
              </a:rPr>
              <a:t>복잡한 내용을 단계적으로 풀어 설명</a:t>
            </a:r>
            <a:endParaRPr lang="ko-Kore-KR" altLang="en-US" sz="1200" b="1" spc="-32" dirty="0">
              <a:solidFill>
                <a:srgbClr val="20344B"/>
              </a:solidFill>
              <a:latin typeface="Source Han Sans KR Medium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0A282B-FEB5-7039-0A53-FFBC2833A07F}"/>
              </a:ext>
            </a:extLst>
          </p:cNvPr>
          <p:cNvSpPr txBox="1"/>
          <p:nvPr/>
        </p:nvSpPr>
        <p:spPr>
          <a:xfrm>
            <a:off x="6257634" y="4543791"/>
            <a:ext cx="2442272" cy="46166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lgDash"/>
          </a:ln>
        </p:spPr>
        <p:txBody>
          <a:bodyPr wrap="none" rtlCol="0">
            <a:spAutoFit/>
          </a:bodyPr>
          <a:lstStyle/>
          <a:p>
            <a:r>
              <a:rPr lang="ko-KR" altLang="en-US" sz="1200" b="1" spc="-32" dirty="0">
                <a:solidFill>
                  <a:srgbClr val="20344B"/>
                </a:solidFill>
                <a:latin typeface="Source Han Sans KR Medium"/>
              </a:rPr>
              <a:t>보다 다양한 금융 용어를 활용하며</a:t>
            </a:r>
            <a:r>
              <a:rPr lang="en-US" altLang="ko-KR" sz="1200" b="1" spc="-32" dirty="0">
                <a:solidFill>
                  <a:srgbClr val="20344B"/>
                </a:solidFill>
                <a:latin typeface="Source Han Sans KR Medium"/>
              </a:rPr>
              <a:t>,</a:t>
            </a:r>
          </a:p>
          <a:p>
            <a:r>
              <a:rPr lang="ko-KR" altLang="en-US" sz="1200" b="1" spc="-32" dirty="0">
                <a:solidFill>
                  <a:srgbClr val="20344B"/>
                </a:solidFill>
                <a:latin typeface="Source Han Sans KR Medium"/>
              </a:rPr>
              <a:t>구체적인 정보 제공</a:t>
            </a:r>
            <a:endParaRPr lang="ko-Kore-KR" altLang="en-US" sz="1200" b="1" spc="-32" dirty="0">
              <a:solidFill>
                <a:srgbClr val="20344B"/>
              </a:solidFill>
              <a:latin typeface="Source Han Sans KR Medium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12C83C-03A2-A8C5-0B1D-073AE34F91BC}"/>
              </a:ext>
            </a:extLst>
          </p:cNvPr>
          <p:cNvSpPr txBox="1"/>
          <p:nvPr/>
        </p:nvSpPr>
        <p:spPr>
          <a:xfrm>
            <a:off x="605712" y="3468690"/>
            <a:ext cx="1707070" cy="52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ore-KR" sz="1000" spc="-32" dirty="0">
                <a:solidFill>
                  <a:srgbClr val="20344B"/>
                </a:solidFill>
                <a:latin typeface="Source Han Sans KR Medium"/>
              </a:rPr>
              <a:t>ETF</a:t>
            </a:r>
            <a:r>
              <a:rPr lang="ko-KR" altLang="en-US" sz="1000" spc="-32" dirty="0">
                <a:solidFill>
                  <a:srgbClr val="20344B"/>
                </a:solidFill>
                <a:latin typeface="Source Han Sans KR Medium"/>
              </a:rPr>
              <a:t>가 무엇인가요</a:t>
            </a:r>
            <a:r>
              <a:rPr lang="en-US" altLang="ko-KR" sz="1000" spc="-32" dirty="0">
                <a:solidFill>
                  <a:srgbClr val="20344B"/>
                </a:solidFill>
                <a:latin typeface="Source Han Sans KR Medium"/>
              </a:rPr>
              <a:t>?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pc="-32" dirty="0">
                <a:solidFill>
                  <a:srgbClr val="20344B"/>
                </a:solidFill>
                <a:latin typeface="Source Han Sans KR Medium"/>
              </a:rPr>
              <a:t>기초지수가 무엇인가요</a:t>
            </a:r>
            <a:r>
              <a:rPr lang="en-US" altLang="ko-KR" sz="1000" spc="-32" dirty="0">
                <a:solidFill>
                  <a:srgbClr val="20344B"/>
                </a:solidFill>
                <a:latin typeface="Source Han Sans KR Medium"/>
              </a:rPr>
              <a:t>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4599492-6554-DC22-CFA5-E7236A06ED01}"/>
              </a:ext>
            </a:extLst>
          </p:cNvPr>
          <p:cNvSpPr txBox="1"/>
          <p:nvPr/>
        </p:nvSpPr>
        <p:spPr>
          <a:xfrm>
            <a:off x="3477452" y="3415234"/>
            <a:ext cx="1880708" cy="52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pc="-32" dirty="0">
                <a:solidFill>
                  <a:srgbClr val="20344B"/>
                </a:solidFill>
                <a:latin typeface="Source Han Sans KR Medium"/>
              </a:rPr>
              <a:t>배당을 언제 주나요</a:t>
            </a:r>
            <a:r>
              <a:rPr lang="en-US" altLang="ko-KR" sz="1000" spc="-32" dirty="0">
                <a:solidFill>
                  <a:srgbClr val="20344B"/>
                </a:solidFill>
                <a:latin typeface="Source Han Sans KR Medium"/>
              </a:rPr>
              <a:t>?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pc="-32" dirty="0">
                <a:solidFill>
                  <a:srgbClr val="20344B"/>
                </a:solidFill>
                <a:latin typeface="Source Han Sans KR Medium"/>
              </a:rPr>
              <a:t>세금 계산은 어떻게 하나요</a:t>
            </a:r>
            <a:r>
              <a:rPr lang="en-US" altLang="ko-KR" sz="1000" spc="-32" dirty="0">
                <a:solidFill>
                  <a:srgbClr val="20344B"/>
                </a:solidFill>
                <a:latin typeface="Source Han Sans KR Medium"/>
              </a:rPr>
              <a:t>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C051F1-A5AC-1E89-EAF8-967F7E381BB9}"/>
              </a:ext>
            </a:extLst>
          </p:cNvPr>
          <p:cNvSpPr txBox="1"/>
          <p:nvPr/>
        </p:nvSpPr>
        <p:spPr>
          <a:xfrm>
            <a:off x="6391133" y="3409117"/>
            <a:ext cx="2175275" cy="52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pc="-32" dirty="0">
                <a:solidFill>
                  <a:srgbClr val="20344B"/>
                </a:solidFill>
                <a:latin typeface="Source Han Sans KR Medium"/>
              </a:rPr>
              <a:t>해당 </a:t>
            </a:r>
            <a:r>
              <a:rPr lang="en-US" altLang="ko-KR" sz="1000" spc="-32" dirty="0">
                <a:solidFill>
                  <a:srgbClr val="20344B"/>
                </a:solidFill>
                <a:latin typeface="Source Han Sans KR Medium"/>
              </a:rPr>
              <a:t>ETF</a:t>
            </a:r>
            <a:r>
              <a:rPr lang="ko-KR" altLang="en-US" sz="1000" spc="-32" dirty="0">
                <a:solidFill>
                  <a:srgbClr val="20344B"/>
                </a:solidFill>
                <a:latin typeface="Source Han Sans KR Medium"/>
              </a:rPr>
              <a:t>는 환해지인가요</a:t>
            </a:r>
            <a:r>
              <a:rPr lang="en-US" altLang="ko-KR" sz="1000" spc="-32" dirty="0">
                <a:solidFill>
                  <a:srgbClr val="20344B"/>
                </a:solidFill>
                <a:latin typeface="Source Han Sans KR Medium"/>
              </a:rPr>
              <a:t>?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pc="-32" dirty="0" err="1">
                <a:solidFill>
                  <a:srgbClr val="20344B"/>
                </a:solidFill>
                <a:latin typeface="Source Han Sans KR Medium"/>
              </a:rPr>
              <a:t>리밸런싱</a:t>
            </a:r>
            <a:r>
              <a:rPr lang="ko-KR" altLang="en-US" sz="1000" spc="-32" dirty="0">
                <a:solidFill>
                  <a:srgbClr val="20344B"/>
                </a:solidFill>
                <a:latin typeface="Source Han Sans KR Medium"/>
              </a:rPr>
              <a:t> 주기는 어떻게 되나요</a:t>
            </a:r>
            <a:r>
              <a:rPr lang="en-US" altLang="ko-KR" sz="1000" spc="-32" dirty="0">
                <a:solidFill>
                  <a:srgbClr val="20344B"/>
                </a:solidFill>
                <a:latin typeface="Source Han Sans KR Medium"/>
              </a:rPr>
              <a:t>?</a:t>
            </a:r>
          </a:p>
        </p:txBody>
      </p:sp>
      <p:sp>
        <p:nvSpPr>
          <p:cNvPr id="34" name="Freeform 15">
            <a:extLst>
              <a:ext uri="{FF2B5EF4-FFF2-40B4-BE49-F238E27FC236}">
                <a16:creationId xmlns:a16="http://schemas.microsoft.com/office/drawing/2014/main" id="{D9668641-0371-63F1-FB50-0B455B985BAF}"/>
              </a:ext>
            </a:extLst>
          </p:cNvPr>
          <p:cNvSpPr/>
          <p:nvPr/>
        </p:nvSpPr>
        <p:spPr>
          <a:xfrm rot="5400000">
            <a:off x="1354985" y="4176808"/>
            <a:ext cx="387206" cy="287123"/>
          </a:xfrm>
          <a:custGeom>
            <a:avLst/>
            <a:gdLst/>
            <a:ahLst/>
            <a:cxnLst/>
            <a:rect l="l" t="t" r="r" b="b"/>
            <a:pathLst>
              <a:path w="1100359" h="778254">
                <a:moveTo>
                  <a:pt x="0" y="0"/>
                </a:moveTo>
                <a:lnTo>
                  <a:pt x="1100360" y="0"/>
                </a:lnTo>
                <a:lnTo>
                  <a:pt x="1100360" y="778254"/>
                </a:lnTo>
                <a:lnTo>
                  <a:pt x="0" y="778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ore-KR" altLang="en-US" sz="700"/>
          </a:p>
        </p:txBody>
      </p:sp>
      <p:sp>
        <p:nvSpPr>
          <p:cNvPr id="35" name="Freeform 15">
            <a:extLst>
              <a:ext uri="{FF2B5EF4-FFF2-40B4-BE49-F238E27FC236}">
                <a16:creationId xmlns:a16="http://schemas.microsoft.com/office/drawing/2014/main" id="{171C1D92-58B3-0087-45CD-94F3CD14A03E}"/>
              </a:ext>
            </a:extLst>
          </p:cNvPr>
          <p:cNvSpPr/>
          <p:nvPr/>
        </p:nvSpPr>
        <p:spPr>
          <a:xfrm rot="5400000">
            <a:off x="4342955" y="4157818"/>
            <a:ext cx="387206" cy="287123"/>
          </a:xfrm>
          <a:custGeom>
            <a:avLst/>
            <a:gdLst/>
            <a:ahLst/>
            <a:cxnLst/>
            <a:rect l="l" t="t" r="r" b="b"/>
            <a:pathLst>
              <a:path w="1100359" h="778254">
                <a:moveTo>
                  <a:pt x="0" y="0"/>
                </a:moveTo>
                <a:lnTo>
                  <a:pt x="1100360" y="0"/>
                </a:lnTo>
                <a:lnTo>
                  <a:pt x="1100360" y="778254"/>
                </a:lnTo>
                <a:lnTo>
                  <a:pt x="0" y="778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ore-KR" altLang="en-US" sz="700"/>
          </a:p>
        </p:txBody>
      </p:sp>
      <p:sp>
        <p:nvSpPr>
          <p:cNvPr id="36" name="Freeform 15">
            <a:extLst>
              <a:ext uri="{FF2B5EF4-FFF2-40B4-BE49-F238E27FC236}">
                <a16:creationId xmlns:a16="http://schemas.microsoft.com/office/drawing/2014/main" id="{DC8D6EC1-0975-4D45-B4EA-DD4554E243D2}"/>
              </a:ext>
            </a:extLst>
          </p:cNvPr>
          <p:cNvSpPr/>
          <p:nvPr/>
        </p:nvSpPr>
        <p:spPr>
          <a:xfrm rot="5400000">
            <a:off x="7304590" y="4181433"/>
            <a:ext cx="387206" cy="287123"/>
          </a:xfrm>
          <a:custGeom>
            <a:avLst/>
            <a:gdLst/>
            <a:ahLst/>
            <a:cxnLst/>
            <a:rect l="l" t="t" r="r" b="b"/>
            <a:pathLst>
              <a:path w="1100359" h="778254">
                <a:moveTo>
                  <a:pt x="0" y="0"/>
                </a:moveTo>
                <a:lnTo>
                  <a:pt x="1100360" y="0"/>
                </a:lnTo>
                <a:lnTo>
                  <a:pt x="1100360" y="778254"/>
                </a:lnTo>
                <a:lnTo>
                  <a:pt x="0" y="778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ore-KR" altLang="en-US" sz="700"/>
          </a:p>
        </p:txBody>
      </p:sp>
    </p:spTree>
    <p:extLst>
      <p:ext uri="{BB962C8B-B14F-4D97-AF65-F5344CB8AC3E}">
        <p14:creationId xmlns:p14="http://schemas.microsoft.com/office/powerpoint/2010/main" val="2708669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DBF6D-1DE2-F3BF-BF8C-1B15B6965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직사각형 57">
            <a:extLst>
              <a:ext uri="{FF2B5EF4-FFF2-40B4-BE49-F238E27FC236}">
                <a16:creationId xmlns:a16="http://schemas.microsoft.com/office/drawing/2014/main" id="{7898C6E6-9ACF-1548-51D3-1628EE4E7A3A}"/>
              </a:ext>
            </a:extLst>
          </p:cNvPr>
          <p:cNvSpPr/>
          <p:nvPr/>
        </p:nvSpPr>
        <p:spPr>
          <a:xfrm>
            <a:off x="5605237" y="2560612"/>
            <a:ext cx="3426553" cy="1221903"/>
          </a:xfrm>
          <a:prstGeom prst="rect">
            <a:avLst/>
          </a:prstGeom>
          <a:solidFill>
            <a:srgbClr val="F2DCDB">
              <a:alpha val="29804"/>
            </a:srgb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DD668B9-58E7-8219-49F7-51BF22EEB869}"/>
              </a:ext>
            </a:extLst>
          </p:cNvPr>
          <p:cNvSpPr/>
          <p:nvPr/>
        </p:nvSpPr>
        <p:spPr>
          <a:xfrm>
            <a:off x="153676" y="1929912"/>
            <a:ext cx="5340441" cy="1840046"/>
          </a:xfrm>
          <a:prstGeom prst="rect">
            <a:avLst/>
          </a:prstGeom>
          <a:solidFill>
            <a:srgbClr val="F2DCDB">
              <a:alpha val="29804"/>
            </a:srgb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7" name="원통[C] 26">
            <a:extLst>
              <a:ext uri="{FF2B5EF4-FFF2-40B4-BE49-F238E27FC236}">
                <a16:creationId xmlns:a16="http://schemas.microsoft.com/office/drawing/2014/main" id="{2ACFCF06-31EC-4E29-1E7F-444CAAE44C8A}"/>
              </a:ext>
            </a:extLst>
          </p:cNvPr>
          <p:cNvSpPr/>
          <p:nvPr/>
        </p:nvSpPr>
        <p:spPr>
          <a:xfrm>
            <a:off x="4276615" y="3084900"/>
            <a:ext cx="947945" cy="525052"/>
          </a:xfrm>
          <a:prstGeom prst="can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200" dirty="0">
                <a:solidFill>
                  <a:schemeClr val="tx1"/>
                </a:solidFill>
              </a:rPr>
              <a:t>Vector</a:t>
            </a:r>
            <a:r>
              <a:rPr kumimoji="1" lang="ko-KR" altLang="en-US" sz="1200" dirty="0">
                <a:solidFill>
                  <a:schemeClr val="tx1"/>
                </a:solidFill>
              </a:rPr>
              <a:t> </a:t>
            </a:r>
            <a:r>
              <a:rPr kumimoji="1" lang="en-US" altLang="ko-Kore-KR" sz="1200" dirty="0">
                <a:solidFill>
                  <a:schemeClr val="tx1"/>
                </a:solidFill>
              </a:rPr>
              <a:t>DB</a:t>
            </a:r>
            <a:endParaRPr kumimoji="1" lang="ko-Kore-KR" altLang="en-US" sz="1200" dirty="0">
              <a:solidFill>
                <a:schemeClr val="tx1"/>
              </a:solidFill>
            </a:endParaRPr>
          </a:p>
        </p:txBody>
      </p:sp>
      <p:sp>
        <p:nvSpPr>
          <p:cNvPr id="4" name="Google Shape;444;p41">
            <a:extLst>
              <a:ext uri="{FF2B5EF4-FFF2-40B4-BE49-F238E27FC236}">
                <a16:creationId xmlns:a16="http://schemas.microsoft.com/office/drawing/2014/main" id="{ECFDDE9A-A4F0-9573-4C68-D1F592B9BA4F}"/>
              </a:ext>
            </a:extLst>
          </p:cNvPr>
          <p:cNvSpPr txBox="1"/>
          <p:nvPr/>
        </p:nvSpPr>
        <p:spPr>
          <a:xfrm>
            <a:off x="221324" y="129109"/>
            <a:ext cx="450579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LLM Flow</a:t>
            </a:r>
            <a:r>
              <a:rPr lang="en-US" altLang="ko-KR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ko-KR" altLang="en-US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RAG </a:t>
            </a:r>
            <a:r>
              <a:rPr lang="ko-KR" altLang="en-US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평가 및 </a:t>
            </a:r>
            <a:r>
              <a:rPr lang="en-US" altLang="ko-KR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QA</a:t>
            </a:r>
            <a:r>
              <a:rPr lang="ko-KR" altLang="en-US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용 </a:t>
            </a:r>
            <a:r>
              <a:rPr lang="en-US" altLang="ko-KR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sz="700" b="1" dirty="0"/>
          </a:p>
        </p:txBody>
      </p:sp>
      <p:pic>
        <p:nvPicPr>
          <p:cNvPr id="3" name="Picture 6" descr="로봇 단색으로 채워진">
            <a:extLst>
              <a:ext uri="{FF2B5EF4-FFF2-40B4-BE49-F238E27FC236}">
                <a16:creationId xmlns:a16="http://schemas.microsoft.com/office/drawing/2014/main" id="{B81E7D68-396E-329E-8B45-D92B357A1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47" y="3929097"/>
            <a:ext cx="784715" cy="784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FFACEFC-59A3-908A-3FF8-672F2B686012}"/>
              </a:ext>
            </a:extLst>
          </p:cNvPr>
          <p:cNvSpPr txBox="1"/>
          <p:nvPr/>
        </p:nvSpPr>
        <p:spPr>
          <a:xfrm>
            <a:off x="7694072" y="3113406"/>
            <a:ext cx="843501" cy="27699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ko-KR" altLang="en-US" sz="1200" dirty="0"/>
              <a:t>답변 생성</a:t>
            </a:r>
            <a:endParaRPr kumimoji="1" lang="ko-Kore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0DCD77-E7E4-6CF2-C699-13B352EA1D6B}"/>
              </a:ext>
            </a:extLst>
          </p:cNvPr>
          <p:cNvSpPr txBox="1"/>
          <p:nvPr/>
        </p:nvSpPr>
        <p:spPr>
          <a:xfrm>
            <a:off x="1652212" y="4594023"/>
            <a:ext cx="35157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kumimoji="1" lang="en-US" altLang="ko-KR" sz="1000" dirty="0"/>
              <a:t>Score: </a:t>
            </a:r>
            <a:r>
              <a:rPr kumimoji="1" lang="ko-KR" altLang="en-US" sz="1000" dirty="0"/>
              <a:t>사실적 일관성</a:t>
            </a:r>
            <a:r>
              <a:rPr kumimoji="1" lang="en-US" altLang="ko-KR" sz="1000" dirty="0"/>
              <a:t>, </a:t>
            </a:r>
            <a:r>
              <a:rPr kumimoji="1" lang="ko-KR" altLang="en-US" sz="1000" dirty="0"/>
              <a:t>답변 관련성</a:t>
            </a:r>
            <a:r>
              <a:rPr kumimoji="1" lang="en-US" altLang="ko-KR" sz="1000" dirty="0"/>
              <a:t>, </a:t>
            </a:r>
            <a:r>
              <a:rPr kumimoji="1" lang="ko-KR" altLang="en-US" sz="1000" dirty="0"/>
              <a:t>문맥 정밀도</a:t>
            </a:r>
            <a:r>
              <a:rPr kumimoji="1" lang="en-US" altLang="ko-KR" sz="1000" dirty="0"/>
              <a:t>, </a:t>
            </a:r>
            <a:r>
              <a:rPr kumimoji="1" lang="ko-KR" altLang="en-US" sz="1000" dirty="0" err="1"/>
              <a:t>재현율</a:t>
            </a:r>
            <a:endParaRPr kumimoji="1" lang="en-US" altLang="ko-KR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CC28BE-0160-A338-E449-53AE64957F71}"/>
              </a:ext>
            </a:extLst>
          </p:cNvPr>
          <p:cNvSpPr txBox="1"/>
          <p:nvPr/>
        </p:nvSpPr>
        <p:spPr>
          <a:xfrm>
            <a:off x="1365450" y="3982189"/>
            <a:ext cx="4264309" cy="6118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dirty="0"/>
              <a:t>모델 성능향상 테스트 및 검증 </a:t>
            </a:r>
            <a:r>
              <a:rPr kumimoji="1" lang="en-US" altLang="ko-KR" sz="1200" dirty="0"/>
              <a:t>(</a:t>
            </a:r>
            <a:r>
              <a:rPr kumimoji="1" lang="ko-KR" altLang="en-US" sz="1200" dirty="0"/>
              <a:t>실제 서비스에는 미적용</a:t>
            </a:r>
            <a:r>
              <a:rPr kumimoji="1" lang="en-US" altLang="ko-KR" sz="1200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200" dirty="0"/>
              <a:t>LLM</a:t>
            </a:r>
            <a:r>
              <a:rPr kumimoji="1" lang="ko-KR" altLang="en-US" sz="1200" dirty="0"/>
              <a:t>의 질문 답변 정확성 확인 </a:t>
            </a:r>
            <a:r>
              <a:rPr kumimoji="1" lang="en-US" altLang="ko-KR" sz="1200" dirty="0"/>
              <a:t>(</a:t>
            </a:r>
            <a:r>
              <a:rPr kumimoji="1" lang="ko-KR" altLang="en-US" sz="1200" dirty="0"/>
              <a:t>평가 데이터셋 적용</a:t>
            </a:r>
            <a:r>
              <a:rPr kumimoji="1" lang="en-US" altLang="ko-KR" sz="1200" dirty="0"/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1DB1D3-DEEC-91B8-E623-59AEF69D19F2}"/>
              </a:ext>
            </a:extLst>
          </p:cNvPr>
          <p:cNvSpPr txBox="1"/>
          <p:nvPr/>
        </p:nvSpPr>
        <p:spPr>
          <a:xfrm>
            <a:off x="203902" y="648518"/>
            <a:ext cx="5944256" cy="8888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ko-KR" sz="1200" b="1" dirty="0"/>
              <a:t>RAG(Retrieval-Augmented Generation)</a:t>
            </a:r>
            <a:r>
              <a:rPr kumimoji="1" lang="ko-KR" altLang="en-US" sz="1200" b="1" dirty="0" err="1"/>
              <a:t>를</a:t>
            </a:r>
            <a:r>
              <a:rPr kumimoji="1" lang="ko-KR" altLang="en-US" sz="1200" b="1" dirty="0"/>
              <a:t> 통한 </a:t>
            </a:r>
            <a:r>
              <a:rPr kumimoji="1" lang="en-US" altLang="ko-KR" sz="1200" b="1" dirty="0"/>
              <a:t>LLM</a:t>
            </a:r>
            <a:r>
              <a:rPr kumimoji="1" lang="ko-KR" altLang="en-US" sz="1200" b="1" dirty="0"/>
              <a:t>의 한계</a:t>
            </a:r>
            <a:r>
              <a:rPr kumimoji="1" lang="en-US" altLang="ko-KR" sz="1200" b="1" dirty="0"/>
              <a:t>(Hallucination)</a:t>
            </a:r>
            <a:r>
              <a:rPr kumimoji="1" lang="ko-KR" altLang="en-US" sz="1200" b="1" dirty="0"/>
              <a:t> 보완</a:t>
            </a:r>
            <a:endParaRPr kumimoji="1" lang="en-US" altLang="ko-KR" sz="1200" b="1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dirty="0"/>
              <a:t>외부 지식 활용</a:t>
            </a:r>
            <a:r>
              <a:rPr kumimoji="1" lang="en-US" altLang="ko-KR" sz="1200" dirty="0"/>
              <a:t>:</a:t>
            </a:r>
            <a:r>
              <a:rPr kumimoji="1" lang="ko-KR" altLang="en-US" sz="1200" dirty="0"/>
              <a:t> 주어진 질의 관련 정보 검색</a:t>
            </a:r>
            <a:endParaRPr kumimoji="1" lang="en-US" altLang="ko-KR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dirty="0"/>
              <a:t>최신 금융 지식 업데이트</a:t>
            </a:r>
            <a:endParaRPr kumimoji="1" lang="ko-Kore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FD93EA-6392-ECFE-C740-1558BA21EB6C}"/>
              </a:ext>
            </a:extLst>
          </p:cNvPr>
          <p:cNvSpPr txBox="1"/>
          <p:nvPr/>
        </p:nvSpPr>
        <p:spPr>
          <a:xfrm>
            <a:off x="112210" y="1663079"/>
            <a:ext cx="952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b="1" dirty="0"/>
              <a:t>검색</a:t>
            </a:r>
            <a:r>
              <a:rPr kumimoji="1" lang="ko-KR" altLang="en-US" b="1" dirty="0"/>
              <a:t> 단계</a:t>
            </a:r>
            <a:endParaRPr kumimoji="1" lang="ko-Kore-KR" alt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9596DD-98AD-12F4-9745-85029BC91699}"/>
              </a:ext>
            </a:extLst>
          </p:cNvPr>
          <p:cNvSpPr txBox="1"/>
          <p:nvPr/>
        </p:nvSpPr>
        <p:spPr>
          <a:xfrm>
            <a:off x="5562572" y="2239278"/>
            <a:ext cx="952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b="1" dirty="0"/>
              <a:t>생성</a:t>
            </a:r>
            <a:r>
              <a:rPr kumimoji="1" lang="ko-KR" altLang="en-US" b="1" dirty="0"/>
              <a:t> 단계</a:t>
            </a:r>
            <a:endParaRPr kumimoji="1" lang="ko-Kore-KR" altLang="en-US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FF145D-D8B9-D311-5430-94A6574006FC}"/>
              </a:ext>
            </a:extLst>
          </p:cNvPr>
          <p:cNvSpPr txBox="1"/>
          <p:nvPr/>
        </p:nvSpPr>
        <p:spPr>
          <a:xfrm>
            <a:off x="269815" y="3146716"/>
            <a:ext cx="1643399" cy="4001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ore-KR" sz="1000" kern="100" dirty="0"/>
              <a:t>Q: </a:t>
            </a:r>
            <a:r>
              <a:rPr lang="en-US" altLang="ko-Kore-KR" sz="1000" kern="100" dirty="0">
                <a:effectLst/>
              </a:rPr>
              <a:t>TIGER </a:t>
            </a:r>
            <a:r>
              <a:rPr lang="ko-KR" altLang="ko-Kore-KR" sz="1000" kern="100" dirty="0">
                <a:effectLst/>
              </a:rPr>
              <a:t>배당성장</a:t>
            </a:r>
            <a:r>
              <a:rPr lang="ko-KR" altLang="en-US" sz="10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의</a:t>
            </a:r>
            <a:endParaRPr kumimoji="1" lang="en-US" altLang="ko-KR" sz="1000" dirty="0"/>
          </a:p>
          <a:p>
            <a:r>
              <a:rPr kumimoji="1" lang="ko-KR" altLang="en-US" sz="1000" dirty="0"/>
              <a:t>투자 포인트는 어떻게 돼</a:t>
            </a:r>
            <a:r>
              <a:rPr kumimoji="1" lang="en-US" altLang="ko-KR" sz="1000" dirty="0"/>
              <a:t>?</a:t>
            </a:r>
            <a:endParaRPr kumimoji="1" lang="ko-Kore-KR" altLang="en-US" sz="1000" dirty="0"/>
          </a:p>
        </p:txBody>
      </p:sp>
      <p:pic>
        <p:nvPicPr>
          <p:cNvPr id="4104" name="Picture 8" descr="Pdf - 무료 파일 및 폴더개 아이콘">
            <a:extLst>
              <a:ext uri="{FF2B5EF4-FFF2-40B4-BE49-F238E27FC236}">
                <a16:creationId xmlns:a16="http://schemas.microsoft.com/office/drawing/2014/main" id="{E1A85217-CE7F-0BAD-B1C3-E22147C471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154" y="2177364"/>
            <a:ext cx="508165" cy="508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5" name="Picture 9" descr="Pdf - 무료 파일 및 폴더개 아이콘">
            <a:extLst>
              <a:ext uri="{FF2B5EF4-FFF2-40B4-BE49-F238E27FC236}">
                <a16:creationId xmlns:a16="http://schemas.microsoft.com/office/drawing/2014/main" id="{4D2CFCE7-62E4-07E9-B53D-91AA91350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1375" y="-3116263"/>
            <a:ext cx="6502400" cy="6502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빅 데이터 - 무료 컴퓨터개 아이콘">
            <a:extLst>
              <a:ext uri="{FF2B5EF4-FFF2-40B4-BE49-F238E27FC236}">
                <a16:creationId xmlns:a16="http://schemas.microsoft.com/office/drawing/2014/main" id="{9FBB677A-746C-FAB7-48BF-5B38B701F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53563" y="-3116263"/>
            <a:ext cx="6502400" cy="6502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빅 데이터 - 무료 컴퓨터개 아이콘">
            <a:extLst>
              <a:ext uri="{FF2B5EF4-FFF2-40B4-BE49-F238E27FC236}">
                <a16:creationId xmlns:a16="http://schemas.microsoft.com/office/drawing/2014/main" id="{0FF46E01-6867-D808-9AFE-F7EEF1FA2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607" y="2164596"/>
            <a:ext cx="508165" cy="508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8" descr="Pdf - 무료 파일 및 폴더개 아이콘">
            <a:extLst>
              <a:ext uri="{FF2B5EF4-FFF2-40B4-BE49-F238E27FC236}">
                <a16:creationId xmlns:a16="http://schemas.microsoft.com/office/drawing/2014/main" id="{8FE84C58-BF06-FB9F-916C-064DC2D1C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449" y="2401573"/>
            <a:ext cx="508165" cy="508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2B135DF9-1495-F083-19C7-70CE4847A509}"/>
              </a:ext>
            </a:extLst>
          </p:cNvPr>
          <p:cNvCxnSpPr/>
          <p:nvPr/>
        </p:nvCxnSpPr>
        <p:spPr>
          <a:xfrm>
            <a:off x="1937706" y="3307642"/>
            <a:ext cx="6086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6261296B-45C2-EFFC-2111-6B09E88508E4}"/>
              </a:ext>
            </a:extLst>
          </p:cNvPr>
          <p:cNvCxnSpPr/>
          <p:nvPr/>
        </p:nvCxnSpPr>
        <p:spPr>
          <a:xfrm>
            <a:off x="3599000" y="3307642"/>
            <a:ext cx="6086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7EA414E0-3178-F7A9-6B1F-3A90FF53CC9C}"/>
              </a:ext>
            </a:extLst>
          </p:cNvPr>
          <p:cNvCxnSpPr>
            <a:cxnSpLocks/>
          </p:cNvCxnSpPr>
          <p:nvPr/>
        </p:nvCxnSpPr>
        <p:spPr>
          <a:xfrm>
            <a:off x="5298621" y="3307642"/>
            <a:ext cx="8847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0A1E5AED-4A59-9965-232F-1F03AE338C5A}"/>
              </a:ext>
            </a:extLst>
          </p:cNvPr>
          <p:cNvCxnSpPr/>
          <p:nvPr/>
        </p:nvCxnSpPr>
        <p:spPr>
          <a:xfrm>
            <a:off x="7014171" y="3247199"/>
            <a:ext cx="6086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82B1A68-60E1-4324-CC9A-6A76E4D7E374}"/>
              </a:ext>
            </a:extLst>
          </p:cNvPr>
          <p:cNvSpPr txBox="1"/>
          <p:nvPr/>
        </p:nvSpPr>
        <p:spPr>
          <a:xfrm>
            <a:off x="2805345" y="2283614"/>
            <a:ext cx="997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/>
              <a:t>데이터 가공</a:t>
            </a:r>
            <a:endParaRPr kumimoji="1" lang="ko-Kore-KR" altLang="en-US" sz="1200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714A67A-0019-C0EA-ED96-6167D0470EB7}"/>
              </a:ext>
            </a:extLst>
          </p:cNvPr>
          <p:cNvSpPr/>
          <p:nvPr/>
        </p:nvSpPr>
        <p:spPr>
          <a:xfrm>
            <a:off x="2602423" y="3079705"/>
            <a:ext cx="954820" cy="525056"/>
          </a:xfrm>
          <a:prstGeom prst="rect">
            <a:avLst/>
          </a:prstGeom>
          <a:solidFill>
            <a:srgbClr val="FF6A86">
              <a:alpha val="50196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200" dirty="0">
                <a:solidFill>
                  <a:schemeClr val="tx1"/>
                </a:solidFill>
              </a:rPr>
              <a:t>Embedding</a:t>
            </a:r>
          </a:p>
          <a:p>
            <a:pPr algn="ctr"/>
            <a:r>
              <a:rPr kumimoji="1" lang="en-US" altLang="ko-Kore-KR" sz="1200" dirty="0">
                <a:solidFill>
                  <a:schemeClr val="tx1"/>
                </a:solidFill>
              </a:rPr>
              <a:t>Model</a:t>
            </a:r>
            <a:endParaRPr kumimoji="1" lang="ko-Kore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3C73CC56-8A8D-C25C-C019-B5B792C2BF8C}"/>
              </a:ext>
            </a:extLst>
          </p:cNvPr>
          <p:cNvCxnSpPr>
            <a:cxnSpLocks/>
          </p:cNvCxnSpPr>
          <p:nvPr/>
        </p:nvCxnSpPr>
        <p:spPr>
          <a:xfrm>
            <a:off x="4563065" y="2823141"/>
            <a:ext cx="220265" cy="239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12BC2D1E-16B8-4A33-9D80-4AFAEACF83E3}"/>
              </a:ext>
            </a:extLst>
          </p:cNvPr>
          <p:cNvCxnSpPr>
            <a:cxnSpLocks/>
          </p:cNvCxnSpPr>
          <p:nvPr/>
        </p:nvCxnSpPr>
        <p:spPr>
          <a:xfrm>
            <a:off x="2751490" y="2560613"/>
            <a:ext cx="12436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F6C03B3-7E84-AE17-D339-12432E3C9FE9}"/>
              </a:ext>
            </a:extLst>
          </p:cNvPr>
          <p:cNvSpPr/>
          <p:nvPr/>
        </p:nvSpPr>
        <p:spPr>
          <a:xfrm>
            <a:off x="4045285" y="2276854"/>
            <a:ext cx="954820" cy="525056"/>
          </a:xfrm>
          <a:prstGeom prst="rect">
            <a:avLst/>
          </a:prstGeom>
          <a:solidFill>
            <a:srgbClr val="FF6A86">
              <a:alpha val="50196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200" dirty="0">
                <a:solidFill>
                  <a:schemeClr val="tx1"/>
                </a:solidFill>
              </a:rPr>
              <a:t>Embedding</a:t>
            </a:r>
          </a:p>
          <a:p>
            <a:pPr algn="ctr"/>
            <a:r>
              <a:rPr kumimoji="1" lang="en-US" altLang="ko-Kore-KR" sz="1200" dirty="0">
                <a:solidFill>
                  <a:schemeClr val="tx1"/>
                </a:solidFill>
              </a:rPr>
              <a:t>Model</a:t>
            </a:r>
            <a:endParaRPr kumimoji="1" lang="ko-Kore-KR" altLang="en-US" sz="1200" dirty="0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EDEED11-B576-F011-9801-956B8BF3DD09}"/>
              </a:ext>
            </a:extLst>
          </p:cNvPr>
          <p:cNvSpPr txBox="1"/>
          <p:nvPr/>
        </p:nvSpPr>
        <p:spPr>
          <a:xfrm>
            <a:off x="1771403" y="1929912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1200" dirty="0"/>
              <a:t>외부</a:t>
            </a:r>
            <a:r>
              <a:rPr kumimoji="1" lang="ko-KR" altLang="en-US" sz="1200" dirty="0"/>
              <a:t> 지식</a:t>
            </a:r>
            <a:endParaRPr kumimoji="1" lang="ko-Kore-KR" altLang="en-US" sz="1200" dirty="0"/>
          </a:p>
        </p:txBody>
      </p:sp>
      <p:sp>
        <p:nvSpPr>
          <p:cNvPr id="55" name="모서리가 둥근 직사각형 54">
            <a:extLst>
              <a:ext uri="{FF2B5EF4-FFF2-40B4-BE49-F238E27FC236}">
                <a16:creationId xmlns:a16="http://schemas.microsoft.com/office/drawing/2014/main" id="{4498313D-EE52-B84D-0DEC-BF9FCC305815}"/>
              </a:ext>
            </a:extLst>
          </p:cNvPr>
          <p:cNvSpPr/>
          <p:nvPr/>
        </p:nvSpPr>
        <p:spPr>
          <a:xfrm>
            <a:off x="6190378" y="3448297"/>
            <a:ext cx="861698" cy="176124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000" dirty="0"/>
              <a:t>QA</a:t>
            </a:r>
            <a:r>
              <a:rPr kumimoji="1" lang="ko-Kore-KR" altLang="en-US" sz="1000" dirty="0"/>
              <a:t>용</a:t>
            </a:r>
            <a:r>
              <a:rPr kumimoji="1" lang="ko-KR" altLang="en-US" sz="1000" dirty="0"/>
              <a:t> </a:t>
            </a:r>
            <a:r>
              <a:rPr kumimoji="1" lang="en-US" altLang="ko-KR" sz="1000" dirty="0"/>
              <a:t>LLM</a:t>
            </a:r>
            <a:endParaRPr kumimoji="1" lang="ko-Kore-KR" altLang="en-US" sz="1000" dirty="0"/>
          </a:p>
        </p:txBody>
      </p:sp>
      <p:pic>
        <p:nvPicPr>
          <p:cNvPr id="56" name="Picture 2" descr="로봇 단색으로 채워진">
            <a:extLst>
              <a:ext uri="{FF2B5EF4-FFF2-40B4-BE49-F238E27FC236}">
                <a16:creationId xmlns:a16="http://schemas.microsoft.com/office/drawing/2014/main" id="{BB50A766-D770-F8FF-BFE5-9B5D63726A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4600" y="2738226"/>
            <a:ext cx="682957" cy="682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모서리가 둥근 직사각형 60">
            <a:extLst>
              <a:ext uri="{FF2B5EF4-FFF2-40B4-BE49-F238E27FC236}">
                <a16:creationId xmlns:a16="http://schemas.microsoft.com/office/drawing/2014/main" id="{843F9C17-2EB4-A939-79B7-3A180B074248}"/>
              </a:ext>
            </a:extLst>
          </p:cNvPr>
          <p:cNvSpPr/>
          <p:nvPr/>
        </p:nvSpPr>
        <p:spPr>
          <a:xfrm>
            <a:off x="229041" y="4705742"/>
            <a:ext cx="1180928" cy="176124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000" dirty="0"/>
              <a:t>RAG </a:t>
            </a:r>
            <a:r>
              <a:rPr kumimoji="1" lang="ko-KR" altLang="en-US" sz="1000" dirty="0"/>
              <a:t>평가</a:t>
            </a:r>
            <a:r>
              <a:rPr kumimoji="1" lang="ko-Kore-KR" altLang="en-US" sz="1000" dirty="0"/>
              <a:t>용</a:t>
            </a:r>
            <a:r>
              <a:rPr kumimoji="1" lang="ko-KR" altLang="en-US" sz="1000" dirty="0"/>
              <a:t> </a:t>
            </a:r>
            <a:r>
              <a:rPr kumimoji="1" lang="en-US" altLang="ko-KR" sz="1000" dirty="0"/>
              <a:t>LLM</a:t>
            </a:r>
            <a:endParaRPr kumimoji="1" lang="ko-Kore-KR" altLang="en-US" sz="10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BD298D-C436-B7DE-78BC-16DC8B80D20D}"/>
              </a:ext>
            </a:extLst>
          </p:cNvPr>
          <p:cNvSpPr/>
          <p:nvPr/>
        </p:nvSpPr>
        <p:spPr>
          <a:xfrm>
            <a:off x="153676" y="3929097"/>
            <a:ext cx="5408896" cy="1051117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88444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C4A9555B-6427-1AB0-5F8C-4E1FEB3076D6}"/>
              </a:ext>
            </a:extLst>
          </p:cNvPr>
          <p:cNvSpPr/>
          <p:nvPr/>
        </p:nvSpPr>
        <p:spPr>
          <a:xfrm>
            <a:off x="4564891" y="1227730"/>
            <a:ext cx="4050112" cy="304271"/>
          </a:xfrm>
          <a:custGeom>
            <a:avLst/>
            <a:gdLst/>
            <a:ahLst/>
            <a:cxnLst/>
            <a:rect l="l" t="t" r="r" b="b"/>
            <a:pathLst>
              <a:path w="1742067" h="481466">
                <a:moveTo>
                  <a:pt x="35114" y="0"/>
                </a:moveTo>
                <a:lnTo>
                  <a:pt x="1706953" y="0"/>
                </a:lnTo>
                <a:cubicBezTo>
                  <a:pt x="1716266" y="0"/>
                  <a:pt x="1725197" y="3699"/>
                  <a:pt x="1731782" y="10285"/>
                </a:cubicBezTo>
                <a:cubicBezTo>
                  <a:pt x="1738368" y="16870"/>
                  <a:pt x="1742067" y="25801"/>
                  <a:pt x="1742067" y="35114"/>
                </a:cubicBezTo>
                <a:lnTo>
                  <a:pt x="1742067" y="446352"/>
                </a:lnTo>
                <a:cubicBezTo>
                  <a:pt x="1742067" y="455665"/>
                  <a:pt x="1738368" y="464596"/>
                  <a:pt x="1731782" y="471181"/>
                </a:cubicBezTo>
                <a:cubicBezTo>
                  <a:pt x="1725197" y="477766"/>
                  <a:pt x="1716266" y="481466"/>
                  <a:pt x="1706953" y="481466"/>
                </a:cubicBezTo>
                <a:lnTo>
                  <a:pt x="35114" y="481466"/>
                </a:lnTo>
                <a:cubicBezTo>
                  <a:pt x="25801" y="481466"/>
                  <a:pt x="16870" y="477766"/>
                  <a:pt x="10285" y="471181"/>
                </a:cubicBezTo>
                <a:cubicBezTo>
                  <a:pt x="3699" y="464596"/>
                  <a:pt x="0" y="455665"/>
                  <a:pt x="0" y="446352"/>
                </a:cubicBezTo>
                <a:lnTo>
                  <a:pt x="0" y="35114"/>
                </a:lnTo>
                <a:cubicBezTo>
                  <a:pt x="0" y="25801"/>
                  <a:pt x="3699" y="16870"/>
                  <a:pt x="10285" y="10285"/>
                </a:cubicBezTo>
                <a:cubicBezTo>
                  <a:pt x="16870" y="3699"/>
                  <a:pt x="25801" y="0"/>
                  <a:pt x="3511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kumimoji="1" lang="en-US" altLang="ko-KR" sz="1200" b="1" dirty="0"/>
              <a:t>2. </a:t>
            </a:r>
            <a:r>
              <a:rPr kumimoji="1" lang="ko-KR" altLang="en-US" sz="1200" b="1" dirty="0"/>
              <a:t>현재까지의 고객 금융 지식 수준 수준을 통해 답변 가공</a:t>
            </a:r>
            <a:endParaRPr kumimoji="1" lang="ko-Kore-KR" altLang="en-US" sz="1200" b="1" dirty="0"/>
          </a:p>
        </p:txBody>
      </p:sp>
      <p:sp>
        <p:nvSpPr>
          <p:cNvPr id="2" name="Freeform 3">
            <a:extLst>
              <a:ext uri="{FF2B5EF4-FFF2-40B4-BE49-F238E27FC236}">
                <a16:creationId xmlns:a16="http://schemas.microsoft.com/office/drawing/2014/main" id="{ADCC544C-B1D1-537B-6D18-7686E9F52345}"/>
              </a:ext>
            </a:extLst>
          </p:cNvPr>
          <p:cNvSpPr/>
          <p:nvPr/>
        </p:nvSpPr>
        <p:spPr>
          <a:xfrm>
            <a:off x="212242" y="1272570"/>
            <a:ext cx="3263985" cy="304271"/>
          </a:xfrm>
          <a:custGeom>
            <a:avLst/>
            <a:gdLst/>
            <a:ahLst/>
            <a:cxnLst/>
            <a:rect l="l" t="t" r="r" b="b"/>
            <a:pathLst>
              <a:path w="1742067" h="481466">
                <a:moveTo>
                  <a:pt x="35114" y="0"/>
                </a:moveTo>
                <a:lnTo>
                  <a:pt x="1706953" y="0"/>
                </a:lnTo>
                <a:cubicBezTo>
                  <a:pt x="1716266" y="0"/>
                  <a:pt x="1725197" y="3699"/>
                  <a:pt x="1731782" y="10285"/>
                </a:cubicBezTo>
                <a:cubicBezTo>
                  <a:pt x="1738368" y="16870"/>
                  <a:pt x="1742067" y="25801"/>
                  <a:pt x="1742067" y="35114"/>
                </a:cubicBezTo>
                <a:lnTo>
                  <a:pt x="1742067" y="446352"/>
                </a:lnTo>
                <a:cubicBezTo>
                  <a:pt x="1742067" y="455665"/>
                  <a:pt x="1738368" y="464596"/>
                  <a:pt x="1731782" y="471181"/>
                </a:cubicBezTo>
                <a:cubicBezTo>
                  <a:pt x="1725197" y="477766"/>
                  <a:pt x="1716266" y="481466"/>
                  <a:pt x="1706953" y="481466"/>
                </a:cubicBezTo>
                <a:lnTo>
                  <a:pt x="35114" y="481466"/>
                </a:lnTo>
                <a:cubicBezTo>
                  <a:pt x="25801" y="481466"/>
                  <a:pt x="16870" y="477766"/>
                  <a:pt x="10285" y="471181"/>
                </a:cubicBezTo>
                <a:cubicBezTo>
                  <a:pt x="3699" y="464596"/>
                  <a:pt x="0" y="455665"/>
                  <a:pt x="0" y="446352"/>
                </a:cubicBezTo>
                <a:lnTo>
                  <a:pt x="0" y="35114"/>
                </a:lnTo>
                <a:cubicBezTo>
                  <a:pt x="0" y="25801"/>
                  <a:pt x="3699" y="16870"/>
                  <a:pt x="10285" y="10285"/>
                </a:cubicBezTo>
                <a:cubicBezTo>
                  <a:pt x="16870" y="3699"/>
                  <a:pt x="25801" y="0"/>
                  <a:pt x="3511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kumimoji="1" lang="en-US" altLang="ko-Kore-KR" sz="1200" b="1" dirty="0"/>
              <a:t>1. </a:t>
            </a:r>
            <a:r>
              <a:rPr kumimoji="1" lang="ko-Kore-KR" altLang="en-US" sz="1200" b="1" dirty="0"/>
              <a:t>질문을</a:t>
            </a:r>
            <a:r>
              <a:rPr kumimoji="1" lang="ko-KR" altLang="en-US" sz="1200" b="1" dirty="0"/>
              <a:t> 통해 사용자의 금융 지식 수준 평가</a:t>
            </a:r>
            <a:endParaRPr kumimoji="1" lang="ko-Kore-KR" altLang="en-US" sz="1200" b="1" dirty="0"/>
          </a:p>
        </p:txBody>
      </p:sp>
      <p:sp>
        <p:nvSpPr>
          <p:cNvPr id="4" name="Google Shape;444;p41">
            <a:extLst>
              <a:ext uri="{FF2B5EF4-FFF2-40B4-BE49-F238E27FC236}">
                <a16:creationId xmlns:a16="http://schemas.microsoft.com/office/drawing/2014/main" id="{3ABF8552-92EA-D001-DFED-33D925C1A19D}"/>
              </a:ext>
            </a:extLst>
          </p:cNvPr>
          <p:cNvSpPr txBox="1"/>
          <p:nvPr/>
        </p:nvSpPr>
        <p:spPr>
          <a:xfrm>
            <a:off x="221324" y="129109"/>
            <a:ext cx="409758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LLM Flow</a:t>
            </a:r>
            <a:r>
              <a:rPr lang="en-US" altLang="ko-KR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ko-KR" altLang="en-US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 고객 등급 분류용 </a:t>
            </a:r>
            <a:r>
              <a:rPr lang="en-US" altLang="ko-KR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sz="7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C95547D-D422-11A1-2A1B-AC3A309DC577}"/>
              </a:ext>
            </a:extLst>
          </p:cNvPr>
          <p:cNvSpPr txBox="1"/>
          <p:nvPr/>
        </p:nvSpPr>
        <p:spPr>
          <a:xfrm>
            <a:off x="2007833" y="4004615"/>
            <a:ext cx="9172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Newcomer</a:t>
            </a:r>
            <a:endParaRPr kumimoji="1" lang="ko-Kore-KR" altLang="en-US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A0D899-77DB-DB97-C8EF-1952E135CD10}"/>
              </a:ext>
            </a:extLst>
          </p:cNvPr>
          <p:cNvSpPr txBox="1"/>
          <p:nvPr/>
        </p:nvSpPr>
        <p:spPr>
          <a:xfrm>
            <a:off x="6152019" y="2485880"/>
            <a:ext cx="20072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/>
              <a:t>질문에 따른 일반적인 답변</a:t>
            </a:r>
            <a:endParaRPr kumimoji="1" lang="ko-Kore-KR" altLang="en-US" sz="1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6AD693-DB2A-3C9D-CE8E-9038915F1E0C}"/>
              </a:ext>
            </a:extLst>
          </p:cNvPr>
          <p:cNvSpPr txBox="1"/>
          <p:nvPr/>
        </p:nvSpPr>
        <p:spPr>
          <a:xfrm>
            <a:off x="5776000" y="4712902"/>
            <a:ext cx="27831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/>
              <a:t>Newcomer</a:t>
            </a:r>
            <a:r>
              <a:rPr kumimoji="1" lang="ko-KR" altLang="en-US" sz="1200" dirty="0"/>
              <a:t>의 수준에 맞춘 가공된 답변</a:t>
            </a:r>
            <a:endParaRPr kumimoji="1" lang="ko-Kore-KR" altLang="en-US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A401817-BF95-8882-00C8-71C35719D22B}"/>
              </a:ext>
            </a:extLst>
          </p:cNvPr>
          <p:cNvSpPr txBox="1"/>
          <p:nvPr/>
        </p:nvSpPr>
        <p:spPr>
          <a:xfrm>
            <a:off x="4612174" y="1603705"/>
            <a:ext cx="30796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200" dirty="0"/>
              <a:t>고객의 누적된 금융 지식 수준 비율 고려</a:t>
            </a:r>
            <a:endParaRPr kumimoji="1" lang="en-US" altLang="ko-KR" sz="1200" dirty="0"/>
          </a:p>
        </p:txBody>
      </p:sp>
      <p:pic>
        <p:nvPicPr>
          <p:cNvPr id="45" name="Picture 4" descr="로봇 단색으로 채워진">
            <a:extLst>
              <a:ext uri="{FF2B5EF4-FFF2-40B4-BE49-F238E27FC236}">
                <a16:creationId xmlns:a16="http://schemas.microsoft.com/office/drawing/2014/main" id="{79E84D7C-0BB5-8BA2-5C12-FFE83843D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205" y="2883385"/>
            <a:ext cx="682957" cy="682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CF97A50F-78E6-FFB1-CA15-0B780502A195}"/>
              </a:ext>
            </a:extLst>
          </p:cNvPr>
          <p:cNvSpPr txBox="1"/>
          <p:nvPr/>
        </p:nvSpPr>
        <p:spPr>
          <a:xfrm>
            <a:off x="1428049" y="2474655"/>
            <a:ext cx="21371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/>
              <a:t>질문</a:t>
            </a:r>
            <a:r>
              <a:rPr kumimoji="1" lang="en-US" altLang="ko-KR" sz="1200" dirty="0"/>
              <a:t>:</a:t>
            </a:r>
            <a:r>
              <a:rPr kumimoji="1" lang="ko-KR" altLang="en-US" sz="1200" dirty="0"/>
              <a:t> </a:t>
            </a:r>
            <a:r>
              <a:rPr kumimoji="1" lang="en-US" altLang="ko-Kore-KR" sz="1200" dirty="0"/>
              <a:t>“ETF</a:t>
            </a:r>
            <a:r>
              <a:rPr kumimoji="1" lang="ko-KR" altLang="en-US" sz="1200" dirty="0" err="1"/>
              <a:t>에</a:t>
            </a:r>
            <a:r>
              <a:rPr kumimoji="1" lang="ko-KR" altLang="en-US" sz="1200" dirty="0"/>
              <a:t> 대해 설명해줘</a:t>
            </a:r>
            <a:r>
              <a:rPr kumimoji="1" lang="en-US" altLang="ko-KR" sz="1200" dirty="0"/>
              <a:t>”</a:t>
            </a:r>
            <a:endParaRPr kumimoji="1" lang="ko-Kore-KR" altLang="en-US" sz="1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3BDD09-A75D-0F56-BAF5-2BE07890CA94}"/>
              </a:ext>
            </a:extLst>
          </p:cNvPr>
          <p:cNvSpPr txBox="1"/>
          <p:nvPr/>
        </p:nvSpPr>
        <p:spPr>
          <a:xfrm>
            <a:off x="1352280" y="3142339"/>
            <a:ext cx="2592341" cy="507831"/>
          </a:xfrm>
          <a:prstGeom prst="rect">
            <a:avLst/>
          </a:prstGeom>
          <a:noFill/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9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현재 고객의 질문을 통해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ko-KR" altLang="en-US" sz="9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고객의 금융 지식 수준을 다음 중 하나로 분류하세요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altLang="ko-KR" sz="9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ko-Kore-KR" sz="9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Newcomer, Learner, Investigator]</a:t>
            </a:r>
            <a:endParaRPr lang="en" altLang="ko-Kore-KR" sz="9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pic>
        <p:nvPicPr>
          <p:cNvPr id="48" name="Picture 4" descr="로봇 단색으로 채워진">
            <a:extLst>
              <a:ext uri="{FF2B5EF4-FFF2-40B4-BE49-F238E27FC236}">
                <a16:creationId xmlns:a16="http://schemas.microsoft.com/office/drawing/2014/main" id="{895B5973-B2D8-A780-830F-D90577583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242" y="3394254"/>
            <a:ext cx="682957" cy="682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2" descr="로봇 단색으로 채워진">
            <a:extLst>
              <a:ext uri="{FF2B5EF4-FFF2-40B4-BE49-F238E27FC236}">
                <a16:creationId xmlns:a16="http://schemas.microsoft.com/office/drawing/2014/main" id="{E5126F7D-ADC7-B02A-FA71-73D817D6B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746" y="2200428"/>
            <a:ext cx="682957" cy="682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FF7ACAB8-3DBA-BAC3-B907-C62579EA4E5D}"/>
              </a:ext>
            </a:extLst>
          </p:cNvPr>
          <p:cNvSpPr/>
          <p:nvPr/>
        </p:nvSpPr>
        <p:spPr>
          <a:xfrm>
            <a:off x="5293189" y="2867082"/>
            <a:ext cx="682957" cy="216136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800" dirty="0"/>
              <a:t>QA</a:t>
            </a:r>
            <a:r>
              <a:rPr kumimoji="1" lang="ko-Kore-KR" altLang="en-US" sz="800" dirty="0"/>
              <a:t>용</a:t>
            </a:r>
            <a:r>
              <a:rPr kumimoji="1" lang="ko-KR" altLang="en-US" sz="800" dirty="0"/>
              <a:t> </a:t>
            </a:r>
            <a:r>
              <a:rPr kumimoji="1" lang="en-US" altLang="ko-KR" sz="800" dirty="0"/>
              <a:t>LLM</a:t>
            </a:r>
            <a:endParaRPr kumimoji="1" lang="ko-Kore-KR" altLang="en-US" sz="800" dirty="0"/>
          </a:p>
        </p:txBody>
      </p: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DB21C3E5-A094-BB7C-F703-5AF0FFF7E78E}"/>
              </a:ext>
            </a:extLst>
          </p:cNvPr>
          <p:cNvSpPr/>
          <p:nvPr/>
        </p:nvSpPr>
        <p:spPr>
          <a:xfrm>
            <a:off x="507441" y="3566342"/>
            <a:ext cx="763269" cy="27699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800" dirty="0"/>
              <a:t>고객</a:t>
            </a:r>
            <a:r>
              <a:rPr kumimoji="1" lang="ko-KR" altLang="en-US" sz="800" dirty="0"/>
              <a:t> 등급 분류용 </a:t>
            </a:r>
            <a:r>
              <a:rPr kumimoji="1" lang="en-US" altLang="ko-KR" sz="800" dirty="0"/>
              <a:t>LLM</a:t>
            </a:r>
            <a:endParaRPr kumimoji="1" lang="ko-Kore-KR" altLang="en-US" sz="800" dirty="0"/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668B341C-C50B-78E3-8BCB-82718198FE6E}"/>
              </a:ext>
            </a:extLst>
          </p:cNvPr>
          <p:cNvSpPr/>
          <p:nvPr/>
        </p:nvSpPr>
        <p:spPr>
          <a:xfrm>
            <a:off x="4924913" y="4075091"/>
            <a:ext cx="790488" cy="27699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800" dirty="0"/>
              <a:t>고객</a:t>
            </a:r>
            <a:r>
              <a:rPr kumimoji="1" lang="ko-KR" altLang="en-US" sz="800" dirty="0"/>
              <a:t> 등급 분류용 </a:t>
            </a:r>
            <a:r>
              <a:rPr kumimoji="1" lang="en-US" altLang="ko-KR" sz="800" dirty="0"/>
              <a:t>LLM</a:t>
            </a:r>
            <a:endParaRPr kumimoji="1" lang="ko-Kore-KR" altLang="en-US" sz="8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260F648-F3C6-5DB1-7B75-F0AFFAE75611}"/>
              </a:ext>
            </a:extLst>
          </p:cNvPr>
          <p:cNvSpPr txBox="1"/>
          <p:nvPr/>
        </p:nvSpPr>
        <p:spPr>
          <a:xfrm>
            <a:off x="5807430" y="3426706"/>
            <a:ext cx="3110470" cy="969496"/>
          </a:xfrm>
          <a:prstGeom prst="rect">
            <a:avLst/>
          </a:prstGeom>
          <a:noFill/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9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이전까지 고객의 금융 지식 수준 비율은 다음과 같습니다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{{</a:t>
            </a:r>
            <a:r>
              <a:rPr lang="en" altLang="ko-Kore-KR" sz="9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level_percentage</a:t>
            </a:r>
            <a:r>
              <a:rPr lang="en" altLang="ko-Kore-KR" sz="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}}</a:t>
            </a:r>
          </a:p>
          <a:p>
            <a:endParaRPr lang="en" altLang="ko-Kore-KR" sz="3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ko-KR" altLang="en-US" sz="9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현재 고객의 금융 지식 수준과 이전까지 고객의 금융 지식 수준의 비율을 모두 반영해서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, </a:t>
            </a:r>
            <a:endParaRPr lang="ko-KR" altLang="en-US" sz="9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ko-KR" altLang="en-US" sz="9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고객 질문에 대한 고객의 금융 지식 수준에 맞는 자세한 가공된 답변을 알려주세요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.</a:t>
            </a:r>
            <a:endParaRPr lang="ko-KR" altLang="en-US" sz="9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4B5419-E3BF-D534-1022-EE8F2874A61D}"/>
              </a:ext>
            </a:extLst>
          </p:cNvPr>
          <p:cNvSpPr txBox="1"/>
          <p:nvPr/>
        </p:nvSpPr>
        <p:spPr>
          <a:xfrm>
            <a:off x="293664" y="613058"/>
            <a:ext cx="26196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ko-Kore-KR" sz="1200" dirty="0"/>
              <a:t>In Context Learning (1-shot)</a:t>
            </a:r>
            <a:r>
              <a:rPr kumimoji="1" lang="ko-KR" altLang="en-US" sz="1200" dirty="0"/>
              <a:t> 활용</a:t>
            </a:r>
            <a:endParaRPr kumimoji="1" lang="ko-Kore-KR" altLang="en-US" sz="12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83DB9EB-E79A-CA1F-A54B-DDF452F1ABFF}"/>
              </a:ext>
            </a:extLst>
          </p:cNvPr>
          <p:cNvSpPr txBox="1"/>
          <p:nvPr/>
        </p:nvSpPr>
        <p:spPr>
          <a:xfrm>
            <a:off x="275631" y="1627015"/>
            <a:ext cx="4296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ko-Kore-KR" sz="1200" dirty="0"/>
              <a:t>Newcomer, Learner, Investigator</a:t>
            </a:r>
            <a:r>
              <a:rPr kumimoji="1" lang="ko-KR" altLang="en-US" sz="1200" dirty="0"/>
              <a:t>의 질문 특징</a:t>
            </a:r>
            <a:r>
              <a:rPr kumimoji="1" lang="en-US" altLang="ko-KR" sz="1200" dirty="0"/>
              <a:t>,</a:t>
            </a:r>
            <a:r>
              <a:rPr kumimoji="1" lang="ko-KR" altLang="en-US" sz="1200" dirty="0"/>
              <a:t> 예시 적용</a:t>
            </a:r>
            <a:endParaRPr kumimoji="1" lang="ko-Kore-KR" altLang="en-US" sz="1200" dirty="0"/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FAECBDC7-A507-06C0-CA97-571D39A3E415}"/>
              </a:ext>
            </a:extLst>
          </p:cNvPr>
          <p:cNvCxnSpPr>
            <a:cxnSpLocks/>
          </p:cNvCxnSpPr>
          <p:nvPr/>
        </p:nvCxnSpPr>
        <p:spPr>
          <a:xfrm>
            <a:off x="2497160" y="2826420"/>
            <a:ext cx="0" cy="298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28435EDD-58F3-025C-F76A-972D12BBF195}"/>
              </a:ext>
            </a:extLst>
          </p:cNvPr>
          <p:cNvCxnSpPr>
            <a:cxnSpLocks/>
          </p:cNvCxnSpPr>
          <p:nvPr/>
        </p:nvCxnSpPr>
        <p:spPr>
          <a:xfrm>
            <a:off x="2496611" y="3710535"/>
            <a:ext cx="0" cy="277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5241A2E5-CBED-02D5-B815-03D6854BCB94}"/>
              </a:ext>
            </a:extLst>
          </p:cNvPr>
          <p:cNvCxnSpPr>
            <a:cxnSpLocks/>
          </p:cNvCxnSpPr>
          <p:nvPr/>
        </p:nvCxnSpPr>
        <p:spPr>
          <a:xfrm>
            <a:off x="7155660" y="2826420"/>
            <a:ext cx="0" cy="5541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68838712-9BF8-A258-B45F-5C78B169F56F}"/>
              </a:ext>
            </a:extLst>
          </p:cNvPr>
          <p:cNvCxnSpPr>
            <a:cxnSpLocks/>
          </p:cNvCxnSpPr>
          <p:nvPr/>
        </p:nvCxnSpPr>
        <p:spPr>
          <a:xfrm>
            <a:off x="7167567" y="4442349"/>
            <a:ext cx="0" cy="261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직선 연결선[R] 68">
            <a:extLst>
              <a:ext uri="{FF2B5EF4-FFF2-40B4-BE49-F238E27FC236}">
                <a16:creationId xmlns:a16="http://schemas.microsoft.com/office/drawing/2014/main" id="{D1481BD8-85B6-45D3-270F-6B95B94083FC}"/>
              </a:ext>
            </a:extLst>
          </p:cNvPr>
          <p:cNvCxnSpPr>
            <a:cxnSpLocks/>
          </p:cNvCxnSpPr>
          <p:nvPr/>
        </p:nvCxnSpPr>
        <p:spPr>
          <a:xfrm flipV="1">
            <a:off x="154523" y="1991962"/>
            <a:ext cx="8763377" cy="6543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217FD13B-6772-86BF-8AB8-5579E6908AC9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3565173" y="2613155"/>
            <a:ext cx="14692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EECA12D0-21D0-FBCF-C282-6D9965F096FE}"/>
              </a:ext>
            </a:extLst>
          </p:cNvPr>
          <p:cNvCxnSpPr>
            <a:cxnSpLocks/>
          </p:cNvCxnSpPr>
          <p:nvPr/>
        </p:nvCxnSpPr>
        <p:spPr>
          <a:xfrm flipV="1">
            <a:off x="3012043" y="4063645"/>
            <a:ext cx="1807952" cy="4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직선 연결선[R] 83">
            <a:extLst>
              <a:ext uri="{FF2B5EF4-FFF2-40B4-BE49-F238E27FC236}">
                <a16:creationId xmlns:a16="http://schemas.microsoft.com/office/drawing/2014/main" id="{FED02B32-4BB6-D214-09B5-7EA5AF89A213}"/>
              </a:ext>
            </a:extLst>
          </p:cNvPr>
          <p:cNvCxnSpPr>
            <a:cxnSpLocks/>
          </p:cNvCxnSpPr>
          <p:nvPr/>
        </p:nvCxnSpPr>
        <p:spPr>
          <a:xfrm>
            <a:off x="4489499" y="1114213"/>
            <a:ext cx="0" cy="394589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3F7178A-AD87-0F44-6BEC-13A00002AC46}"/>
              </a:ext>
            </a:extLst>
          </p:cNvPr>
          <p:cNvSpPr txBox="1"/>
          <p:nvPr/>
        </p:nvSpPr>
        <p:spPr>
          <a:xfrm>
            <a:off x="1274174" y="2963302"/>
            <a:ext cx="9605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dirty="0"/>
              <a:t>프롬프트</a:t>
            </a:r>
            <a:r>
              <a:rPr kumimoji="1" lang="ko-KR" altLang="en-US" sz="800" dirty="0"/>
              <a:t> 중 일부</a:t>
            </a:r>
            <a:endParaRPr kumimoji="1" lang="ko-Kore-KR" altLang="en-US" sz="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45423B-A181-A3FF-17F3-3EB321319FD1}"/>
              </a:ext>
            </a:extLst>
          </p:cNvPr>
          <p:cNvSpPr txBox="1"/>
          <p:nvPr/>
        </p:nvSpPr>
        <p:spPr>
          <a:xfrm>
            <a:off x="5731732" y="3249499"/>
            <a:ext cx="9605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dirty="0"/>
              <a:t>프롬프트</a:t>
            </a:r>
            <a:r>
              <a:rPr kumimoji="1" lang="ko-KR" altLang="en-US" sz="800" dirty="0"/>
              <a:t> 중 일부</a:t>
            </a:r>
            <a:endParaRPr kumimoji="1" lang="ko-Kore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1759673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F6230-BE59-9716-A26F-D51B35C0E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AFE533AA-48D3-BE7E-A534-F60CB987AAB6}"/>
              </a:ext>
            </a:extLst>
          </p:cNvPr>
          <p:cNvSpPr/>
          <p:nvPr/>
        </p:nvSpPr>
        <p:spPr>
          <a:xfrm>
            <a:off x="6524415" y="2562430"/>
            <a:ext cx="2337736" cy="22621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BA1639FE-024B-CFEB-637F-9A27DC1486CB}"/>
              </a:ext>
            </a:extLst>
          </p:cNvPr>
          <p:cNvSpPr/>
          <p:nvPr/>
        </p:nvSpPr>
        <p:spPr>
          <a:xfrm>
            <a:off x="3852020" y="2594881"/>
            <a:ext cx="2496665" cy="22621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0590AE38-A85F-A77F-8992-1F0BF4D13A4D}"/>
              </a:ext>
            </a:extLst>
          </p:cNvPr>
          <p:cNvSpPr/>
          <p:nvPr/>
        </p:nvSpPr>
        <p:spPr>
          <a:xfrm>
            <a:off x="1512673" y="2644208"/>
            <a:ext cx="2161170" cy="21803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" name="Google Shape;444;p41">
            <a:extLst>
              <a:ext uri="{FF2B5EF4-FFF2-40B4-BE49-F238E27FC236}">
                <a16:creationId xmlns:a16="http://schemas.microsoft.com/office/drawing/2014/main" id="{69B3262A-F90A-E2D6-28CD-505215EC7849}"/>
              </a:ext>
            </a:extLst>
          </p:cNvPr>
          <p:cNvSpPr txBox="1"/>
          <p:nvPr/>
        </p:nvSpPr>
        <p:spPr>
          <a:xfrm>
            <a:off x="221324" y="129109"/>
            <a:ext cx="333303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20344B"/>
                </a:solidFill>
              </a:rPr>
              <a:t>사용자 맞춤형 답변</a:t>
            </a:r>
            <a:r>
              <a:rPr lang="ko-KR" altLang="en-US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 결과 비교</a:t>
            </a:r>
            <a:endParaRPr sz="700" b="1" dirty="0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C844CB12-B593-673B-51D7-CAF0425FD377}"/>
              </a:ext>
            </a:extLst>
          </p:cNvPr>
          <p:cNvGrpSpPr/>
          <p:nvPr/>
        </p:nvGrpSpPr>
        <p:grpSpPr>
          <a:xfrm>
            <a:off x="2194559" y="2911709"/>
            <a:ext cx="753249" cy="7229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3B6A7AA-DA9D-0404-2761-7135D527EB3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F0F1"/>
            </a:solidFill>
          </p:spPr>
          <p:txBody>
            <a:bodyPr/>
            <a:lstStyle/>
            <a:p>
              <a:endParaRPr lang="ko-KR" altLang="en-US" sz="70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65C9725-5EB4-F575-3110-704DE06C582B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575"/>
                </a:lnSpc>
              </a:pPr>
              <a:endParaRPr sz="70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67F4355-B8FC-D9D4-E3F1-195A50BC33D5}"/>
              </a:ext>
            </a:extLst>
          </p:cNvPr>
          <p:cNvGrpSpPr/>
          <p:nvPr/>
        </p:nvGrpSpPr>
        <p:grpSpPr>
          <a:xfrm>
            <a:off x="4710059" y="2868767"/>
            <a:ext cx="753249" cy="722980"/>
            <a:chOff x="0" y="0"/>
            <a:chExt cx="812800" cy="812800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629C42C-4C03-3193-96B9-E067F5C9ADB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F0F1"/>
            </a:solidFill>
          </p:spPr>
          <p:txBody>
            <a:bodyPr/>
            <a:lstStyle/>
            <a:p>
              <a:endParaRPr lang="ko-KR" altLang="en-US" sz="7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A3D4FE-64EA-32ED-BEB6-D8B5E7C9098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575"/>
                </a:lnSpc>
              </a:pPr>
              <a:endParaRPr sz="70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E66FEB4-A4EB-A064-4814-E00B24E843F8}"/>
              </a:ext>
            </a:extLst>
          </p:cNvPr>
          <p:cNvGrpSpPr/>
          <p:nvPr/>
        </p:nvGrpSpPr>
        <p:grpSpPr>
          <a:xfrm>
            <a:off x="7310258" y="2870859"/>
            <a:ext cx="753249" cy="722980"/>
            <a:chOff x="0" y="0"/>
            <a:chExt cx="812800" cy="812800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E058ABD-8FF3-0DF8-DE45-5FBD02D221D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F0F1"/>
            </a:solidFill>
          </p:spPr>
          <p:txBody>
            <a:bodyPr/>
            <a:lstStyle/>
            <a:p>
              <a:endParaRPr lang="ko-KR" altLang="en-US" sz="7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B15CFE6-2FBB-5158-51D1-00EC4365FD56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575"/>
                </a:lnSpc>
              </a:pPr>
              <a:endParaRPr sz="700"/>
            </a:p>
          </p:txBody>
        </p:sp>
      </p:grpSp>
      <p:pic>
        <p:nvPicPr>
          <p:cNvPr id="12" name="그림 11" descr="클립아트, 그래픽이(가) 표시된 사진&#10;&#10;자동 생성된 설명">
            <a:extLst>
              <a:ext uri="{FF2B5EF4-FFF2-40B4-BE49-F238E27FC236}">
                <a16:creationId xmlns:a16="http://schemas.microsoft.com/office/drawing/2014/main" id="{80C7D8C9-2FCA-7D60-40DC-4134F18C1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8152" y="2967977"/>
            <a:ext cx="509742" cy="509742"/>
          </a:xfrm>
          <a:prstGeom prst="rect">
            <a:avLst/>
          </a:prstGeom>
        </p:spPr>
      </p:pic>
      <p:pic>
        <p:nvPicPr>
          <p:cNvPr id="13" name="그림 12" descr="클립아트, 그래픽, 디자인이(가) 표시된 사진&#10;&#10;자동 생성된 설명">
            <a:extLst>
              <a:ext uri="{FF2B5EF4-FFF2-40B4-BE49-F238E27FC236}">
                <a16:creationId xmlns:a16="http://schemas.microsoft.com/office/drawing/2014/main" id="{88635488-DF7E-D1A2-62CD-33A3F7B9EE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1057" y="2978914"/>
            <a:ext cx="531649" cy="531649"/>
          </a:xfrm>
          <a:prstGeom prst="rect">
            <a:avLst/>
          </a:prstGeom>
        </p:spPr>
      </p:pic>
      <p:pic>
        <p:nvPicPr>
          <p:cNvPr id="14" name="그림 13" descr="직소퍼즐이(가) 표시된 사진&#10;&#10;자동 생성된 설명">
            <a:extLst>
              <a:ext uri="{FF2B5EF4-FFF2-40B4-BE49-F238E27FC236}">
                <a16:creationId xmlns:a16="http://schemas.microsoft.com/office/drawing/2014/main" id="{211BD11C-1E65-3B59-4B18-6B8788B92F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012" y="3019764"/>
            <a:ext cx="492052" cy="4920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FD11FC2-61D6-FE54-1FA3-04B112144F8F}"/>
              </a:ext>
            </a:extLst>
          </p:cNvPr>
          <p:cNvSpPr txBox="1"/>
          <p:nvPr/>
        </p:nvSpPr>
        <p:spPr>
          <a:xfrm>
            <a:off x="3928975" y="638862"/>
            <a:ext cx="27959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/>
              <a:t>질문</a:t>
            </a:r>
            <a:r>
              <a:rPr kumimoji="1" lang="en-US" altLang="ko-KR" sz="1200" dirty="0"/>
              <a:t>:</a:t>
            </a:r>
            <a:r>
              <a:rPr kumimoji="1" lang="ko-KR" altLang="en-US" sz="1200" dirty="0"/>
              <a:t> </a:t>
            </a:r>
            <a:r>
              <a:rPr kumimoji="1" lang="en-US" altLang="ko-Kore-KR" sz="1200" dirty="0"/>
              <a:t>“ETF</a:t>
            </a:r>
            <a:r>
              <a:rPr kumimoji="1" lang="ko-KR" altLang="en-US" sz="1200" dirty="0"/>
              <a:t>가 무엇인지 개념 설명해줘</a:t>
            </a:r>
            <a:r>
              <a:rPr kumimoji="1" lang="en-US" altLang="ko-KR" sz="1200" dirty="0"/>
              <a:t>”</a:t>
            </a:r>
            <a:endParaRPr kumimoji="1" lang="ko-Kore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6D5510-5EA6-6C28-5647-A39E99C4E26A}"/>
              </a:ext>
            </a:extLst>
          </p:cNvPr>
          <p:cNvSpPr txBox="1"/>
          <p:nvPr/>
        </p:nvSpPr>
        <p:spPr>
          <a:xfrm>
            <a:off x="2050848" y="2644208"/>
            <a:ext cx="10919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b="1" dirty="0"/>
              <a:t>Newcomer</a:t>
            </a:r>
            <a:endParaRPr kumimoji="1" lang="ko-Kore-KR" alt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D1708B-DAC5-C284-30B1-556551466F4C}"/>
              </a:ext>
            </a:extLst>
          </p:cNvPr>
          <p:cNvSpPr txBox="1"/>
          <p:nvPr/>
        </p:nvSpPr>
        <p:spPr>
          <a:xfrm>
            <a:off x="7132081" y="2562430"/>
            <a:ext cx="1197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b="1" dirty="0"/>
              <a:t>Investigator</a:t>
            </a:r>
            <a:endParaRPr kumimoji="1" lang="ko-Kore-KR" altLang="en-US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C06DE2-B95C-89DA-86E4-111756C84B1C}"/>
              </a:ext>
            </a:extLst>
          </p:cNvPr>
          <p:cNvSpPr txBox="1"/>
          <p:nvPr/>
        </p:nvSpPr>
        <p:spPr>
          <a:xfrm>
            <a:off x="4725555" y="2577935"/>
            <a:ext cx="841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b="1" dirty="0"/>
              <a:t>Learner</a:t>
            </a:r>
            <a:endParaRPr kumimoji="1" lang="ko-Kore-KR" altLang="en-US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75B108-9A92-1F33-CFA9-E556C8E47DE0}"/>
              </a:ext>
            </a:extLst>
          </p:cNvPr>
          <p:cNvSpPr txBox="1"/>
          <p:nvPr/>
        </p:nvSpPr>
        <p:spPr>
          <a:xfrm>
            <a:off x="2148365" y="985960"/>
            <a:ext cx="6629885" cy="97084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 latinLnBrk="1">
              <a:lnSpc>
                <a:spcPct val="103000"/>
              </a:lnSpc>
            </a:pPr>
            <a:r>
              <a:rPr lang="en-US" altLang="ko-Kore-KR" sz="800" kern="100" dirty="0">
                <a:solidFill>
                  <a:schemeClr val="tx1"/>
                </a:solidFill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ETF(</a:t>
            </a:r>
            <a:r>
              <a:rPr lang="ko-KR" altLang="ko-Kore-KR" sz="800" kern="100" dirty="0">
                <a:solidFill>
                  <a:schemeClr val="tx1"/>
                </a:solidFill>
                <a:effectLst/>
                <a:latin typeface="함초롬바탕"/>
                <a:ea typeface="맑은 고딕" panose="020B0503020000020004" pitchFamily="34" charset="-127"/>
                <a:cs typeface="맑은 고딕" panose="020B0503020000020004" pitchFamily="34" charset="-127"/>
              </a:rPr>
              <a:t>상장지수펀드</a:t>
            </a:r>
            <a:r>
              <a:rPr lang="en-US" altLang="ko-Kore-KR" sz="800" kern="100" dirty="0">
                <a:solidFill>
                  <a:schemeClr val="tx1"/>
                </a:solidFill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, Exchange-Traded Fund)</a:t>
            </a:r>
            <a:r>
              <a:rPr lang="ko-KR" altLang="ko-Kore-KR" sz="800" kern="100" dirty="0">
                <a:solidFill>
                  <a:schemeClr val="tx1"/>
                </a:solidFill>
                <a:effectLst/>
                <a:latin typeface="함초롬바탕"/>
                <a:ea typeface="맑은 고딕" panose="020B0503020000020004" pitchFamily="34" charset="-127"/>
                <a:cs typeface="맑은 고딕" panose="020B0503020000020004" pitchFamily="34" charset="-127"/>
              </a:rPr>
              <a:t>는 주식시장에 상장되어 거래되는 펀드의 일종으로</a:t>
            </a:r>
            <a:r>
              <a:rPr lang="en-US" altLang="ko-Kore-KR" sz="800" kern="100" dirty="0">
                <a:solidFill>
                  <a:schemeClr val="tx1"/>
                </a:solidFill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, </a:t>
            </a:r>
            <a:r>
              <a:rPr lang="ko-KR" altLang="ko-Kore-KR" sz="800" kern="100" dirty="0">
                <a:solidFill>
                  <a:schemeClr val="tx1"/>
                </a:solidFill>
                <a:effectLst/>
                <a:latin typeface="함초롬바탕"/>
                <a:ea typeface="맑은 고딕" panose="020B0503020000020004" pitchFamily="34" charset="-127"/>
                <a:cs typeface="맑은 고딕" panose="020B0503020000020004" pitchFamily="34" charset="-127"/>
              </a:rPr>
              <a:t>특정 지수나 자산군을 추종하는 투자 상품입니다</a:t>
            </a:r>
            <a:r>
              <a:rPr lang="en-US" altLang="ko-Kore-KR" sz="800" kern="100" dirty="0">
                <a:solidFill>
                  <a:schemeClr val="tx1"/>
                </a:solidFill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. ETF</a:t>
            </a:r>
            <a:r>
              <a:rPr lang="ko-KR" altLang="ko-Kore-KR" sz="800" kern="100" dirty="0">
                <a:solidFill>
                  <a:schemeClr val="tx1"/>
                </a:solidFill>
                <a:effectLst/>
                <a:latin typeface="함초롬바탕"/>
                <a:ea typeface="맑은 고딕" panose="020B0503020000020004" pitchFamily="34" charset="-127"/>
                <a:cs typeface="맑은 고딕" panose="020B0503020000020004" pitchFamily="34" charset="-127"/>
              </a:rPr>
              <a:t>는 여러 자산에 분산 투자할 수 있는 장점을 제공하며</a:t>
            </a:r>
            <a:r>
              <a:rPr lang="en-US" altLang="ko-Kore-KR" sz="800" kern="100" dirty="0">
                <a:solidFill>
                  <a:schemeClr val="tx1"/>
                </a:solidFill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, </a:t>
            </a:r>
            <a:r>
              <a:rPr lang="ko-KR" altLang="ko-Kore-KR" sz="800" kern="100" dirty="0">
                <a:solidFill>
                  <a:schemeClr val="tx1"/>
                </a:solidFill>
                <a:effectLst/>
                <a:latin typeface="함초롬바탕"/>
                <a:ea typeface="맑은 고딕" panose="020B0503020000020004" pitchFamily="34" charset="-127"/>
                <a:cs typeface="맑은 고딕" panose="020B0503020000020004" pitchFamily="34" charset="-127"/>
              </a:rPr>
              <a:t>주식처럼 실시간으로 매매가 가능합니다</a:t>
            </a:r>
            <a:r>
              <a:rPr lang="en-US" altLang="ko-Kore-KR" sz="800" kern="100" dirty="0">
                <a:solidFill>
                  <a:schemeClr val="tx1"/>
                </a:solidFill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.</a:t>
            </a:r>
            <a:endParaRPr lang="ko-Kore-KR" altLang="ko-Kore-KR" sz="800" kern="100" dirty="0">
              <a:solidFill>
                <a:schemeClr val="tx1"/>
              </a:solidFill>
              <a:effectLst/>
              <a:latin typeface="함초롬바탕"/>
            </a:endParaRPr>
          </a:p>
          <a:p>
            <a:pPr algn="just" latinLnBrk="1">
              <a:lnSpc>
                <a:spcPct val="103000"/>
              </a:lnSpc>
            </a:pPr>
            <a:r>
              <a:rPr lang="en-US" altLang="ko-Kore-KR" sz="800" kern="100" dirty="0">
                <a:solidFill>
                  <a:schemeClr val="tx1"/>
                </a:solidFill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 </a:t>
            </a:r>
            <a:endParaRPr lang="ko-Kore-KR" altLang="ko-Kore-KR" sz="800" kern="100" dirty="0">
              <a:solidFill>
                <a:schemeClr val="tx1"/>
              </a:solidFill>
              <a:effectLst/>
              <a:latin typeface="함초롬바탕"/>
            </a:endParaRPr>
          </a:p>
          <a:p>
            <a:pPr algn="just" latinLnBrk="1">
              <a:lnSpc>
                <a:spcPct val="103000"/>
              </a:lnSpc>
            </a:pPr>
            <a:r>
              <a:rPr lang="en-US" altLang="ko-Kore-KR" sz="800" kern="100" dirty="0">
                <a:solidFill>
                  <a:schemeClr val="tx1"/>
                </a:solidFill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ETF</a:t>
            </a:r>
            <a:r>
              <a:rPr lang="ko-KR" altLang="ko-Kore-KR" sz="800" kern="100" dirty="0">
                <a:solidFill>
                  <a:schemeClr val="tx1"/>
                </a:solidFill>
                <a:effectLst/>
                <a:latin typeface="함초롬바탕"/>
                <a:ea typeface="맑은 고딕" panose="020B0503020000020004" pitchFamily="34" charset="-127"/>
                <a:cs typeface="맑은 고딕" panose="020B0503020000020004" pitchFamily="34" charset="-127"/>
              </a:rPr>
              <a:t>의 주요 특징은 다음과 같습니다</a:t>
            </a:r>
            <a:r>
              <a:rPr lang="en-US" altLang="ko-Kore-KR" sz="800" kern="100" dirty="0">
                <a:solidFill>
                  <a:schemeClr val="tx1"/>
                </a:solidFill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:</a:t>
            </a:r>
            <a:endParaRPr lang="ko-Kore-KR" altLang="ko-Kore-KR" sz="800" kern="100" dirty="0">
              <a:solidFill>
                <a:schemeClr val="tx1"/>
              </a:solidFill>
              <a:effectLst/>
              <a:latin typeface="함초롬바탕"/>
            </a:endParaRPr>
          </a:p>
          <a:p>
            <a:pPr algn="just" latinLnBrk="1">
              <a:lnSpc>
                <a:spcPct val="103000"/>
              </a:lnSpc>
            </a:pPr>
            <a:r>
              <a:rPr lang="en-US" altLang="ko-Kore-KR" sz="800" kern="100" dirty="0">
                <a:solidFill>
                  <a:schemeClr val="tx1"/>
                </a:solidFill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 </a:t>
            </a:r>
            <a:endParaRPr lang="ko-Kore-KR" altLang="ko-Kore-KR" sz="800" kern="100" dirty="0">
              <a:solidFill>
                <a:schemeClr val="tx1"/>
              </a:solidFill>
              <a:effectLst/>
              <a:latin typeface="함초롬바탕"/>
            </a:endParaRPr>
          </a:p>
          <a:p>
            <a:pPr marL="228600" indent="-228600" algn="just" latinLnBrk="1">
              <a:lnSpc>
                <a:spcPct val="103000"/>
              </a:lnSpc>
              <a:buAutoNum type="arabicPeriod"/>
            </a:pPr>
            <a:r>
              <a:rPr lang="ko-KR" altLang="ko-Kore-KR" sz="800" kern="100" dirty="0">
                <a:solidFill>
                  <a:schemeClr val="tx1"/>
                </a:solidFill>
                <a:effectLst/>
                <a:latin typeface="함초롬바탕"/>
                <a:ea typeface="맑은 고딕" panose="020B0503020000020004" pitchFamily="34" charset="-127"/>
                <a:cs typeface="맑은 고딕" panose="020B0503020000020004" pitchFamily="34" charset="-127"/>
              </a:rPr>
              <a:t>다양한 </a:t>
            </a:r>
            <a:r>
              <a:rPr lang="ko-KR" altLang="ko-Kore-KR" sz="800" kern="100" dirty="0" err="1">
                <a:solidFill>
                  <a:schemeClr val="tx1"/>
                </a:solidFill>
                <a:effectLst/>
                <a:latin typeface="함초롬바탕"/>
                <a:ea typeface="맑은 고딕" panose="020B0503020000020004" pitchFamily="34" charset="-127"/>
                <a:cs typeface="맑은 고딕" panose="020B0503020000020004" pitchFamily="34" charset="-127"/>
              </a:rPr>
              <a:t>자산군</a:t>
            </a:r>
            <a:r>
              <a:rPr lang="en-US" altLang="ko-Kore-KR" sz="800" kern="100" dirty="0">
                <a:solidFill>
                  <a:schemeClr val="tx1"/>
                </a:solidFill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: ETF</a:t>
            </a:r>
            <a:r>
              <a:rPr lang="ko-KR" altLang="ko-Kore-KR" sz="800" kern="100" dirty="0">
                <a:solidFill>
                  <a:schemeClr val="tx1"/>
                </a:solidFill>
                <a:effectLst/>
                <a:latin typeface="함초롬바탕"/>
                <a:ea typeface="맑은 고딕" panose="020B0503020000020004" pitchFamily="34" charset="-127"/>
                <a:cs typeface="맑은 고딕" panose="020B0503020000020004" pitchFamily="34" charset="-127"/>
              </a:rPr>
              <a:t>는 주식</a:t>
            </a:r>
            <a:r>
              <a:rPr lang="en-US" altLang="ko-Kore-KR" sz="800" kern="100" dirty="0">
                <a:solidFill>
                  <a:schemeClr val="tx1"/>
                </a:solidFill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, </a:t>
            </a:r>
            <a:r>
              <a:rPr lang="ko-KR" altLang="ko-Kore-KR" sz="800" kern="100" dirty="0">
                <a:solidFill>
                  <a:schemeClr val="tx1"/>
                </a:solidFill>
                <a:effectLst/>
                <a:latin typeface="함초롬바탕"/>
                <a:ea typeface="맑은 고딕" panose="020B0503020000020004" pitchFamily="34" charset="-127"/>
                <a:cs typeface="맑은 고딕" panose="020B0503020000020004" pitchFamily="34" charset="-127"/>
              </a:rPr>
              <a:t>채권</a:t>
            </a:r>
            <a:r>
              <a:rPr lang="en-US" altLang="ko-Kore-KR" sz="800" kern="100" dirty="0">
                <a:solidFill>
                  <a:schemeClr val="tx1"/>
                </a:solidFill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, </a:t>
            </a:r>
            <a:r>
              <a:rPr lang="ko-KR" altLang="ko-Kore-KR" sz="800" kern="100" dirty="0">
                <a:solidFill>
                  <a:schemeClr val="tx1"/>
                </a:solidFill>
                <a:effectLst/>
                <a:latin typeface="함초롬바탕"/>
                <a:ea typeface="맑은 고딕" panose="020B0503020000020004" pitchFamily="34" charset="-127"/>
                <a:cs typeface="맑은 고딕" panose="020B0503020000020004" pitchFamily="34" charset="-127"/>
              </a:rPr>
              <a:t>원자재 등 </a:t>
            </a:r>
            <a:r>
              <a:rPr lang="ko-KR" altLang="ko-Kore-KR" sz="800" b="1" kern="100" dirty="0">
                <a:solidFill>
                  <a:schemeClr val="tx1"/>
                </a:solidFill>
                <a:effectLst/>
                <a:latin typeface="함초롬바탕"/>
                <a:ea typeface="맑은 고딕" panose="020B0503020000020004" pitchFamily="34" charset="-127"/>
                <a:cs typeface="맑은 고딕" panose="020B0503020000020004" pitchFamily="34" charset="-127"/>
              </a:rPr>
              <a:t>다양한 자산에 투자할 수 있습니다</a:t>
            </a:r>
            <a:r>
              <a:rPr lang="en-US" altLang="ko-Kore-KR" sz="800" b="1" kern="100" dirty="0">
                <a:solidFill>
                  <a:schemeClr val="tx1"/>
                </a:solidFill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.</a:t>
            </a:r>
          </a:p>
          <a:p>
            <a:pPr algn="just" latinLnBrk="1">
              <a:lnSpc>
                <a:spcPct val="103000"/>
              </a:lnSpc>
            </a:pPr>
            <a:r>
              <a:rPr lang="en-US" altLang="ko-Kore-KR" sz="800" b="1" kern="100" dirty="0">
                <a:solidFill>
                  <a:schemeClr val="tx1"/>
                </a:solidFill>
                <a:effectLst/>
                <a:latin typeface="맑은 고딕" panose="020B0503020000020004" pitchFamily="34" charset="-127"/>
              </a:rPr>
              <a:t>…</a:t>
            </a:r>
            <a:endParaRPr lang="ko-Kore-KR" altLang="ko-Kore-KR" sz="800" kern="100" dirty="0">
              <a:solidFill>
                <a:schemeClr val="tx1"/>
              </a:solidFill>
              <a:effectLst/>
              <a:latin typeface="함초롬바탕"/>
            </a:endParaRPr>
          </a:p>
        </p:txBody>
      </p:sp>
      <p:pic>
        <p:nvPicPr>
          <p:cNvPr id="2050" name="Picture 2" descr="로봇 단색으로 채워진">
            <a:extLst>
              <a:ext uri="{FF2B5EF4-FFF2-40B4-BE49-F238E27FC236}">
                <a16:creationId xmlns:a16="http://schemas.microsoft.com/office/drawing/2014/main" id="{CDE88796-10EA-8904-74AA-E2900145F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24" y="969867"/>
            <a:ext cx="861698" cy="86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로봇 단색으로 채워진">
            <a:extLst>
              <a:ext uri="{FF2B5EF4-FFF2-40B4-BE49-F238E27FC236}">
                <a16:creationId xmlns:a16="http://schemas.microsoft.com/office/drawing/2014/main" id="{2E9D93DC-2A9D-3EDA-6467-579893186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541" y="2911709"/>
            <a:ext cx="898021" cy="89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BEA741F-B7F7-653E-6A5F-B71AF1C41F5C}"/>
              </a:ext>
            </a:extLst>
          </p:cNvPr>
          <p:cNvSpPr txBox="1"/>
          <p:nvPr/>
        </p:nvSpPr>
        <p:spPr>
          <a:xfrm>
            <a:off x="1590601" y="3725931"/>
            <a:ext cx="2007496" cy="553998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ore-KR" sz="100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… 1. </a:t>
            </a:r>
            <a:r>
              <a:rPr lang="ko-KR" altLang="ko-Kore-KR" sz="100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다양한 자산에 투자</a:t>
            </a:r>
            <a:r>
              <a:rPr lang="en-US" altLang="ko-Kore-KR" sz="100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: ETF</a:t>
            </a:r>
            <a:r>
              <a:rPr lang="ko-KR" altLang="ko-Kore-KR" sz="100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는 주식</a:t>
            </a:r>
            <a:r>
              <a:rPr lang="en-US" altLang="ko-Kore-KR" sz="100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, </a:t>
            </a:r>
            <a:r>
              <a:rPr lang="ko-KR" altLang="ko-Kore-KR" sz="100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채권</a:t>
            </a:r>
            <a:r>
              <a:rPr lang="en-US" altLang="ko-Kore-KR" sz="100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, </a:t>
            </a:r>
            <a:r>
              <a:rPr lang="ko-KR" altLang="ko-Kore-KR" sz="100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원자재 등 </a:t>
            </a:r>
            <a:r>
              <a:rPr lang="ko-KR" altLang="ko-Kore-KR" sz="1000" dirty="0">
                <a:solidFill>
                  <a:srgbClr val="FF0000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여러 가지 자산에 투자할 수 있습니다</a:t>
            </a:r>
            <a:r>
              <a:rPr lang="en-US" altLang="ko-Kore-KR" sz="1000" b="1" dirty="0">
                <a:solidFill>
                  <a:srgbClr val="FF0000"/>
                </a:solidFill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.</a:t>
            </a:r>
            <a:r>
              <a:rPr lang="ko-Kore-KR" altLang="ko-Kore-KR" sz="1000" dirty="0">
                <a:effectLst/>
              </a:rPr>
              <a:t> </a:t>
            </a:r>
            <a:r>
              <a:rPr lang="en-US" altLang="ko-Kore-KR" sz="1000" dirty="0">
                <a:effectLst/>
              </a:rPr>
              <a:t>…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84933F-3D30-10AC-3E54-8AA9C4538644}"/>
              </a:ext>
            </a:extLst>
          </p:cNvPr>
          <p:cNvSpPr txBox="1"/>
          <p:nvPr/>
        </p:nvSpPr>
        <p:spPr>
          <a:xfrm>
            <a:off x="3909405" y="3701164"/>
            <a:ext cx="2354555" cy="707886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ore-KR" sz="100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… 1. </a:t>
            </a:r>
            <a:r>
              <a:rPr lang="ko-KR" altLang="ko-Kore-KR" sz="100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다양한 </a:t>
            </a:r>
            <a:r>
              <a:rPr lang="ko-KR" altLang="ko-Kore-KR" sz="1000" dirty="0" err="1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자산군</a:t>
            </a:r>
            <a:r>
              <a:rPr lang="en-US" altLang="ko-Kore-KR" sz="100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: ETF</a:t>
            </a:r>
            <a:r>
              <a:rPr lang="ko-KR" altLang="ko-Kore-KR" sz="100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는 주식</a:t>
            </a:r>
            <a:r>
              <a:rPr lang="en-US" altLang="ko-Kore-KR" sz="100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, </a:t>
            </a:r>
            <a:r>
              <a:rPr lang="ko-KR" altLang="ko-Kore-KR" sz="100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채권</a:t>
            </a:r>
            <a:r>
              <a:rPr lang="en-US" altLang="ko-Kore-KR" sz="100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, </a:t>
            </a:r>
            <a:r>
              <a:rPr lang="ko-KR" altLang="ko-Kore-KR" sz="100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원자재 등 여러 자산에 투자할 수 있어 </a:t>
            </a:r>
            <a:endParaRPr lang="en-US" altLang="ko-KR" sz="1000" dirty="0">
              <a:effectLst/>
              <a:ea typeface="맑은 고딕" panose="020B0503020000020004" pitchFamily="34" charset="-127"/>
              <a:cs typeface="맑은 고딕" panose="020B0503020000020004" pitchFamily="34" charset="-127"/>
            </a:endParaRPr>
          </a:p>
          <a:p>
            <a:r>
              <a:rPr lang="ko-KR" altLang="ko-Kore-KR" sz="1000" dirty="0">
                <a:solidFill>
                  <a:srgbClr val="FF0000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특정 산업이나 지역에 대한 리스크를 줄이는 데 도움이 됩니다</a:t>
            </a:r>
            <a:r>
              <a:rPr lang="en-US" altLang="ko-Kore-KR" sz="1000" dirty="0">
                <a:solidFill>
                  <a:srgbClr val="FF0000"/>
                </a:solidFill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.</a:t>
            </a:r>
            <a:r>
              <a:rPr lang="ko-Kore-KR" altLang="ko-Kore-KR" sz="1000" dirty="0">
                <a:effectLst/>
              </a:rPr>
              <a:t> </a:t>
            </a:r>
            <a:r>
              <a:rPr lang="en-US" altLang="ko-Kore-KR" sz="1000" dirty="0">
                <a:effectLst/>
              </a:rPr>
              <a:t>…</a:t>
            </a:r>
            <a:endParaRPr kumimoji="1" lang="ko-Kore-KR" alt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D9602D-64EE-36B9-E796-AD16E9E4E736}"/>
              </a:ext>
            </a:extLst>
          </p:cNvPr>
          <p:cNvSpPr txBox="1"/>
          <p:nvPr/>
        </p:nvSpPr>
        <p:spPr>
          <a:xfrm>
            <a:off x="6650538" y="3675386"/>
            <a:ext cx="2134792" cy="722979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ore-KR" sz="100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... </a:t>
            </a:r>
            <a:r>
              <a:rPr lang="en-US" altLang="ko-Kore-KR" sz="1000" dirty="0">
                <a:latin typeface="맑은 고딕" panose="020B0503020000020004" pitchFamily="34" charset="-127"/>
                <a:cs typeface="맑은 고딕" panose="020B0503020000020004" pitchFamily="34" charset="-127"/>
              </a:rPr>
              <a:t>1. </a:t>
            </a:r>
            <a:r>
              <a:rPr lang="ko-KR" altLang="ko-Kore-KR" sz="100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다양한 </a:t>
            </a:r>
            <a:r>
              <a:rPr lang="ko-KR" altLang="ko-Kore-KR" sz="1000" dirty="0" err="1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자산군</a:t>
            </a:r>
            <a:r>
              <a:rPr lang="en-US" altLang="ko-Kore-KR" sz="100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: ETF</a:t>
            </a:r>
            <a:r>
              <a:rPr lang="ko-KR" altLang="ko-Kore-KR" sz="100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는 주식</a:t>
            </a:r>
            <a:r>
              <a:rPr lang="en-US" altLang="ko-Kore-KR" sz="100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, </a:t>
            </a:r>
            <a:r>
              <a:rPr lang="ko-KR" altLang="ko-Kore-KR" sz="100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채권</a:t>
            </a:r>
            <a:r>
              <a:rPr lang="en-US" altLang="ko-Kore-KR" sz="100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, </a:t>
            </a:r>
            <a:r>
              <a:rPr lang="ko-KR" altLang="ko-Kore-KR" sz="100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원자재 등 여러 자산에 투자할 수 있어 </a:t>
            </a:r>
            <a:r>
              <a:rPr lang="ko-KR" altLang="ko-Kore-KR" sz="1000" dirty="0">
                <a:solidFill>
                  <a:srgbClr val="FF0000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포트폴리오 다각화에 유리합니다</a:t>
            </a:r>
            <a:r>
              <a:rPr lang="en-US" altLang="ko-Kore-KR" sz="1000" dirty="0">
                <a:solidFill>
                  <a:srgbClr val="FF0000"/>
                </a:solidFill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.</a:t>
            </a:r>
            <a:r>
              <a:rPr lang="en-US" altLang="ko-Kore-KR" sz="100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 …</a:t>
            </a:r>
            <a:endParaRPr kumimoji="1" lang="ko-Kore-KR" alt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F55834-7C42-84D8-0584-0FF7EDE6A39E}"/>
              </a:ext>
            </a:extLst>
          </p:cNvPr>
          <p:cNvSpPr txBox="1"/>
          <p:nvPr/>
        </p:nvSpPr>
        <p:spPr>
          <a:xfrm>
            <a:off x="1820016" y="4408635"/>
            <a:ext cx="1502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1200" b="1" dirty="0"/>
              <a:t>직관적인</a:t>
            </a:r>
            <a:r>
              <a:rPr kumimoji="1" lang="ko-KR" altLang="en-US" sz="1200" b="1" dirty="0"/>
              <a:t> 효과 설명</a:t>
            </a:r>
            <a:endParaRPr kumimoji="1" lang="en-US" altLang="ko-KR" sz="12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AD07AE-7C30-2189-6AE1-FDD2D3F15D93}"/>
              </a:ext>
            </a:extLst>
          </p:cNvPr>
          <p:cNvSpPr txBox="1"/>
          <p:nvPr/>
        </p:nvSpPr>
        <p:spPr>
          <a:xfrm>
            <a:off x="4374497" y="4482008"/>
            <a:ext cx="1502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1200" b="1" dirty="0"/>
              <a:t>장기적인</a:t>
            </a:r>
            <a:r>
              <a:rPr kumimoji="1" lang="ko-KR" altLang="en-US" sz="1200" b="1" dirty="0"/>
              <a:t> 효과 설명</a:t>
            </a:r>
            <a:endParaRPr kumimoji="1" lang="ko-Kore-KR" altLang="en-US" sz="12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8F277D-0E03-6B88-3652-2F850D95ED11}"/>
              </a:ext>
            </a:extLst>
          </p:cNvPr>
          <p:cNvSpPr txBox="1"/>
          <p:nvPr/>
        </p:nvSpPr>
        <p:spPr>
          <a:xfrm>
            <a:off x="6650538" y="4484101"/>
            <a:ext cx="21611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1200" b="1" dirty="0"/>
              <a:t>상대적으로</a:t>
            </a:r>
            <a:r>
              <a:rPr kumimoji="1" lang="ko-KR" altLang="en-US" sz="1200" b="1" dirty="0"/>
              <a:t> 어려운 용어 활용</a:t>
            </a:r>
            <a:endParaRPr kumimoji="1" lang="ko-Kore-KR" altLang="en-US" sz="1200" b="1" dirty="0"/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1F2447C7-9CA5-C97C-EA6C-3ECE012B7B4D}"/>
              </a:ext>
            </a:extLst>
          </p:cNvPr>
          <p:cNvSpPr/>
          <p:nvPr/>
        </p:nvSpPr>
        <p:spPr>
          <a:xfrm>
            <a:off x="214541" y="1864242"/>
            <a:ext cx="861698" cy="176124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000" dirty="0"/>
              <a:t>QA</a:t>
            </a:r>
            <a:r>
              <a:rPr kumimoji="1" lang="ko-Kore-KR" altLang="en-US" sz="1000" dirty="0"/>
              <a:t>용</a:t>
            </a:r>
            <a:r>
              <a:rPr kumimoji="1" lang="ko-KR" altLang="en-US" sz="1000" dirty="0"/>
              <a:t> </a:t>
            </a:r>
            <a:r>
              <a:rPr kumimoji="1" lang="en-US" altLang="ko-KR" sz="1000" dirty="0"/>
              <a:t>LLM</a:t>
            </a:r>
            <a:endParaRPr kumimoji="1" lang="ko-Kore-KR" altLang="en-US" sz="1000" dirty="0"/>
          </a:p>
        </p:txBody>
      </p:sp>
      <p:cxnSp>
        <p:nvCxnSpPr>
          <p:cNvPr id="33" name="직선 연결선[R] 32">
            <a:extLst>
              <a:ext uri="{FF2B5EF4-FFF2-40B4-BE49-F238E27FC236}">
                <a16:creationId xmlns:a16="http://schemas.microsoft.com/office/drawing/2014/main" id="{0AD9EA58-3673-90A0-8869-F40901DD3DA5}"/>
              </a:ext>
            </a:extLst>
          </p:cNvPr>
          <p:cNvCxnSpPr>
            <a:stCxn id="2050" idx="3"/>
          </p:cNvCxnSpPr>
          <p:nvPr/>
        </p:nvCxnSpPr>
        <p:spPr>
          <a:xfrm>
            <a:off x="1083022" y="1400716"/>
            <a:ext cx="99802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직선 연결선[R] 33">
            <a:extLst>
              <a:ext uri="{FF2B5EF4-FFF2-40B4-BE49-F238E27FC236}">
                <a16:creationId xmlns:a16="http://schemas.microsoft.com/office/drawing/2014/main" id="{68CBF552-511F-9721-9679-F478673A1F44}"/>
              </a:ext>
            </a:extLst>
          </p:cNvPr>
          <p:cNvCxnSpPr>
            <a:cxnSpLocks/>
          </p:cNvCxnSpPr>
          <p:nvPr/>
        </p:nvCxnSpPr>
        <p:spPr>
          <a:xfrm flipV="1">
            <a:off x="976417" y="3273199"/>
            <a:ext cx="486623" cy="178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B559CDAC-AB90-A6BE-EBA7-D1468893A0A3}"/>
              </a:ext>
            </a:extLst>
          </p:cNvPr>
          <p:cNvSpPr/>
          <p:nvPr/>
        </p:nvSpPr>
        <p:spPr>
          <a:xfrm>
            <a:off x="232223" y="3793630"/>
            <a:ext cx="898020" cy="363092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1000" dirty="0"/>
              <a:t>고객</a:t>
            </a:r>
            <a:r>
              <a:rPr kumimoji="1" lang="ko-KR" altLang="en-US" sz="1000" dirty="0"/>
              <a:t> 등급 분류용 </a:t>
            </a:r>
            <a:r>
              <a:rPr kumimoji="1" lang="en-US" altLang="ko-KR" sz="1000" dirty="0"/>
              <a:t>LLM</a:t>
            </a:r>
            <a:endParaRPr kumimoji="1" lang="ko-Kore-KR" altLang="en-US" sz="1000" dirty="0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F4CD2900-E319-B75B-E529-B05EFDD935FB}"/>
              </a:ext>
            </a:extLst>
          </p:cNvPr>
          <p:cNvCxnSpPr>
            <a:cxnSpLocks/>
          </p:cNvCxnSpPr>
          <p:nvPr/>
        </p:nvCxnSpPr>
        <p:spPr>
          <a:xfrm>
            <a:off x="5075217" y="1955781"/>
            <a:ext cx="0" cy="622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01DB9AC2-713B-FF78-74C6-CE750EE2CC34}"/>
              </a:ext>
            </a:extLst>
          </p:cNvPr>
          <p:cNvCxnSpPr>
            <a:cxnSpLocks/>
          </p:cNvCxnSpPr>
          <p:nvPr/>
        </p:nvCxnSpPr>
        <p:spPr>
          <a:xfrm>
            <a:off x="2590099" y="1966598"/>
            <a:ext cx="0" cy="684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B786763C-0C3D-B701-7934-5049B859AA90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7686881" y="1940928"/>
            <a:ext cx="44082" cy="621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8794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B6A8E-C3C1-A299-5E34-30080879C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40;p26">
            <a:extLst>
              <a:ext uri="{FF2B5EF4-FFF2-40B4-BE49-F238E27FC236}">
                <a16:creationId xmlns:a16="http://schemas.microsoft.com/office/drawing/2014/main" id="{3D36BCDC-19FF-80CB-49D0-66C7C009C282}"/>
              </a:ext>
            </a:extLst>
          </p:cNvPr>
          <p:cNvSpPr/>
          <p:nvPr/>
        </p:nvSpPr>
        <p:spPr>
          <a:xfrm>
            <a:off x="0" y="-53100"/>
            <a:ext cx="9143998" cy="5196600"/>
          </a:xfrm>
          <a:custGeom>
            <a:avLst/>
            <a:gdLst/>
            <a:ahLst/>
            <a:cxnLst/>
            <a:rect l="l" t="t" r="r" b="b"/>
            <a:pathLst>
              <a:path w="4816592" h="1966933" extrusionOk="0">
                <a:moveTo>
                  <a:pt x="0" y="0"/>
                </a:moveTo>
                <a:lnTo>
                  <a:pt x="4816592" y="0"/>
                </a:lnTo>
                <a:lnTo>
                  <a:pt x="4816592" y="1966933"/>
                </a:lnTo>
                <a:lnTo>
                  <a:pt x="0" y="1966933"/>
                </a:lnTo>
                <a:close/>
              </a:path>
            </a:pathLst>
          </a:custGeom>
          <a:solidFill>
            <a:srgbClr val="EBF0F1"/>
          </a:solidFill>
          <a:ln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" name="Google Shape;157;p27">
            <a:extLst>
              <a:ext uri="{FF2B5EF4-FFF2-40B4-BE49-F238E27FC236}">
                <a16:creationId xmlns:a16="http://schemas.microsoft.com/office/drawing/2014/main" id="{A100E307-91F8-F49B-4F02-1463B42D88F2}"/>
              </a:ext>
            </a:extLst>
          </p:cNvPr>
          <p:cNvSpPr/>
          <p:nvPr/>
        </p:nvSpPr>
        <p:spPr>
          <a:xfrm>
            <a:off x="2762085" y="2444236"/>
            <a:ext cx="3320528" cy="2423985"/>
          </a:xfrm>
          <a:custGeom>
            <a:avLst/>
            <a:gdLst/>
            <a:ahLst/>
            <a:cxnLst/>
            <a:rect l="l" t="t" r="r" b="b"/>
            <a:pathLst>
              <a:path w="6641056" h="4847971" extrusionOk="0">
                <a:moveTo>
                  <a:pt x="0" y="0"/>
                </a:moveTo>
                <a:lnTo>
                  <a:pt x="6641056" y="0"/>
                </a:lnTo>
                <a:lnTo>
                  <a:pt x="6641056" y="4847971"/>
                </a:lnTo>
                <a:lnTo>
                  <a:pt x="0" y="48479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" name="Google Shape;158;p27">
            <a:extLst>
              <a:ext uri="{FF2B5EF4-FFF2-40B4-BE49-F238E27FC236}">
                <a16:creationId xmlns:a16="http://schemas.microsoft.com/office/drawing/2014/main" id="{D1B4AFFB-206E-80F7-F554-CC51107B2613}"/>
              </a:ext>
            </a:extLst>
          </p:cNvPr>
          <p:cNvSpPr txBox="1"/>
          <p:nvPr/>
        </p:nvSpPr>
        <p:spPr>
          <a:xfrm>
            <a:off x="2762068" y="808679"/>
            <a:ext cx="3638731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200" b="1" dirty="0">
                <a:solidFill>
                  <a:srgbClr val="20344B"/>
                </a:solidFill>
              </a:rPr>
              <a:t>0</a:t>
            </a:r>
            <a:r>
              <a:rPr lang="en-US" altLang="ko-KR" sz="3200" b="1" dirty="0">
                <a:solidFill>
                  <a:srgbClr val="20344B"/>
                </a:solidFill>
              </a:rPr>
              <a:t>4</a:t>
            </a:r>
            <a:endParaRPr sz="3200" b="1" dirty="0">
              <a:solidFill>
                <a:srgbClr val="20344B"/>
              </a:solidFill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3200" b="1" dirty="0">
                <a:solidFill>
                  <a:srgbClr val="20344B"/>
                </a:solidFill>
              </a:rPr>
              <a:t>PoC </a:t>
            </a:r>
            <a:r>
              <a:rPr lang="ko-KR" altLang="en-US" sz="3200" b="1" dirty="0">
                <a:solidFill>
                  <a:srgbClr val="20344B"/>
                </a:solidFill>
              </a:rPr>
              <a:t>적용</a:t>
            </a:r>
            <a:endParaRPr sz="3200" b="1" dirty="0">
              <a:solidFill>
                <a:srgbClr val="20344B"/>
              </a:solidFill>
            </a:endParaRPr>
          </a:p>
        </p:txBody>
      </p:sp>
      <p:sp>
        <p:nvSpPr>
          <p:cNvPr id="6" name="Google Shape;159;p27">
            <a:extLst>
              <a:ext uri="{FF2B5EF4-FFF2-40B4-BE49-F238E27FC236}">
                <a16:creationId xmlns:a16="http://schemas.microsoft.com/office/drawing/2014/main" id="{62113B65-E436-0D4F-E452-773065752998}"/>
              </a:ext>
            </a:extLst>
          </p:cNvPr>
          <p:cNvSpPr/>
          <p:nvPr/>
        </p:nvSpPr>
        <p:spPr>
          <a:xfrm>
            <a:off x="0" y="-26550"/>
            <a:ext cx="722700" cy="5196600"/>
          </a:xfrm>
          <a:prstGeom prst="rect">
            <a:avLst/>
          </a:prstGeom>
          <a:solidFill>
            <a:srgbClr val="68BBCD"/>
          </a:solidFill>
          <a:ln w="9525" cap="flat" cmpd="sng">
            <a:solidFill>
              <a:srgbClr val="68BB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60;p27">
            <a:extLst>
              <a:ext uri="{FF2B5EF4-FFF2-40B4-BE49-F238E27FC236}">
                <a16:creationId xmlns:a16="http://schemas.microsoft.com/office/drawing/2014/main" id="{685C33EA-79E3-A238-840E-C18538A40C3D}"/>
              </a:ext>
            </a:extLst>
          </p:cNvPr>
          <p:cNvSpPr/>
          <p:nvPr/>
        </p:nvSpPr>
        <p:spPr>
          <a:xfrm>
            <a:off x="8421300" y="-26550"/>
            <a:ext cx="722700" cy="5196600"/>
          </a:xfrm>
          <a:prstGeom prst="rect">
            <a:avLst/>
          </a:prstGeom>
          <a:solidFill>
            <a:srgbClr val="68BBCD"/>
          </a:solidFill>
          <a:ln w="9525" cap="flat" cmpd="sng">
            <a:solidFill>
              <a:srgbClr val="68BB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60968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DC139-9959-6A58-FD84-E1F960010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465;p42">
            <a:extLst>
              <a:ext uri="{FF2B5EF4-FFF2-40B4-BE49-F238E27FC236}">
                <a16:creationId xmlns:a16="http://schemas.microsoft.com/office/drawing/2014/main" id="{F1DA05A2-3FBF-BFC9-19E9-C3E4E150EBE5}"/>
              </a:ext>
            </a:extLst>
          </p:cNvPr>
          <p:cNvGrpSpPr/>
          <p:nvPr/>
        </p:nvGrpSpPr>
        <p:grpSpPr>
          <a:xfrm>
            <a:off x="149312" y="172513"/>
            <a:ext cx="2225749" cy="3943170"/>
            <a:chOff x="0" y="-167025"/>
            <a:chExt cx="1742067" cy="648491"/>
          </a:xfrm>
        </p:grpSpPr>
        <p:sp>
          <p:nvSpPr>
            <p:cNvPr id="3" name="Google Shape;466;p42">
              <a:extLst>
                <a:ext uri="{FF2B5EF4-FFF2-40B4-BE49-F238E27FC236}">
                  <a16:creationId xmlns:a16="http://schemas.microsoft.com/office/drawing/2014/main" id="{B4168C91-18CB-56BA-BC30-C54AFBD75C74}"/>
                </a:ext>
              </a:extLst>
            </p:cNvPr>
            <p:cNvSpPr/>
            <p:nvPr/>
          </p:nvSpPr>
          <p:spPr>
            <a:xfrm>
              <a:off x="0" y="0"/>
              <a:ext cx="1742067" cy="481466"/>
            </a:xfrm>
            <a:custGeom>
              <a:avLst/>
              <a:gdLst/>
              <a:ahLst/>
              <a:cxnLst/>
              <a:rect l="l" t="t" r="r" b="b"/>
              <a:pathLst>
                <a:path w="1742067" h="481466" extrusionOk="0">
                  <a:moveTo>
                    <a:pt x="35114" y="0"/>
                  </a:moveTo>
                  <a:lnTo>
                    <a:pt x="1706953" y="0"/>
                  </a:lnTo>
                  <a:cubicBezTo>
                    <a:pt x="1716266" y="0"/>
                    <a:pt x="1725197" y="3699"/>
                    <a:pt x="1731782" y="10285"/>
                  </a:cubicBezTo>
                  <a:cubicBezTo>
                    <a:pt x="1738368" y="16870"/>
                    <a:pt x="1742067" y="25801"/>
                    <a:pt x="1742067" y="35114"/>
                  </a:cubicBezTo>
                  <a:lnTo>
                    <a:pt x="1742067" y="446352"/>
                  </a:lnTo>
                  <a:cubicBezTo>
                    <a:pt x="1742067" y="455665"/>
                    <a:pt x="1738368" y="464596"/>
                    <a:pt x="1731782" y="471181"/>
                  </a:cubicBezTo>
                  <a:cubicBezTo>
                    <a:pt x="1725197" y="477766"/>
                    <a:pt x="1716266" y="481466"/>
                    <a:pt x="1706953" y="481466"/>
                  </a:cubicBezTo>
                  <a:lnTo>
                    <a:pt x="35114" y="481466"/>
                  </a:lnTo>
                  <a:cubicBezTo>
                    <a:pt x="25801" y="481466"/>
                    <a:pt x="16870" y="477766"/>
                    <a:pt x="10285" y="471181"/>
                  </a:cubicBezTo>
                  <a:cubicBezTo>
                    <a:pt x="3699" y="464596"/>
                    <a:pt x="0" y="455665"/>
                    <a:pt x="0" y="446352"/>
                  </a:cubicBezTo>
                  <a:lnTo>
                    <a:pt x="0" y="35114"/>
                  </a:lnTo>
                  <a:cubicBezTo>
                    <a:pt x="0" y="25801"/>
                    <a:pt x="3699" y="16870"/>
                    <a:pt x="10285" y="10285"/>
                  </a:cubicBezTo>
                  <a:cubicBezTo>
                    <a:pt x="16870" y="3699"/>
                    <a:pt x="25801" y="0"/>
                    <a:pt x="35114" y="0"/>
                  </a:cubicBezTo>
                  <a:close/>
                </a:path>
              </a:pathLst>
            </a:custGeom>
            <a:solidFill>
              <a:srgbClr val="EBF0F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467;p42">
              <a:extLst>
                <a:ext uri="{FF2B5EF4-FFF2-40B4-BE49-F238E27FC236}">
                  <a16:creationId xmlns:a16="http://schemas.microsoft.com/office/drawing/2014/main" id="{0163F3B0-4096-D210-CF24-91F5158C5ADA}"/>
                </a:ext>
              </a:extLst>
            </p:cNvPr>
            <p:cNvSpPr txBox="1"/>
            <p:nvPr/>
          </p:nvSpPr>
          <p:spPr>
            <a:xfrm>
              <a:off x="0" y="-167025"/>
              <a:ext cx="1742067" cy="6484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그림 5" descr="텍스트, 스크린샷, 폰트, 그래픽이(가) 표시된 사진&#10;&#10;자동 생성된 설명">
            <a:extLst>
              <a:ext uri="{FF2B5EF4-FFF2-40B4-BE49-F238E27FC236}">
                <a16:creationId xmlns:a16="http://schemas.microsoft.com/office/drawing/2014/main" id="{D15C96A5-7268-496F-2AEA-C53E070FF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04" y="2250431"/>
            <a:ext cx="1356685" cy="15773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585CE6-690F-F0D7-6718-C80D9ECDD110}"/>
              </a:ext>
            </a:extLst>
          </p:cNvPr>
          <p:cNvSpPr txBox="1"/>
          <p:nvPr/>
        </p:nvSpPr>
        <p:spPr>
          <a:xfrm>
            <a:off x="180229" y="1836321"/>
            <a:ext cx="21948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ore-KR" dirty="0"/>
              <a:t>https://</a:t>
            </a:r>
            <a:r>
              <a:rPr kumimoji="1" lang="en" altLang="ko-Kore-KR" dirty="0" err="1"/>
              <a:t>bit.ly</a:t>
            </a:r>
            <a:r>
              <a:rPr kumimoji="1" lang="en" altLang="ko-Kore-KR" dirty="0"/>
              <a:t>/</a:t>
            </a:r>
            <a:r>
              <a:rPr kumimoji="1" lang="en" altLang="ko-Kore-KR" dirty="0" err="1"/>
              <a:t>fsi_waterfight</a:t>
            </a:r>
            <a:endParaRPr kumimoji="1"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08F2D-88F9-910F-6C4D-10589783A893}"/>
              </a:ext>
            </a:extLst>
          </p:cNvPr>
          <p:cNvSpPr txBox="1"/>
          <p:nvPr/>
        </p:nvSpPr>
        <p:spPr>
          <a:xfrm>
            <a:off x="506404" y="1312679"/>
            <a:ext cx="18197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b="1" dirty="0">
                <a:solidFill>
                  <a:schemeClr val="tx1"/>
                </a:solidFill>
              </a:rPr>
              <a:t>접속 </a:t>
            </a:r>
            <a:r>
              <a:rPr kumimoji="1" lang="ko-Kore-KR" altLang="en-US" sz="1200" b="1" dirty="0">
                <a:solidFill>
                  <a:schemeClr val="tx1"/>
                </a:solidFill>
              </a:rPr>
              <a:t>사이트</a:t>
            </a:r>
            <a:r>
              <a:rPr kumimoji="1" lang="ko-KR" altLang="en-US" sz="1200" b="1" dirty="0">
                <a:solidFill>
                  <a:schemeClr val="tx1"/>
                </a:solidFill>
              </a:rPr>
              <a:t> 및 </a:t>
            </a:r>
            <a:r>
              <a:rPr kumimoji="1" lang="en-US" altLang="ko-KR" sz="1200" b="1" dirty="0">
                <a:solidFill>
                  <a:schemeClr val="tx1"/>
                </a:solidFill>
              </a:rPr>
              <a:t>QR </a:t>
            </a:r>
            <a:r>
              <a:rPr kumimoji="1" lang="ko-KR" altLang="en-US" sz="1200" b="1" dirty="0">
                <a:solidFill>
                  <a:schemeClr val="tx1"/>
                </a:solidFill>
              </a:rPr>
              <a:t>코드</a:t>
            </a:r>
            <a:endParaRPr kumimoji="1" lang="ko-Kore-KR" altLang="en-US" sz="1200" b="1" dirty="0">
              <a:solidFill>
                <a:schemeClr val="tx1"/>
              </a:solidFill>
            </a:endParaRPr>
          </a:p>
        </p:txBody>
      </p:sp>
      <p:grpSp>
        <p:nvGrpSpPr>
          <p:cNvPr id="10" name="Google Shape;468;p42">
            <a:extLst>
              <a:ext uri="{FF2B5EF4-FFF2-40B4-BE49-F238E27FC236}">
                <a16:creationId xmlns:a16="http://schemas.microsoft.com/office/drawing/2014/main" id="{88BD2DEC-B30C-9149-A96E-24DB0D45166E}"/>
              </a:ext>
            </a:extLst>
          </p:cNvPr>
          <p:cNvGrpSpPr/>
          <p:nvPr/>
        </p:nvGrpSpPr>
        <p:grpSpPr>
          <a:xfrm>
            <a:off x="195783" y="1263522"/>
            <a:ext cx="351479" cy="330917"/>
            <a:chOff x="0" y="0"/>
            <a:chExt cx="812800" cy="812800"/>
          </a:xfrm>
        </p:grpSpPr>
        <p:sp>
          <p:nvSpPr>
            <p:cNvPr id="11" name="Google Shape;469;p42">
              <a:extLst>
                <a:ext uri="{FF2B5EF4-FFF2-40B4-BE49-F238E27FC236}">
                  <a16:creationId xmlns:a16="http://schemas.microsoft.com/office/drawing/2014/main" id="{CABC1EE6-A3DD-26AA-5D27-A8B131B9F9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70;p42">
              <a:extLst>
                <a:ext uri="{FF2B5EF4-FFF2-40B4-BE49-F238E27FC236}">
                  <a16:creationId xmlns:a16="http://schemas.microsoft.com/office/drawing/2014/main" id="{3BFC9CD7-A706-D6BD-A2CE-9D3E7ED1298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471;p42">
            <a:extLst>
              <a:ext uri="{FF2B5EF4-FFF2-40B4-BE49-F238E27FC236}">
                <a16:creationId xmlns:a16="http://schemas.microsoft.com/office/drawing/2014/main" id="{118AA83A-CD2A-5C13-0178-CB9E99DCE8A2}"/>
              </a:ext>
            </a:extLst>
          </p:cNvPr>
          <p:cNvSpPr/>
          <p:nvPr/>
        </p:nvSpPr>
        <p:spPr>
          <a:xfrm>
            <a:off x="251958" y="1319218"/>
            <a:ext cx="233163" cy="219523"/>
          </a:xfrm>
          <a:custGeom>
            <a:avLst/>
            <a:gdLst/>
            <a:ahLst/>
            <a:cxnLst/>
            <a:rect l="l" t="t" r="r" b="b"/>
            <a:pathLst>
              <a:path w="715248" h="715248" extrusionOk="0">
                <a:moveTo>
                  <a:pt x="0" y="0"/>
                </a:moveTo>
                <a:lnTo>
                  <a:pt x="715248" y="0"/>
                </a:lnTo>
                <a:lnTo>
                  <a:pt x="715248" y="715248"/>
                </a:lnTo>
                <a:lnTo>
                  <a:pt x="0" y="715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F5665F-8CE9-3460-0918-2F72A8927BA2}"/>
              </a:ext>
            </a:extLst>
          </p:cNvPr>
          <p:cNvSpPr txBox="1"/>
          <p:nvPr/>
        </p:nvSpPr>
        <p:spPr>
          <a:xfrm>
            <a:off x="149312" y="4205917"/>
            <a:ext cx="33986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ko-KR" sz="1200" dirty="0"/>
              <a:t>LLM </a:t>
            </a:r>
            <a:r>
              <a:rPr kumimoji="1" lang="ko-KR" altLang="en-US" sz="1200" dirty="0"/>
              <a:t>모델</a:t>
            </a:r>
            <a:r>
              <a:rPr kumimoji="1" lang="en-US" altLang="ko-KR" sz="1200" dirty="0"/>
              <a:t>:</a:t>
            </a:r>
            <a:r>
              <a:rPr kumimoji="1" lang="ko-KR" altLang="en-US" sz="1200" dirty="0"/>
              <a:t> </a:t>
            </a:r>
            <a:r>
              <a:rPr kumimoji="1" lang="en-US" altLang="ko-KR" sz="1200" dirty="0"/>
              <a:t>GPT-4o-mini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ko-Kore-KR" sz="1200" dirty="0"/>
              <a:t>Embedding Model: Text-embedding-ada-002</a:t>
            </a:r>
            <a:endParaRPr kumimoji="1" lang="ko-Kore-KR" altLang="en-US" sz="1200" dirty="0"/>
          </a:p>
        </p:txBody>
      </p:sp>
      <p:sp>
        <p:nvSpPr>
          <p:cNvPr id="15" name="Google Shape;444;p41">
            <a:extLst>
              <a:ext uri="{FF2B5EF4-FFF2-40B4-BE49-F238E27FC236}">
                <a16:creationId xmlns:a16="http://schemas.microsoft.com/office/drawing/2014/main" id="{6FBB36AB-C546-F12C-7294-A656F391CB4A}"/>
              </a:ext>
            </a:extLst>
          </p:cNvPr>
          <p:cNvSpPr txBox="1"/>
          <p:nvPr/>
        </p:nvSpPr>
        <p:spPr>
          <a:xfrm>
            <a:off x="221324" y="129109"/>
            <a:ext cx="287932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PoC </a:t>
            </a:r>
            <a:r>
              <a:rPr lang="ko-KR" altLang="en-US" sz="2000" b="1" i="0" u="none" strike="noStrike" cap="none" dirty="0">
                <a:solidFill>
                  <a:srgbClr val="20344B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700" b="1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21C9848-74A3-6109-029B-238A0762C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0391" y="710360"/>
            <a:ext cx="6543753" cy="368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514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8FC21-82DB-EA6F-266E-5A83EDBC8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40;p26">
            <a:extLst>
              <a:ext uri="{FF2B5EF4-FFF2-40B4-BE49-F238E27FC236}">
                <a16:creationId xmlns:a16="http://schemas.microsoft.com/office/drawing/2014/main" id="{0AAA8A2F-F364-A056-489A-954238AC5B47}"/>
              </a:ext>
            </a:extLst>
          </p:cNvPr>
          <p:cNvSpPr/>
          <p:nvPr/>
        </p:nvSpPr>
        <p:spPr>
          <a:xfrm>
            <a:off x="0" y="-53100"/>
            <a:ext cx="9143998" cy="5196600"/>
          </a:xfrm>
          <a:custGeom>
            <a:avLst/>
            <a:gdLst/>
            <a:ahLst/>
            <a:cxnLst/>
            <a:rect l="l" t="t" r="r" b="b"/>
            <a:pathLst>
              <a:path w="4816592" h="1966933" extrusionOk="0">
                <a:moveTo>
                  <a:pt x="0" y="0"/>
                </a:moveTo>
                <a:lnTo>
                  <a:pt x="4816592" y="0"/>
                </a:lnTo>
                <a:lnTo>
                  <a:pt x="4816592" y="1966933"/>
                </a:lnTo>
                <a:lnTo>
                  <a:pt x="0" y="1966933"/>
                </a:lnTo>
                <a:close/>
              </a:path>
            </a:pathLst>
          </a:custGeom>
          <a:solidFill>
            <a:srgbClr val="EBF0F1"/>
          </a:solidFill>
          <a:ln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" name="Google Shape;157;p27">
            <a:extLst>
              <a:ext uri="{FF2B5EF4-FFF2-40B4-BE49-F238E27FC236}">
                <a16:creationId xmlns:a16="http://schemas.microsoft.com/office/drawing/2014/main" id="{BFB6682E-7298-C511-3814-66FE2F06CDD5}"/>
              </a:ext>
            </a:extLst>
          </p:cNvPr>
          <p:cNvSpPr/>
          <p:nvPr/>
        </p:nvSpPr>
        <p:spPr>
          <a:xfrm>
            <a:off x="2762085" y="2444236"/>
            <a:ext cx="3320528" cy="2423985"/>
          </a:xfrm>
          <a:custGeom>
            <a:avLst/>
            <a:gdLst/>
            <a:ahLst/>
            <a:cxnLst/>
            <a:rect l="l" t="t" r="r" b="b"/>
            <a:pathLst>
              <a:path w="6641056" h="4847971" extrusionOk="0">
                <a:moveTo>
                  <a:pt x="0" y="0"/>
                </a:moveTo>
                <a:lnTo>
                  <a:pt x="6641056" y="0"/>
                </a:lnTo>
                <a:lnTo>
                  <a:pt x="6641056" y="4847971"/>
                </a:lnTo>
                <a:lnTo>
                  <a:pt x="0" y="48479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" name="Google Shape;158;p27">
            <a:extLst>
              <a:ext uri="{FF2B5EF4-FFF2-40B4-BE49-F238E27FC236}">
                <a16:creationId xmlns:a16="http://schemas.microsoft.com/office/drawing/2014/main" id="{6837DBBC-D973-BCD6-0A8E-F26290926A0E}"/>
              </a:ext>
            </a:extLst>
          </p:cNvPr>
          <p:cNvSpPr txBox="1"/>
          <p:nvPr/>
        </p:nvSpPr>
        <p:spPr>
          <a:xfrm>
            <a:off x="2762068" y="808679"/>
            <a:ext cx="3638731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200" b="1" dirty="0">
                <a:solidFill>
                  <a:srgbClr val="20344B"/>
                </a:solidFill>
              </a:rPr>
              <a:t>0</a:t>
            </a:r>
            <a:r>
              <a:rPr lang="en-US" altLang="ko-KR" sz="3200" b="1" dirty="0">
                <a:solidFill>
                  <a:srgbClr val="20344B"/>
                </a:solidFill>
              </a:rPr>
              <a:t>5</a:t>
            </a:r>
            <a:endParaRPr sz="3200" b="1" dirty="0">
              <a:solidFill>
                <a:srgbClr val="20344B"/>
              </a:solidFill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 dirty="0">
                <a:solidFill>
                  <a:srgbClr val="20344B"/>
                </a:solidFill>
              </a:rPr>
              <a:t>기대 효과</a:t>
            </a:r>
            <a:endParaRPr sz="3200" b="1" dirty="0">
              <a:solidFill>
                <a:srgbClr val="20344B"/>
              </a:solidFill>
            </a:endParaRPr>
          </a:p>
        </p:txBody>
      </p:sp>
      <p:sp>
        <p:nvSpPr>
          <p:cNvPr id="6" name="Google Shape;159;p27">
            <a:extLst>
              <a:ext uri="{FF2B5EF4-FFF2-40B4-BE49-F238E27FC236}">
                <a16:creationId xmlns:a16="http://schemas.microsoft.com/office/drawing/2014/main" id="{9D991F0C-D7E4-70E5-0096-01D3424D122C}"/>
              </a:ext>
            </a:extLst>
          </p:cNvPr>
          <p:cNvSpPr/>
          <p:nvPr/>
        </p:nvSpPr>
        <p:spPr>
          <a:xfrm>
            <a:off x="0" y="-26550"/>
            <a:ext cx="722700" cy="5196600"/>
          </a:xfrm>
          <a:prstGeom prst="rect">
            <a:avLst/>
          </a:prstGeom>
          <a:solidFill>
            <a:srgbClr val="68BBCD"/>
          </a:solidFill>
          <a:ln w="9525" cap="flat" cmpd="sng">
            <a:solidFill>
              <a:srgbClr val="68BB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60;p27">
            <a:extLst>
              <a:ext uri="{FF2B5EF4-FFF2-40B4-BE49-F238E27FC236}">
                <a16:creationId xmlns:a16="http://schemas.microsoft.com/office/drawing/2014/main" id="{A5931B34-1308-488B-3F1B-5D0F79C608BC}"/>
              </a:ext>
            </a:extLst>
          </p:cNvPr>
          <p:cNvSpPr/>
          <p:nvPr/>
        </p:nvSpPr>
        <p:spPr>
          <a:xfrm>
            <a:off x="8421300" y="-26550"/>
            <a:ext cx="722700" cy="5196600"/>
          </a:xfrm>
          <a:prstGeom prst="rect">
            <a:avLst/>
          </a:prstGeom>
          <a:solidFill>
            <a:srgbClr val="68BBCD"/>
          </a:solidFill>
          <a:ln w="9525" cap="flat" cmpd="sng">
            <a:solidFill>
              <a:srgbClr val="68BB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1157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A4D80355-60D0-47D0-FC7C-7C7399836CC5}"/>
              </a:ext>
            </a:extLst>
          </p:cNvPr>
          <p:cNvGrpSpPr/>
          <p:nvPr/>
        </p:nvGrpSpPr>
        <p:grpSpPr>
          <a:xfrm>
            <a:off x="647700" y="1949790"/>
            <a:ext cx="1397945" cy="1397945"/>
            <a:chOff x="0" y="0"/>
            <a:chExt cx="812800" cy="812800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3E76919C-840E-4A24-2C41-D871C97A3E0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8BBCD"/>
            </a:solidFill>
          </p:spPr>
          <p:txBody>
            <a:bodyPr/>
            <a:lstStyle/>
            <a:p>
              <a:endParaRPr lang="ko-KR" altLang="en-US" sz="700"/>
            </a:p>
          </p:txBody>
        </p:sp>
        <p:sp>
          <p:nvSpPr>
            <p:cNvPr id="6" name="TextBox 4">
              <a:extLst>
                <a:ext uri="{FF2B5EF4-FFF2-40B4-BE49-F238E27FC236}">
                  <a16:creationId xmlns:a16="http://schemas.microsoft.com/office/drawing/2014/main" id="{19765B02-213C-0DAD-D60E-27CDD7B76C3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575"/>
                </a:lnSpc>
              </a:pPr>
              <a:endParaRPr sz="700"/>
            </a:p>
          </p:txBody>
        </p:sp>
      </p:grpSp>
      <p:sp>
        <p:nvSpPr>
          <p:cNvPr id="7" name="AutoShape 8">
            <a:extLst>
              <a:ext uri="{FF2B5EF4-FFF2-40B4-BE49-F238E27FC236}">
                <a16:creationId xmlns:a16="http://schemas.microsoft.com/office/drawing/2014/main" id="{ABFCAB99-AB16-F8EA-F2F2-0A4135A33651}"/>
              </a:ext>
            </a:extLst>
          </p:cNvPr>
          <p:cNvSpPr/>
          <p:nvPr/>
        </p:nvSpPr>
        <p:spPr>
          <a:xfrm flipV="1">
            <a:off x="2045645" y="1530078"/>
            <a:ext cx="572040" cy="1118684"/>
          </a:xfrm>
          <a:prstGeom prst="line">
            <a:avLst/>
          </a:prstGeom>
          <a:ln w="28575" cap="rnd">
            <a:solidFill>
              <a:srgbClr val="68BBCD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 sz="700"/>
          </a:p>
        </p:txBody>
      </p:sp>
      <p:grpSp>
        <p:nvGrpSpPr>
          <p:cNvPr id="8" name="Group 9">
            <a:extLst>
              <a:ext uri="{FF2B5EF4-FFF2-40B4-BE49-F238E27FC236}">
                <a16:creationId xmlns:a16="http://schemas.microsoft.com/office/drawing/2014/main" id="{330249DA-1498-800B-8126-6C548D888ADE}"/>
              </a:ext>
            </a:extLst>
          </p:cNvPr>
          <p:cNvGrpSpPr/>
          <p:nvPr/>
        </p:nvGrpSpPr>
        <p:grpSpPr>
          <a:xfrm>
            <a:off x="2616348" y="2367033"/>
            <a:ext cx="1612548" cy="560904"/>
            <a:chOff x="0" y="0"/>
            <a:chExt cx="937576" cy="326123"/>
          </a:xfrm>
        </p:grpSpPr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CED3041A-3034-DCA1-0793-9C989F0C3900}"/>
                </a:ext>
              </a:extLst>
            </p:cNvPr>
            <p:cNvSpPr/>
            <p:nvPr/>
          </p:nvSpPr>
          <p:spPr>
            <a:xfrm>
              <a:off x="0" y="0"/>
              <a:ext cx="937576" cy="326123"/>
            </a:xfrm>
            <a:custGeom>
              <a:avLst/>
              <a:gdLst/>
              <a:ahLst/>
              <a:cxnLst/>
              <a:rect l="l" t="t" r="r" b="b"/>
              <a:pathLst>
                <a:path w="937576" h="326123">
                  <a:moveTo>
                    <a:pt x="52812" y="0"/>
                  </a:moveTo>
                  <a:lnTo>
                    <a:pt x="884764" y="0"/>
                  </a:lnTo>
                  <a:cubicBezTo>
                    <a:pt x="898771" y="0"/>
                    <a:pt x="912204" y="5564"/>
                    <a:pt x="922108" y="15468"/>
                  </a:cubicBezTo>
                  <a:cubicBezTo>
                    <a:pt x="932012" y="25372"/>
                    <a:pt x="937576" y="38805"/>
                    <a:pt x="937576" y="52812"/>
                  </a:cubicBezTo>
                  <a:lnTo>
                    <a:pt x="937576" y="273312"/>
                  </a:lnTo>
                  <a:cubicBezTo>
                    <a:pt x="937576" y="287318"/>
                    <a:pt x="932012" y="300751"/>
                    <a:pt x="922108" y="310655"/>
                  </a:cubicBezTo>
                  <a:cubicBezTo>
                    <a:pt x="912204" y="320559"/>
                    <a:pt x="898771" y="326123"/>
                    <a:pt x="884764" y="326123"/>
                  </a:cubicBezTo>
                  <a:lnTo>
                    <a:pt x="52812" y="326123"/>
                  </a:lnTo>
                  <a:cubicBezTo>
                    <a:pt x="38805" y="326123"/>
                    <a:pt x="25372" y="320559"/>
                    <a:pt x="15468" y="310655"/>
                  </a:cubicBezTo>
                  <a:cubicBezTo>
                    <a:pt x="5564" y="300751"/>
                    <a:pt x="0" y="287318"/>
                    <a:pt x="0" y="273312"/>
                  </a:cubicBezTo>
                  <a:lnTo>
                    <a:pt x="0" y="52812"/>
                  </a:lnTo>
                  <a:cubicBezTo>
                    <a:pt x="0" y="38805"/>
                    <a:pt x="5564" y="25372"/>
                    <a:pt x="15468" y="15468"/>
                  </a:cubicBezTo>
                  <a:cubicBezTo>
                    <a:pt x="25372" y="5564"/>
                    <a:pt x="38805" y="0"/>
                    <a:pt x="52812" y="0"/>
                  </a:cubicBezTo>
                  <a:close/>
                </a:path>
              </a:pathLst>
            </a:custGeom>
            <a:solidFill>
              <a:srgbClr val="EBF0F1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ko-KR" altLang="en-US" sz="700"/>
            </a:p>
          </p:txBody>
        </p:sp>
        <p:sp>
          <p:nvSpPr>
            <p:cNvPr id="10" name="TextBox 11">
              <a:extLst>
                <a:ext uri="{FF2B5EF4-FFF2-40B4-BE49-F238E27FC236}">
                  <a16:creationId xmlns:a16="http://schemas.microsoft.com/office/drawing/2014/main" id="{6FF4B0E7-BCB9-F7C9-E662-8E17371B5307}"/>
                </a:ext>
              </a:extLst>
            </p:cNvPr>
            <p:cNvSpPr txBox="1"/>
            <p:nvPr/>
          </p:nvSpPr>
          <p:spPr>
            <a:xfrm>
              <a:off x="0" y="-57150"/>
              <a:ext cx="937576" cy="38327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575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11" name="AutoShape 12">
            <a:extLst>
              <a:ext uri="{FF2B5EF4-FFF2-40B4-BE49-F238E27FC236}">
                <a16:creationId xmlns:a16="http://schemas.microsoft.com/office/drawing/2014/main" id="{028E55FB-968F-12A0-8981-A4B7D1FAD4CA}"/>
              </a:ext>
            </a:extLst>
          </p:cNvPr>
          <p:cNvSpPr/>
          <p:nvPr/>
        </p:nvSpPr>
        <p:spPr>
          <a:xfrm flipV="1">
            <a:off x="2045645" y="2647485"/>
            <a:ext cx="572041" cy="1277"/>
          </a:xfrm>
          <a:prstGeom prst="line">
            <a:avLst/>
          </a:prstGeom>
          <a:ln w="28575" cap="rnd">
            <a:solidFill>
              <a:srgbClr val="68BBCD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 sz="700"/>
          </a:p>
        </p:txBody>
      </p:sp>
      <p:grpSp>
        <p:nvGrpSpPr>
          <p:cNvPr id="12" name="Group 20">
            <a:extLst>
              <a:ext uri="{FF2B5EF4-FFF2-40B4-BE49-F238E27FC236}">
                <a16:creationId xmlns:a16="http://schemas.microsoft.com/office/drawing/2014/main" id="{62661859-D79C-9C79-B7FB-87C5C45E8207}"/>
              </a:ext>
            </a:extLst>
          </p:cNvPr>
          <p:cNvGrpSpPr/>
          <p:nvPr/>
        </p:nvGrpSpPr>
        <p:grpSpPr>
          <a:xfrm>
            <a:off x="4629129" y="1188654"/>
            <a:ext cx="3026313" cy="659197"/>
            <a:chOff x="0" y="0"/>
            <a:chExt cx="1753042" cy="326123"/>
          </a:xfrm>
        </p:grpSpPr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C881D64-A86F-0356-99F9-7C35954481C1}"/>
                </a:ext>
              </a:extLst>
            </p:cNvPr>
            <p:cNvSpPr/>
            <p:nvPr/>
          </p:nvSpPr>
          <p:spPr>
            <a:xfrm>
              <a:off x="0" y="0"/>
              <a:ext cx="1753042" cy="326123"/>
            </a:xfrm>
            <a:custGeom>
              <a:avLst/>
              <a:gdLst/>
              <a:ahLst/>
              <a:cxnLst/>
              <a:rect l="l" t="t" r="r" b="b"/>
              <a:pathLst>
                <a:path w="1753042" h="326123">
                  <a:moveTo>
                    <a:pt x="28245" y="0"/>
                  </a:moveTo>
                  <a:lnTo>
                    <a:pt x="1724797" y="0"/>
                  </a:lnTo>
                  <a:cubicBezTo>
                    <a:pt x="1740397" y="0"/>
                    <a:pt x="1753042" y="12646"/>
                    <a:pt x="1753042" y="28245"/>
                  </a:cubicBezTo>
                  <a:lnTo>
                    <a:pt x="1753042" y="297878"/>
                  </a:lnTo>
                  <a:cubicBezTo>
                    <a:pt x="1753042" y="313478"/>
                    <a:pt x="1740397" y="326123"/>
                    <a:pt x="1724797" y="326123"/>
                  </a:cubicBezTo>
                  <a:lnTo>
                    <a:pt x="28245" y="326123"/>
                  </a:lnTo>
                  <a:cubicBezTo>
                    <a:pt x="12646" y="326123"/>
                    <a:pt x="0" y="313478"/>
                    <a:pt x="0" y="297878"/>
                  </a:cubicBezTo>
                  <a:lnTo>
                    <a:pt x="0" y="28245"/>
                  </a:lnTo>
                  <a:cubicBezTo>
                    <a:pt x="0" y="12646"/>
                    <a:pt x="12646" y="0"/>
                    <a:pt x="28245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68BBCD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 sz="700"/>
            </a:p>
          </p:txBody>
        </p:sp>
        <p:sp>
          <p:nvSpPr>
            <p:cNvPr id="14" name="TextBox 22">
              <a:extLst>
                <a:ext uri="{FF2B5EF4-FFF2-40B4-BE49-F238E27FC236}">
                  <a16:creationId xmlns:a16="http://schemas.microsoft.com/office/drawing/2014/main" id="{05FBDD71-3C7E-95E7-B6A8-78A32306F678}"/>
                </a:ext>
              </a:extLst>
            </p:cNvPr>
            <p:cNvSpPr txBox="1"/>
            <p:nvPr/>
          </p:nvSpPr>
          <p:spPr>
            <a:xfrm>
              <a:off x="0" y="-57150"/>
              <a:ext cx="1753042" cy="38327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575"/>
                </a:lnSpc>
              </a:pPr>
              <a:endParaRPr sz="700"/>
            </a:p>
          </p:txBody>
        </p:sp>
      </p:grpSp>
      <p:sp>
        <p:nvSpPr>
          <p:cNvPr id="15" name="AutoShape 23">
            <a:extLst>
              <a:ext uri="{FF2B5EF4-FFF2-40B4-BE49-F238E27FC236}">
                <a16:creationId xmlns:a16="http://schemas.microsoft.com/office/drawing/2014/main" id="{A895E36B-6146-B8DF-B1C2-C98888812705}"/>
              </a:ext>
            </a:extLst>
          </p:cNvPr>
          <p:cNvSpPr/>
          <p:nvPr/>
        </p:nvSpPr>
        <p:spPr>
          <a:xfrm flipV="1">
            <a:off x="4246408" y="1530078"/>
            <a:ext cx="382139" cy="0"/>
          </a:xfrm>
          <a:prstGeom prst="line">
            <a:avLst/>
          </a:prstGeom>
          <a:ln w="28575" cap="rnd">
            <a:solidFill>
              <a:srgbClr val="68BBCD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 sz="700"/>
          </a:p>
        </p:txBody>
      </p:sp>
      <p:sp>
        <p:nvSpPr>
          <p:cNvPr id="16" name="TextBox 44">
            <a:extLst>
              <a:ext uri="{FF2B5EF4-FFF2-40B4-BE49-F238E27FC236}">
                <a16:creationId xmlns:a16="http://schemas.microsoft.com/office/drawing/2014/main" id="{DB5476C3-9A93-B1FC-D9B9-C98BC05376E3}"/>
              </a:ext>
            </a:extLst>
          </p:cNvPr>
          <p:cNvSpPr txBox="1"/>
          <p:nvPr/>
        </p:nvSpPr>
        <p:spPr>
          <a:xfrm>
            <a:off x="800683" y="2194612"/>
            <a:ext cx="1062877" cy="920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5"/>
              </a:lnSpc>
              <a:spcBef>
                <a:spcPct val="0"/>
              </a:spcBef>
            </a:pPr>
            <a:r>
              <a:rPr lang="ko-KR" altLang="en-US" sz="1200" b="1" spc="-50" dirty="0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사용자 맞춤형 </a:t>
            </a:r>
            <a:r>
              <a:rPr lang="en-US" altLang="ko-KR" sz="1200" b="1" spc="-50" dirty="0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AI</a:t>
            </a:r>
            <a:r>
              <a:rPr lang="ko-KR" altLang="en-US" sz="1200" b="1" spc="-50" dirty="0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금융 지식 답변 서비스 </a:t>
            </a:r>
            <a:endParaRPr lang="en-US" altLang="ko-KR" sz="1200" b="1" spc="-50" dirty="0">
              <a:solidFill>
                <a:srgbClr val="FFFFFF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E2D8C0B-39E5-6B7D-891D-A9528F8E1618}"/>
              </a:ext>
            </a:extLst>
          </p:cNvPr>
          <p:cNvGrpSpPr/>
          <p:nvPr/>
        </p:nvGrpSpPr>
        <p:grpSpPr>
          <a:xfrm>
            <a:off x="2617685" y="1238250"/>
            <a:ext cx="1612548" cy="560904"/>
            <a:chOff x="5921578" y="2991573"/>
            <a:chExt cx="3225096" cy="1121807"/>
          </a:xfrm>
        </p:grpSpPr>
        <p:grpSp>
          <p:nvGrpSpPr>
            <p:cNvPr id="18" name="Group 5">
              <a:extLst>
                <a:ext uri="{FF2B5EF4-FFF2-40B4-BE49-F238E27FC236}">
                  <a16:creationId xmlns:a16="http://schemas.microsoft.com/office/drawing/2014/main" id="{F5DDBF0A-061D-1DA5-7885-33E7DB40953A}"/>
                </a:ext>
              </a:extLst>
            </p:cNvPr>
            <p:cNvGrpSpPr/>
            <p:nvPr/>
          </p:nvGrpSpPr>
          <p:grpSpPr>
            <a:xfrm>
              <a:off x="5921578" y="2991573"/>
              <a:ext cx="3225096" cy="1121807"/>
              <a:chOff x="0" y="0"/>
              <a:chExt cx="937576" cy="326123"/>
            </a:xfrm>
          </p:grpSpPr>
          <p:sp>
            <p:nvSpPr>
              <p:cNvPr id="20" name="Freeform 6">
                <a:extLst>
                  <a:ext uri="{FF2B5EF4-FFF2-40B4-BE49-F238E27FC236}">
                    <a16:creationId xmlns:a16="http://schemas.microsoft.com/office/drawing/2014/main" id="{8A5DA2AC-E2B6-C066-50FD-3966212EE1A4}"/>
                  </a:ext>
                </a:extLst>
              </p:cNvPr>
              <p:cNvSpPr/>
              <p:nvPr/>
            </p:nvSpPr>
            <p:spPr>
              <a:xfrm>
                <a:off x="0" y="0"/>
                <a:ext cx="937576" cy="326123"/>
              </a:xfrm>
              <a:custGeom>
                <a:avLst/>
                <a:gdLst/>
                <a:ahLst/>
                <a:cxnLst/>
                <a:rect l="l" t="t" r="r" b="b"/>
                <a:pathLst>
                  <a:path w="937576" h="326123">
                    <a:moveTo>
                      <a:pt x="52812" y="0"/>
                    </a:moveTo>
                    <a:lnTo>
                      <a:pt x="884764" y="0"/>
                    </a:lnTo>
                    <a:cubicBezTo>
                      <a:pt x="898771" y="0"/>
                      <a:pt x="912204" y="5564"/>
                      <a:pt x="922108" y="15468"/>
                    </a:cubicBezTo>
                    <a:cubicBezTo>
                      <a:pt x="932012" y="25372"/>
                      <a:pt x="937576" y="38805"/>
                      <a:pt x="937576" y="52812"/>
                    </a:cubicBezTo>
                    <a:lnTo>
                      <a:pt x="937576" y="273312"/>
                    </a:lnTo>
                    <a:cubicBezTo>
                      <a:pt x="937576" y="287318"/>
                      <a:pt x="932012" y="300751"/>
                      <a:pt x="922108" y="310655"/>
                    </a:cubicBezTo>
                    <a:cubicBezTo>
                      <a:pt x="912204" y="320559"/>
                      <a:pt x="898771" y="326123"/>
                      <a:pt x="884764" y="326123"/>
                    </a:cubicBezTo>
                    <a:lnTo>
                      <a:pt x="52812" y="326123"/>
                    </a:lnTo>
                    <a:cubicBezTo>
                      <a:pt x="38805" y="326123"/>
                      <a:pt x="25372" y="320559"/>
                      <a:pt x="15468" y="310655"/>
                    </a:cubicBezTo>
                    <a:cubicBezTo>
                      <a:pt x="5564" y="300751"/>
                      <a:pt x="0" y="287318"/>
                      <a:pt x="0" y="273312"/>
                    </a:cubicBezTo>
                    <a:lnTo>
                      <a:pt x="0" y="52812"/>
                    </a:lnTo>
                    <a:cubicBezTo>
                      <a:pt x="0" y="38805"/>
                      <a:pt x="5564" y="25372"/>
                      <a:pt x="15468" y="15468"/>
                    </a:cubicBezTo>
                    <a:cubicBezTo>
                      <a:pt x="25372" y="5564"/>
                      <a:pt x="38805" y="0"/>
                      <a:pt x="52812" y="0"/>
                    </a:cubicBezTo>
                    <a:close/>
                  </a:path>
                </a:pathLst>
              </a:custGeom>
              <a:solidFill>
                <a:srgbClr val="EBF0F1"/>
              </a:solidFill>
            </p:spPr>
            <p:txBody>
              <a:bodyPr/>
              <a:lstStyle/>
              <a:p>
                <a:endParaRPr lang="ko-KR" altLang="en-US" sz="700"/>
              </a:p>
            </p:txBody>
          </p:sp>
          <p:sp>
            <p:nvSpPr>
              <p:cNvPr id="21" name="TextBox 7">
                <a:extLst>
                  <a:ext uri="{FF2B5EF4-FFF2-40B4-BE49-F238E27FC236}">
                    <a16:creationId xmlns:a16="http://schemas.microsoft.com/office/drawing/2014/main" id="{3BA022EC-7174-011F-0072-9C4BCC92D03C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937576" cy="383273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575"/>
                  </a:lnSpc>
                </a:pPr>
                <a:endParaRPr sz="700"/>
              </a:p>
            </p:txBody>
          </p:sp>
        </p:grpSp>
        <p:sp>
          <p:nvSpPr>
            <p:cNvPr id="19" name="TextBox 45">
              <a:extLst>
                <a:ext uri="{FF2B5EF4-FFF2-40B4-BE49-F238E27FC236}">
                  <a16:creationId xmlns:a16="http://schemas.microsoft.com/office/drawing/2014/main" id="{BCDFD81E-ECB5-53B4-C873-EF1CCDF7AE77}"/>
                </a:ext>
              </a:extLst>
            </p:cNvPr>
            <p:cNvSpPr txBox="1"/>
            <p:nvPr/>
          </p:nvSpPr>
          <p:spPr>
            <a:xfrm>
              <a:off x="6239720" y="3293397"/>
              <a:ext cx="2588814" cy="424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ko-KR" altLang="en-US" sz="1200" b="1" spc="-36" dirty="0">
                  <a:solidFill>
                    <a:schemeClr val="tx1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수요</a:t>
              </a:r>
              <a:endParaRPr lang="en-US" sz="1200" b="1" spc="-36" dirty="0">
                <a:solidFill>
                  <a:schemeClr val="tx1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endParaRPr>
            </a:p>
          </p:txBody>
        </p:sp>
      </p:grpSp>
      <p:sp>
        <p:nvSpPr>
          <p:cNvPr id="22" name="TextBox 47">
            <a:extLst>
              <a:ext uri="{FF2B5EF4-FFF2-40B4-BE49-F238E27FC236}">
                <a16:creationId xmlns:a16="http://schemas.microsoft.com/office/drawing/2014/main" id="{CF538C0B-70EC-CCA9-FE7C-DF81B01BE17D}"/>
              </a:ext>
            </a:extLst>
          </p:cNvPr>
          <p:cNvSpPr txBox="1"/>
          <p:nvPr/>
        </p:nvSpPr>
        <p:spPr>
          <a:xfrm>
            <a:off x="2776756" y="2523463"/>
            <a:ext cx="1294407" cy="21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ko-KR" altLang="en-US" sz="1200" b="1" spc="-36" dirty="0">
                <a:solidFill>
                  <a:schemeClr val="tx1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시장 경쟁력</a:t>
            </a:r>
            <a:endParaRPr lang="en-US" sz="1200" b="1" spc="-36" dirty="0">
              <a:solidFill>
                <a:schemeClr val="tx1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grpSp>
        <p:nvGrpSpPr>
          <p:cNvPr id="23" name="Group 13">
            <a:extLst>
              <a:ext uri="{FF2B5EF4-FFF2-40B4-BE49-F238E27FC236}">
                <a16:creationId xmlns:a16="http://schemas.microsoft.com/office/drawing/2014/main" id="{B6DFED0C-9C92-72B9-57F0-6352B391F790}"/>
              </a:ext>
            </a:extLst>
          </p:cNvPr>
          <p:cNvGrpSpPr/>
          <p:nvPr/>
        </p:nvGrpSpPr>
        <p:grpSpPr>
          <a:xfrm>
            <a:off x="2616348" y="3604312"/>
            <a:ext cx="1612548" cy="560904"/>
            <a:chOff x="0" y="0"/>
            <a:chExt cx="937576" cy="326123"/>
          </a:xfrm>
        </p:grpSpPr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EECC912C-B4ED-8B4E-80AA-CD405D09EF96}"/>
                </a:ext>
              </a:extLst>
            </p:cNvPr>
            <p:cNvSpPr/>
            <p:nvPr/>
          </p:nvSpPr>
          <p:spPr>
            <a:xfrm>
              <a:off x="0" y="0"/>
              <a:ext cx="937576" cy="326123"/>
            </a:xfrm>
            <a:custGeom>
              <a:avLst/>
              <a:gdLst/>
              <a:ahLst/>
              <a:cxnLst/>
              <a:rect l="l" t="t" r="r" b="b"/>
              <a:pathLst>
                <a:path w="937576" h="326123">
                  <a:moveTo>
                    <a:pt x="52812" y="0"/>
                  </a:moveTo>
                  <a:lnTo>
                    <a:pt x="884764" y="0"/>
                  </a:lnTo>
                  <a:cubicBezTo>
                    <a:pt x="898771" y="0"/>
                    <a:pt x="912204" y="5564"/>
                    <a:pt x="922108" y="15468"/>
                  </a:cubicBezTo>
                  <a:cubicBezTo>
                    <a:pt x="932012" y="25372"/>
                    <a:pt x="937576" y="38805"/>
                    <a:pt x="937576" y="52812"/>
                  </a:cubicBezTo>
                  <a:lnTo>
                    <a:pt x="937576" y="273312"/>
                  </a:lnTo>
                  <a:cubicBezTo>
                    <a:pt x="937576" y="287318"/>
                    <a:pt x="932012" y="300751"/>
                    <a:pt x="922108" y="310655"/>
                  </a:cubicBezTo>
                  <a:cubicBezTo>
                    <a:pt x="912204" y="320559"/>
                    <a:pt x="898771" y="326123"/>
                    <a:pt x="884764" y="326123"/>
                  </a:cubicBezTo>
                  <a:lnTo>
                    <a:pt x="52812" y="326123"/>
                  </a:lnTo>
                  <a:cubicBezTo>
                    <a:pt x="38805" y="326123"/>
                    <a:pt x="25372" y="320559"/>
                    <a:pt x="15468" y="310655"/>
                  </a:cubicBezTo>
                  <a:cubicBezTo>
                    <a:pt x="5564" y="300751"/>
                    <a:pt x="0" y="287318"/>
                    <a:pt x="0" y="273312"/>
                  </a:cubicBezTo>
                  <a:lnTo>
                    <a:pt x="0" y="52812"/>
                  </a:lnTo>
                  <a:cubicBezTo>
                    <a:pt x="0" y="38805"/>
                    <a:pt x="5564" y="25372"/>
                    <a:pt x="15468" y="15468"/>
                  </a:cubicBezTo>
                  <a:cubicBezTo>
                    <a:pt x="25372" y="5564"/>
                    <a:pt x="38805" y="0"/>
                    <a:pt x="52812" y="0"/>
                  </a:cubicBezTo>
                  <a:close/>
                </a:path>
              </a:pathLst>
            </a:custGeom>
            <a:solidFill>
              <a:srgbClr val="EBF0F1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ko-KR" altLang="en-US" sz="700"/>
            </a:p>
          </p:txBody>
        </p:sp>
        <p:sp>
          <p:nvSpPr>
            <p:cNvPr id="25" name="TextBox 15">
              <a:extLst>
                <a:ext uri="{FF2B5EF4-FFF2-40B4-BE49-F238E27FC236}">
                  <a16:creationId xmlns:a16="http://schemas.microsoft.com/office/drawing/2014/main" id="{0E867B56-73A1-4021-DD9F-C17A14228321}"/>
                </a:ext>
              </a:extLst>
            </p:cNvPr>
            <p:cNvSpPr txBox="1"/>
            <p:nvPr/>
          </p:nvSpPr>
          <p:spPr>
            <a:xfrm>
              <a:off x="0" y="-57150"/>
              <a:ext cx="937576" cy="38327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575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26" name="AutoShape 19">
            <a:extLst>
              <a:ext uri="{FF2B5EF4-FFF2-40B4-BE49-F238E27FC236}">
                <a16:creationId xmlns:a16="http://schemas.microsoft.com/office/drawing/2014/main" id="{B80F51A5-4140-F54E-F5EC-F4FFBC0697EA}"/>
              </a:ext>
            </a:extLst>
          </p:cNvPr>
          <p:cNvSpPr/>
          <p:nvPr/>
        </p:nvSpPr>
        <p:spPr>
          <a:xfrm>
            <a:off x="2019458" y="2626763"/>
            <a:ext cx="573236" cy="1245298"/>
          </a:xfrm>
          <a:prstGeom prst="line">
            <a:avLst/>
          </a:prstGeom>
          <a:ln w="28575" cap="rnd">
            <a:solidFill>
              <a:srgbClr val="68BBCD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 sz="700"/>
          </a:p>
        </p:txBody>
      </p:sp>
      <p:sp>
        <p:nvSpPr>
          <p:cNvPr id="27" name="TextBox 48">
            <a:extLst>
              <a:ext uri="{FF2B5EF4-FFF2-40B4-BE49-F238E27FC236}">
                <a16:creationId xmlns:a16="http://schemas.microsoft.com/office/drawing/2014/main" id="{142B778F-E9A6-3B61-11B4-9708E26ADAE5}"/>
              </a:ext>
            </a:extLst>
          </p:cNvPr>
          <p:cNvSpPr txBox="1"/>
          <p:nvPr/>
        </p:nvSpPr>
        <p:spPr>
          <a:xfrm>
            <a:off x="2773069" y="3775369"/>
            <a:ext cx="1294407" cy="21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ko-KR" altLang="en-US" sz="1200" b="1" spc="-36" dirty="0">
                <a:solidFill>
                  <a:schemeClr val="tx1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사업화</a:t>
            </a:r>
            <a:endParaRPr lang="en-US" sz="1200" b="1" spc="-36" dirty="0">
              <a:solidFill>
                <a:schemeClr val="tx1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grpSp>
        <p:nvGrpSpPr>
          <p:cNvPr id="28" name="Group 20">
            <a:extLst>
              <a:ext uri="{FF2B5EF4-FFF2-40B4-BE49-F238E27FC236}">
                <a16:creationId xmlns:a16="http://schemas.microsoft.com/office/drawing/2014/main" id="{27C0E40A-B869-CE46-3DD0-112740506D43}"/>
              </a:ext>
            </a:extLst>
          </p:cNvPr>
          <p:cNvGrpSpPr/>
          <p:nvPr/>
        </p:nvGrpSpPr>
        <p:grpSpPr>
          <a:xfrm>
            <a:off x="4628547" y="2217664"/>
            <a:ext cx="4175211" cy="786582"/>
            <a:chOff x="0" y="0"/>
            <a:chExt cx="1753042" cy="326123"/>
          </a:xfrm>
        </p:grpSpPr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9BD215BD-C751-A5B1-CB6A-F4891F7D9EAE}"/>
                </a:ext>
              </a:extLst>
            </p:cNvPr>
            <p:cNvSpPr/>
            <p:nvPr/>
          </p:nvSpPr>
          <p:spPr>
            <a:xfrm>
              <a:off x="0" y="0"/>
              <a:ext cx="1753042" cy="326123"/>
            </a:xfrm>
            <a:custGeom>
              <a:avLst/>
              <a:gdLst/>
              <a:ahLst/>
              <a:cxnLst/>
              <a:rect l="l" t="t" r="r" b="b"/>
              <a:pathLst>
                <a:path w="1753042" h="326123">
                  <a:moveTo>
                    <a:pt x="28245" y="0"/>
                  </a:moveTo>
                  <a:lnTo>
                    <a:pt x="1724797" y="0"/>
                  </a:lnTo>
                  <a:cubicBezTo>
                    <a:pt x="1740397" y="0"/>
                    <a:pt x="1753042" y="12646"/>
                    <a:pt x="1753042" y="28245"/>
                  </a:cubicBezTo>
                  <a:lnTo>
                    <a:pt x="1753042" y="297878"/>
                  </a:lnTo>
                  <a:cubicBezTo>
                    <a:pt x="1753042" y="313478"/>
                    <a:pt x="1740397" y="326123"/>
                    <a:pt x="1724797" y="326123"/>
                  </a:cubicBezTo>
                  <a:lnTo>
                    <a:pt x="28245" y="326123"/>
                  </a:lnTo>
                  <a:cubicBezTo>
                    <a:pt x="12646" y="326123"/>
                    <a:pt x="0" y="313478"/>
                    <a:pt x="0" y="297878"/>
                  </a:cubicBezTo>
                  <a:lnTo>
                    <a:pt x="0" y="28245"/>
                  </a:lnTo>
                  <a:cubicBezTo>
                    <a:pt x="0" y="12646"/>
                    <a:pt x="12646" y="0"/>
                    <a:pt x="28245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68BBCD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 sz="700" dirty="0"/>
            </a:p>
          </p:txBody>
        </p:sp>
        <p:sp>
          <p:nvSpPr>
            <p:cNvPr id="30" name="TextBox 22">
              <a:extLst>
                <a:ext uri="{FF2B5EF4-FFF2-40B4-BE49-F238E27FC236}">
                  <a16:creationId xmlns:a16="http://schemas.microsoft.com/office/drawing/2014/main" id="{8B9E5C66-E1FC-F0E6-0C6A-38AD22DA2E76}"/>
                </a:ext>
              </a:extLst>
            </p:cNvPr>
            <p:cNvSpPr txBox="1"/>
            <p:nvPr/>
          </p:nvSpPr>
          <p:spPr>
            <a:xfrm>
              <a:off x="0" y="-57150"/>
              <a:ext cx="1753042" cy="38327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575"/>
                </a:lnSpc>
              </a:pPr>
              <a:endParaRPr sz="700"/>
            </a:p>
          </p:txBody>
        </p:sp>
      </p:grpSp>
      <p:grpSp>
        <p:nvGrpSpPr>
          <p:cNvPr id="31" name="Group 20">
            <a:extLst>
              <a:ext uri="{FF2B5EF4-FFF2-40B4-BE49-F238E27FC236}">
                <a16:creationId xmlns:a16="http://schemas.microsoft.com/office/drawing/2014/main" id="{BB80E7EF-4D59-4FE1-3DF6-AB9EB097D8BA}"/>
              </a:ext>
            </a:extLst>
          </p:cNvPr>
          <p:cNvGrpSpPr/>
          <p:nvPr/>
        </p:nvGrpSpPr>
        <p:grpSpPr>
          <a:xfrm>
            <a:off x="4628547" y="3295650"/>
            <a:ext cx="3147397" cy="1134301"/>
            <a:chOff x="0" y="0"/>
            <a:chExt cx="1753042" cy="326123"/>
          </a:xfrm>
        </p:grpSpPr>
        <p:sp>
          <p:nvSpPr>
            <p:cNvPr id="32" name="Freeform 21">
              <a:extLst>
                <a:ext uri="{FF2B5EF4-FFF2-40B4-BE49-F238E27FC236}">
                  <a16:creationId xmlns:a16="http://schemas.microsoft.com/office/drawing/2014/main" id="{40BEA77F-FA6C-E2F3-D7BE-D49DE55C6ED2}"/>
                </a:ext>
              </a:extLst>
            </p:cNvPr>
            <p:cNvSpPr/>
            <p:nvPr/>
          </p:nvSpPr>
          <p:spPr>
            <a:xfrm>
              <a:off x="0" y="0"/>
              <a:ext cx="1753042" cy="326123"/>
            </a:xfrm>
            <a:custGeom>
              <a:avLst/>
              <a:gdLst/>
              <a:ahLst/>
              <a:cxnLst/>
              <a:rect l="l" t="t" r="r" b="b"/>
              <a:pathLst>
                <a:path w="1753042" h="326123">
                  <a:moveTo>
                    <a:pt x="28245" y="0"/>
                  </a:moveTo>
                  <a:lnTo>
                    <a:pt x="1724797" y="0"/>
                  </a:lnTo>
                  <a:cubicBezTo>
                    <a:pt x="1740397" y="0"/>
                    <a:pt x="1753042" y="12646"/>
                    <a:pt x="1753042" y="28245"/>
                  </a:cubicBezTo>
                  <a:lnTo>
                    <a:pt x="1753042" y="297878"/>
                  </a:lnTo>
                  <a:cubicBezTo>
                    <a:pt x="1753042" y="313478"/>
                    <a:pt x="1740397" y="326123"/>
                    <a:pt x="1724797" y="326123"/>
                  </a:cubicBezTo>
                  <a:lnTo>
                    <a:pt x="28245" y="326123"/>
                  </a:lnTo>
                  <a:cubicBezTo>
                    <a:pt x="12646" y="326123"/>
                    <a:pt x="0" y="313478"/>
                    <a:pt x="0" y="297878"/>
                  </a:cubicBezTo>
                  <a:lnTo>
                    <a:pt x="0" y="28245"/>
                  </a:lnTo>
                  <a:cubicBezTo>
                    <a:pt x="0" y="12646"/>
                    <a:pt x="12646" y="0"/>
                    <a:pt x="28245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68BBCD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 sz="700"/>
            </a:p>
          </p:txBody>
        </p:sp>
        <p:sp>
          <p:nvSpPr>
            <p:cNvPr id="33" name="TextBox 22">
              <a:extLst>
                <a:ext uri="{FF2B5EF4-FFF2-40B4-BE49-F238E27FC236}">
                  <a16:creationId xmlns:a16="http://schemas.microsoft.com/office/drawing/2014/main" id="{EFD1B8FA-5694-E333-4C3C-7D9C9B8DAE1C}"/>
                </a:ext>
              </a:extLst>
            </p:cNvPr>
            <p:cNvSpPr txBox="1"/>
            <p:nvPr/>
          </p:nvSpPr>
          <p:spPr>
            <a:xfrm>
              <a:off x="0" y="-57150"/>
              <a:ext cx="1753042" cy="38327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575"/>
                </a:lnSpc>
              </a:pPr>
              <a:endParaRPr sz="700"/>
            </a:p>
          </p:txBody>
        </p:sp>
      </p:grpSp>
      <p:sp>
        <p:nvSpPr>
          <p:cNvPr id="34" name="AutoShape 23">
            <a:extLst>
              <a:ext uri="{FF2B5EF4-FFF2-40B4-BE49-F238E27FC236}">
                <a16:creationId xmlns:a16="http://schemas.microsoft.com/office/drawing/2014/main" id="{5F174663-D8F7-13CB-944F-08741C874374}"/>
              </a:ext>
            </a:extLst>
          </p:cNvPr>
          <p:cNvSpPr/>
          <p:nvPr/>
        </p:nvSpPr>
        <p:spPr>
          <a:xfrm flipV="1">
            <a:off x="4228896" y="2643089"/>
            <a:ext cx="424642" cy="4396"/>
          </a:xfrm>
          <a:prstGeom prst="line">
            <a:avLst/>
          </a:prstGeom>
          <a:ln w="28575" cap="rnd">
            <a:solidFill>
              <a:srgbClr val="68BBCD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 sz="700"/>
          </a:p>
        </p:txBody>
      </p:sp>
      <p:sp>
        <p:nvSpPr>
          <p:cNvPr id="35" name="AutoShape 23">
            <a:extLst>
              <a:ext uri="{FF2B5EF4-FFF2-40B4-BE49-F238E27FC236}">
                <a16:creationId xmlns:a16="http://schemas.microsoft.com/office/drawing/2014/main" id="{573907A0-7303-BC3D-707C-92ACF9D933B7}"/>
              </a:ext>
            </a:extLst>
          </p:cNvPr>
          <p:cNvSpPr/>
          <p:nvPr/>
        </p:nvSpPr>
        <p:spPr>
          <a:xfrm>
            <a:off x="4203906" y="3872061"/>
            <a:ext cx="424641" cy="0"/>
          </a:xfrm>
          <a:prstGeom prst="line">
            <a:avLst/>
          </a:prstGeom>
          <a:ln w="28575" cap="rnd">
            <a:solidFill>
              <a:srgbClr val="68BBCD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 sz="700"/>
          </a:p>
        </p:txBody>
      </p:sp>
      <p:sp>
        <p:nvSpPr>
          <p:cNvPr id="36" name="TextBox 40">
            <a:extLst>
              <a:ext uri="{FF2B5EF4-FFF2-40B4-BE49-F238E27FC236}">
                <a16:creationId xmlns:a16="http://schemas.microsoft.com/office/drawing/2014/main" id="{E04A2F78-9545-F853-3CDD-50A945209B6E}"/>
              </a:ext>
            </a:extLst>
          </p:cNvPr>
          <p:cNvSpPr txBox="1"/>
          <p:nvPr/>
        </p:nvSpPr>
        <p:spPr>
          <a:xfrm>
            <a:off x="4827337" y="3461969"/>
            <a:ext cx="3279091" cy="800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spc="-33" dirty="0">
                <a:solidFill>
                  <a:srgbClr val="20344B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사용자 친화적인 </a:t>
            </a:r>
            <a:r>
              <a:rPr lang="en-US" altLang="ko-KR" sz="1200" spc="-33" dirty="0">
                <a:solidFill>
                  <a:srgbClr val="20344B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UI/UX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spc="-33" dirty="0">
                <a:solidFill>
                  <a:srgbClr val="20344B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개인 금융 상황 분석 및 맞춤형 조언</a:t>
            </a:r>
            <a:endParaRPr lang="en-US" altLang="ko-KR" sz="1200" spc="-33" dirty="0">
              <a:solidFill>
                <a:srgbClr val="20344B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spc="-33" dirty="0">
                <a:solidFill>
                  <a:srgbClr val="20344B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단계별 맞춤형 금융 교육 서비스 확장</a:t>
            </a:r>
            <a:endParaRPr lang="en-US" altLang="ko-KR" sz="1200" spc="-33" dirty="0">
              <a:solidFill>
                <a:srgbClr val="20344B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</p:txBody>
      </p:sp>
      <p:sp>
        <p:nvSpPr>
          <p:cNvPr id="37" name="TextBox 28">
            <a:extLst>
              <a:ext uri="{FF2B5EF4-FFF2-40B4-BE49-F238E27FC236}">
                <a16:creationId xmlns:a16="http://schemas.microsoft.com/office/drawing/2014/main" id="{50F3FE91-42E7-39F6-5F8D-47EB727F260A}"/>
              </a:ext>
            </a:extLst>
          </p:cNvPr>
          <p:cNvSpPr txBox="1"/>
          <p:nvPr/>
        </p:nvSpPr>
        <p:spPr>
          <a:xfrm>
            <a:off x="4811271" y="2302016"/>
            <a:ext cx="3893598" cy="523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spc="-33" dirty="0">
                <a:solidFill>
                  <a:srgbClr val="20344B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실시간 금융 데이터 통합 시스템 구축</a:t>
            </a:r>
            <a:endParaRPr lang="en-US" altLang="ko-KR" sz="1200" spc="-33" dirty="0">
              <a:solidFill>
                <a:srgbClr val="20344B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spc="-33" dirty="0">
                <a:solidFill>
                  <a:srgbClr val="20344B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금융 기관과의 협력을 통한 상품 홍보 및 잠재 사용자 확보</a:t>
            </a:r>
            <a:endParaRPr lang="en-US" altLang="ko-KR" sz="1098" spc="-33" dirty="0">
              <a:solidFill>
                <a:srgbClr val="20344B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</p:txBody>
      </p:sp>
      <p:sp>
        <p:nvSpPr>
          <p:cNvPr id="38" name="TextBox 40">
            <a:extLst>
              <a:ext uri="{FF2B5EF4-FFF2-40B4-BE49-F238E27FC236}">
                <a16:creationId xmlns:a16="http://schemas.microsoft.com/office/drawing/2014/main" id="{A495855A-37EE-17F2-D0AA-60D20D027D31}"/>
              </a:ext>
            </a:extLst>
          </p:cNvPr>
          <p:cNvSpPr txBox="1"/>
          <p:nvPr/>
        </p:nvSpPr>
        <p:spPr>
          <a:xfrm>
            <a:off x="4790782" y="1408398"/>
            <a:ext cx="3279091" cy="1930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lnSpc>
                <a:spcPts val="1647"/>
              </a:lnSpc>
              <a:buFont typeface="Arial" panose="020B0604020202020204" pitchFamily="34" charset="0"/>
              <a:buChar char="•"/>
            </a:pPr>
            <a:r>
              <a:rPr lang="ko-KR" altLang="en-US" sz="1200" spc="-33" dirty="0">
                <a:solidFill>
                  <a:srgbClr val="20344B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다양한 금융 지식을 쉽고 빠르게 습득</a:t>
            </a:r>
            <a:endParaRPr lang="en-US" altLang="ko-KR" sz="1200" spc="-33" dirty="0">
              <a:solidFill>
                <a:srgbClr val="20344B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</p:txBody>
      </p:sp>
      <p:sp>
        <p:nvSpPr>
          <p:cNvPr id="39" name="Google Shape;444;p41">
            <a:extLst>
              <a:ext uri="{FF2B5EF4-FFF2-40B4-BE49-F238E27FC236}">
                <a16:creationId xmlns:a16="http://schemas.microsoft.com/office/drawing/2014/main" id="{E4FEE6D8-691E-EEAE-8C60-A5037B8B4D9C}"/>
              </a:ext>
            </a:extLst>
          </p:cNvPr>
          <p:cNvSpPr txBox="1"/>
          <p:nvPr/>
        </p:nvSpPr>
        <p:spPr>
          <a:xfrm>
            <a:off x="221324" y="129109"/>
            <a:ext cx="333303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20344B"/>
                </a:solidFill>
              </a:rPr>
              <a:t>아이디어 발전 가능성</a:t>
            </a:r>
            <a:endParaRPr sz="700" b="1" dirty="0"/>
          </a:p>
        </p:txBody>
      </p:sp>
    </p:spTree>
    <p:extLst>
      <p:ext uri="{BB962C8B-B14F-4D97-AF65-F5344CB8AC3E}">
        <p14:creationId xmlns:p14="http://schemas.microsoft.com/office/powerpoint/2010/main" val="1268039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4B6F3B54-A590-A985-624D-D28E5AD2F0F0}"/>
              </a:ext>
            </a:extLst>
          </p:cNvPr>
          <p:cNvSpPr/>
          <p:nvPr/>
        </p:nvSpPr>
        <p:spPr>
          <a:xfrm>
            <a:off x="602240" y="4180439"/>
            <a:ext cx="5337816" cy="65374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CE0CB8D5-836A-808D-B376-400C323BDBFA}"/>
              </a:ext>
            </a:extLst>
          </p:cNvPr>
          <p:cNvSpPr/>
          <p:nvPr/>
        </p:nvSpPr>
        <p:spPr>
          <a:xfrm>
            <a:off x="586953" y="3112269"/>
            <a:ext cx="7877365" cy="65374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9CF4C15E-6E41-7273-42FD-19A80E8D3A45}"/>
              </a:ext>
            </a:extLst>
          </p:cNvPr>
          <p:cNvSpPr/>
          <p:nvPr/>
        </p:nvSpPr>
        <p:spPr>
          <a:xfrm>
            <a:off x="563020" y="2044840"/>
            <a:ext cx="5178561" cy="65374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A6B8B8A1-7819-E582-CAF6-8BC382C7E4B5}"/>
              </a:ext>
            </a:extLst>
          </p:cNvPr>
          <p:cNvSpPr/>
          <p:nvPr/>
        </p:nvSpPr>
        <p:spPr>
          <a:xfrm>
            <a:off x="543240" y="946245"/>
            <a:ext cx="5567550" cy="65374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pSp>
        <p:nvGrpSpPr>
          <p:cNvPr id="8" name="Group 6">
            <a:extLst>
              <a:ext uri="{FF2B5EF4-FFF2-40B4-BE49-F238E27FC236}">
                <a16:creationId xmlns:a16="http://schemas.microsoft.com/office/drawing/2014/main" id="{89A2FA18-342C-66BE-90F3-83433F723FD6}"/>
              </a:ext>
            </a:extLst>
          </p:cNvPr>
          <p:cNvGrpSpPr/>
          <p:nvPr/>
        </p:nvGrpSpPr>
        <p:grpSpPr>
          <a:xfrm>
            <a:off x="487615" y="1891366"/>
            <a:ext cx="2463287" cy="548514"/>
            <a:chOff x="0" y="0"/>
            <a:chExt cx="6007788" cy="5221293"/>
          </a:xfrm>
          <a:effectLst/>
        </p:grpSpPr>
        <p:grpSp>
          <p:nvGrpSpPr>
            <p:cNvPr id="9" name="Group 7">
              <a:extLst>
                <a:ext uri="{FF2B5EF4-FFF2-40B4-BE49-F238E27FC236}">
                  <a16:creationId xmlns:a16="http://schemas.microsoft.com/office/drawing/2014/main" id="{A285FB07-4F7D-9CD4-C4B2-BD9D803C9CDF}"/>
                </a:ext>
              </a:extLst>
            </p:cNvPr>
            <p:cNvGrpSpPr/>
            <p:nvPr/>
          </p:nvGrpSpPr>
          <p:grpSpPr>
            <a:xfrm>
              <a:off x="0" y="0"/>
              <a:ext cx="6007788" cy="3507953"/>
              <a:chOff x="0" y="0"/>
              <a:chExt cx="1309904" cy="764854"/>
            </a:xfrm>
          </p:grpSpPr>
          <p:sp>
            <p:nvSpPr>
              <p:cNvPr id="11" name="Freeform 8">
                <a:extLst>
                  <a:ext uri="{FF2B5EF4-FFF2-40B4-BE49-F238E27FC236}">
                    <a16:creationId xmlns:a16="http://schemas.microsoft.com/office/drawing/2014/main" id="{438F9FE7-66D4-8170-BCCB-90D1FD90EE7D}"/>
                  </a:ext>
                </a:extLst>
              </p:cNvPr>
              <p:cNvSpPr/>
              <p:nvPr/>
            </p:nvSpPr>
            <p:spPr>
              <a:xfrm>
                <a:off x="0" y="0"/>
                <a:ext cx="1309904" cy="764854"/>
              </a:xfrm>
              <a:custGeom>
                <a:avLst/>
                <a:gdLst/>
                <a:ahLst/>
                <a:cxnLst/>
                <a:rect l="l" t="t" r="r" b="b"/>
                <a:pathLst>
                  <a:path w="1309904" h="764854">
                    <a:moveTo>
                      <a:pt x="37800" y="0"/>
                    </a:moveTo>
                    <a:lnTo>
                      <a:pt x="1272104" y="0"/>
                    </a:lnTo>
                    <a:cubicBezTo>
                      <a:pt x="1292981" y="0"/>
                      <a:pt x="1309904" y="16924"/>
                      <a:pt x="1309904" y="37800"/>
                    </a:cubicBezTo>
                    <a:lnTo>
                      <a:pt x="1309904" y="727054"/>
                    </a:lnTo>
                    <a:cubicBezTo>
                      <a:pt x="1309904" y="747931"/>
                      <a:pt x="1292981" y="764854"/>
                      <a:pt x="1272104" y="764854"/>
                    </a:cubicBezTo>
                    <a:lnTo>
                      <a:pt x="37800" y="764854"/>
                    </a:lnTo>
                    <a:cubicBezTo>
                      <a:pt x="16924" y="764854"/>
                      <a:pt x="0" y="747931"/>
                      <a:pt x="0" y="727054"/>
                    </a:cubicBezTo>
                    <a:lnTo>
                      <a:pt x="0" y="37800"/>
                    </a:lnTo>
                    <a:cubicBezTo>
                      <a:pt x="0" y="16924"/>
                      <a:pt x="16924" y="0"/>
                      <a:pt x="378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68BBCD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 sz="700"/>
              </a:p>
            </p:txBody>
          </p:sp>
          <p:sp>
            <p:nvSpPr>
              <p:cNvPr id="12" name="TextBox 9">
                <a:extLst>
                  <a:ext uri="{FF2B5EF4-FFF2-40B4-BE49-F238E27FC236}">
                    <a16:creationId xmlns:a16="http://schemas.microsoft.com/office/drawing/2014/main" id="{638411A2-6CC3-01A0-FD6A-75B7510EB93B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309904" cy="822004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575"/>
                  </a:lnSpc>
                  <a:spcBef>
                    <a:spcPct val="0"/>
                  </a:spcBef>
                </a:pPr>
                <a:endParaRPr sz="700"/>
              </a:p>
            </p:txBody>
          </p:sp>
        </p:grpSp>
        <p:sp>
          <p:nvSpPr>
            <p:cNvPr id="10" name="TextBox 11">
              <a:extLst>
                <a:ext uri="{FF2B5EF4-FFF2-40B4-BE49-F238E27FC236}">
                  <a16:creationId xmlns:a16="http://schemas.microsoft.com/office/drawing/2014/main" id="{C5C48805-F3EE-55B7-742C-826C91A11D3C}"/>
                </a:ext>
              </a:extLst>
            </p:cNvPr>
            <p:cNvSpPr txBox="1"/>
            <p:nvPr/>
          </p:nvSpPr>
          <p:spPr>
            <a:xfrm>
              <a:off x="746743" y="545333"/>
              <a:ext cx="4504508" cy="4675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ko-KR" altLang="en-US" sz="1300" b="1" spc="-39" dirty="0">
                  <a:solidFill>
                    <a:srgbClr val="1195B2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금융 상품의 이용 활성화</a:t>
              </a:r>
              <a:endParaRPr lang="en-US" sz="1300" b="1" spc="-39" dirty="0">
                <a:solidFill>
                  <a:srgbClr val="1195B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A2FF458-EE4A-5A27-CE20-DF5B3D6BFB4F}"/>
              </a:ext>
            </a:extLst>
          </p:cNvPr>
          <p:cNvGrpSpPr/>
          <p:nvPr/>
        </p:nvGrpSpPr>
        <p:grpSpPr>
          <a:xfrm>
            <a:off x="525179" y="892939"/>
            <a:ext cx="2095500" cy="342900"/>
            <a:chOff x="0" y="0"/>
            <a:chExt cx="6007788" cy="3507953"/>
          </a:xfrm>
          <a:effectLst/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A6D0C46-EA96-0B80-1528-CDBFEE29B3E9}"/>
                </a:ext>
              </a:extLst>
            </p:cNvPr>
            <p:cNvGrpSpPr/>
            <p:nvPr/>
          </p:nvGrpSpPr>
          <p:grpSpPr>
            <a:xfrm>
              <a:off x="0" y="0"/>
              <a:ext cx="6007788" cy="3507953"/>
              <a:chOff x="0" y="0"/>
              <a:chExt cx="1309904" cy="764854"/>
            </a:xfrm>
          </p:grpSpPr>
          <p:sp>
            <p:nvSpPr>
              <p:cNvPr id="16" name="Freeform 14">
                <a:extLst>
                  <a:ext uri="{FF2B5EF4-FFF2-40B4-BE49-F238E27FC236}">
                    <a16:creationId xmlns:a16="http://schemas.microsoft.com/office/drawing/2014/main" id="{6A400764-3AAB-7C28-6BA4-D71A05C2A743}"/>
                  </a:ext>
                </a:extLst>
              </p:cNvPr>
              <p:cNvSpPr/>
              <p:nvPr/>
            </p:nvSpPr>
            <p:spPr>
              <a:xfrm>
                <a:off x="0" y="0"/>
                <a:ext cx="1309904" cy="764854"/>
              </a:xfrm>
              <a:custGeom>
                <a:avLst/>
                <a:gdLst/>
                <a:ahLst/>
                <a:cxnLst/>
                <a:rect l="l" t="t" r="r" b="b"/>
                <a:pathLst>
                  <a:path w="1309904" h="764854">
                    <a:moveTo>
                      <a:pt x="37800" y="0"/>
                    </a:moveTo>
                    <a:lnTo>
                      <a:pt x="1272104" y="0"/>
                    </a:lnTo>
                    <a:cubicBezTo>
                      <a:pt x="1292981" y="0"/>
                      <a:pt x="1309904" y="16924"/>
                      <a:pt x="1309904" y="37800"/>
                    </a:cubicBezTo>
                    <a:lnTo>
                      <a:pt x="1309904" y="727054"/>
                    </a:lnTo>
                    <a:cubicBezTo>
                      <a:pt x="1309904" y="747931"/>
                      <a:pt x="1292981" y="764854"/>
                      <a:pt x="1272104" y="764854"/>
                    </a:cubicBezTo>
                    <a:lnTo>
                      <a:pt x="37800" y="764854"/>
                    </a:lnTo>
                    <a:cubicBezTo>
                      <a:pt x="16924" y="764854"/>
                      <a:pt x="0" y="747931"/>
                      <a:pt x="0" y="727054"/>
                    </a:cubicBezTo>
                    <a:lnTo>
                      <a:pt x="0" y="37800"/>
                    </a:lnTo>
                    <a:cubicBezTo>
                      <a:pt x="0" y="16924"/>
                      <a:pt x="16924" y="0"/>
                      <a:pt x="378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68BBCD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 sz="700"/>
              </a:p>
            </p:txBody>
          </p:sp>
          <p:sp>
            <p:nvSpPr>
              <p:cNvPr id="17" name="TextBox 15">
                <a:extLst>
                  <a:ext uri="{FF2B5EF4-FFF2-40B4-BE49-F238E27FC236}">
                    <a16:creationId xmlns:a16="http://schemas.microsoft.com/office/drawing/2014/main" id="{9DE25C8E-D6A6-34E8-9B44-06AE47319012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309904" cy="822004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575"/>
                  </a:lnSpc>
                </a:pPr>
                <a:endParaRPr sz="700"/>
              </a:p>
            </p:txBody>
          </p:sp>
        </p:grpSp>
        <p:sp>
          <p:nvSpPr>
            <p:cNvPr id="15" name="TextBox 17">
              <a:extLst>
                <a:ext uri="{FF2B5EF4-FFF2-40B4-BE49-F238E27FC236}">
                  <a16:creationId xmlns:a16="http://schemas.microsoft.com/office/drawing/2014/main" id="{2A6A6F4D-71CD-DA12-4CC5-A9AD9C625306}"/>
                </a:ext>
              </a:extLst>
            </p:cNvPr>
            <p:cNvSpPr txBox="1"/>
            <p:nvPr/>
          </p:nvSpPr>
          <p:spPr>
            <a:xfrm>
              <a:off x="665785" y="545334"/>
              <a:ext cx="4727999" cy="24014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ko-KR" altLang="en-US" sz="1300" b="1" spc="-39" dirty="0">
                  <a:solidFill>
                    <a:srgbClr val="1195B2"/>
                  </a:solidFill>
                  <a:latin typeface="Source Han Sans KR Bold" panose="020B0600000101010101" charset="-127"/>
                  <a:ea typeface="Source Han Sans KR Bold" panose="020B0600000101010101" charset="-127"/>
                  <a:cs typeface="Source Han Sans KR Bold"/>
                  <a:sym typeface="Source Han Sans KR Bold"/>
                </a:rPr>
                <a:t>금융 용어 이해도 증진</a:t>
              </a:r>
              <a:endParaRPr lang="en-US" sz="1300" b="1" spc="-39" dirty="0">
                <a:solidFill>
                  <a:srgbClr val="1195B2"/>
                </a:solidFill>
                <a:latin typeface="Source Han Sans KR Bold" panose="020B0600000101010101" charset="-127"/>
                <a:ea typeface="Source Han Sans KR Bold" panose="020B0600000101010101" charset="-127"/>
                <a:cs typeface="Source Han Sans KR Bold"/>
                <a:sym typeface="Source Han Sans KR Bold"/>
              </a:endParaRPr>
            </a:p>
          </p:txBody>
        </p:sp>
      </p:grpSp>
      <p:sp>
        <p:nvSpPr>
          <p:cNvPr id="18" name="Freeform 20">
            <a:extLst>
              <a:ext uri="{FF2B5EF4-FFF2-40B4-BE49-F238E27FC236}">
                <a16:creationId xmlns:a16="http://schemas.microsoft.com/office/drawing/2014/main" id="{B66B7D35-833C-8A9B-3DF4-B380FDB1090A}"/>
              </a:ext>
            </a:extLst>
          </p:cNvPr>
          <p:cNvSpPr/>
          <p:nvPr/>
        </p:nvSpPr>
        <p:spPr>
          <a:xfrm>
            <a:off x="487615" y="4017904"/>
            <a:ext cx="3251791" cy="426131"/>
          </a:xfrm>
          <a:custGeom>
            <a:avLst/>
            <a:gdLst/>
            <a:ahLst/>
            <a:cxnLst/>
            <a:rect l="l" t="t" r="r" b="b"/>
            <a:pathLst>
              <a:path w="1308776" h="902589">
                <a:moveTo>
                  <a:pt x="37833" y="0"/>
                </a:moveTo>
                <a:lnTo>
                  <a:pt x="1270943" y="0"/>
                </a:lnTo>
                <a:cubicBezTo>
                  <a:pt x="1280977" y="0"/>
                  <a:pt x="1290600" y="3986"/>
                  <a:pt x="1297695" y="11081"/>
                </a:cubicBezTo>
                <a:cubicBezTo>
                  <a:pt x="1304790" y="18176"/>
                  <a:pt x="1308776" y="27799"/>
                  <a:pt x="1308776" y="37833"/>
                </a:cubicBezTo>
                <a:lnTo>
                  <a:pt x="1308776" y="864756"/>
                </a:lnTo>
                <a:cubicBezTo>
                  <a:pt x="1308776" y="885651"/>
                  <a:pt x="1291838" y="902589"/>
                  <a:pt x="1270943" y="902589"/>
                </a:cubicBezTo>
                <a:lnTo>
                  <a:pt x="37833" y="902589"/>
                </a:lnTo>
                <a:cubicBezTo>
                  <a:pt x="16938" y="902589"/>
                  <a:pt x="0" y="885651"/>
                  <a:pt x="0" y="864756"/>
                </a:cubicBezTo>
                <a:lnTo>
                  <a:pt x="0" y="37833"/>
                </a:lnTo>
                <a:cubicBezTo>
                  <a:pt x="0" y="16938"/>
                  <a:pt x="16938" y="0"/>
                  <a:pt x="37833" y="0"/>
                </a:cubicBezTo>
                <a:close/>
              </a:path>
            </a:pathLst>
          </a:custGeom>
          <a:solidFill>
            <a:srgbClr val="FFFFFF"/>
          </a:solidFill>
          <a:ln w="28575" cap="rnd">
            <a:solidFill>
              <a:srgbClr val="68BBCD"/>
            </a:solidFill>
            <a:prstDash val="solid"/>
            <a:round/>
          </a:ln>
          <a:effectLst/>
        </p:spPr>
        <p:txBody>
          <a:bodyPr/>
          <a:lstStyle/>
          <a:p>
            <a:endParaRPr lang="ko-KR" altLang="en-US" sz="700" dirty="0"/>
          </a:p>
        </p:txBody>
      </p:sp>
      <p:sp>
        <p:nvSpPr>
          <p:cNvPr id="19" name="TextBox 23">
            <a:extLst>
              <a:ext uri="{FF2B5EF4-FFF2-40B4-BE49-F238E27FC236}">
                <a16:creationId xmlns:a16="http://schemas.microsoft.com/office/drawing/2014/main" id="{4764CC5C-140C-D04D-FDE7-D5198725E035}"/>
              </a:ext>
            </a:extLst>
          </p:cNvPr>
          <p:cNvSpPr txBox="1"/>
          <p:nvPr/>
        </p:nvSpPr>
        <p:spPr>
          <a:xfrm>
            <a:off x="602240" y="4114231"/>
            <a:ext cx="2955956" cy="228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lang="ko-KR" altLang="en-US" sz="1300" b="1" spc="-39" dirty="0">
                <a:solidFill>
                  <a:srgbClr val="1195B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금융 용어 미숙으로 인한 금융 사고 예방</a:t>
            </a:r>
            <a:endParaRPr lang="en-US" sz="1300" b="1" spc="-39" dirty="0">
              <a:solidFill>
                <a:srgbClr val="1195B2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grpSp>
        <p:nvGrpSpPr>
          <p:cNvPr id="20" name="Group 24">
            <a:extLst>
              <a:ext uri="{FF2B5EF4-FFF2-40B4-BE49-F238E27FC236}">
                <a16:creationId xmlns:a16="http://schemas.microsoft.com/office/drawing/2014/main" id="{E73AEC3D-E3F3-AF16-6A14-0C0CD4FC23D6}"/>
              </a:ext>
            </a:extLst>
          </p:cNvPr>
          <p:cNvGrpSpPr/>
          <p:nvPr/>
        </p:nvGrpSpPr>
        <p:grpSpPr>
          <a:xfrm>
            <a:off x="487615" y="2883613"/>
            <a:ext cx="3178612" cy="817185"/>
            <a:chOff x="0" y="-262115"/>
            <a:chExt cx="7235586" cy="3770068"/>
          </a:xfrm>
          <a:effectLst/>
        </p:grpSpPr>
        <p:grpSp>
          <p:nvGrpSpPr>
            <p:cNvPr id="21" name="Group 25">
              <a:extLst>
                <a:ext uri="{FF2B5EF4-FFF2-40B4-BE49-F238E27FC236}">
                  <a16:creationId xmlns:a16="http://schemas.microsoft.com/office/drawing/2014/main" id="{C1888C6C-C63D-0833-3800-94940A42DF8E}"/>
                </a:ext>
              </a:extLst>
            </p:cNvPr>
            <p:cNvGrpSpPr/>
            <p:nvPr/>
          </p:nvGrpSpPr>
          <p:grpSpPr>
            <a:xfrm>
              <a:off x="0" y="-262115"/>
              <a:ext cx="7235586" cy="3770068"/>
              <a:chOff x="0" y="-57150"/>
              <a:chExt cx="1577607" cy="822004"/>
            </a:xfrm>
          </p:grpSpPr>
          <p:sp>
            <p:nvSpPr>
              <p:cNvPr id="24" name="Freeform 26">
                <a:extLst>
                  <a:ext uri="{FF2B5EF4-FFF2-40B4-BE49-F238E27FC236}">
                    <a16:creationId xmlns:a16="http://schemas.microsoft.com/office/drawing/2014/main" id="{41F8A905-AB04-05DD-9BB1-B6B04EF3F862}"/>
                  </a:ext>
                </a:extLst>
              </p:cNvPr>
              <p:cNvSpPr/>
              <p:nvPr/>
            </p:nvSpPr>
            <p:spPr>
              <a:xfrm>
                <a:off x="0" y="0"/>
                <a:ext cx="1577607" cy="463793"/>
              </a:xfrm>
              <a:custGeom>
                <a:avLst/>
                <a:gdLst/>
                <a:ahLst/>
                <a:cxnLst/>
                <a:rect l="l" t="t" r="r" b="b"/>
                <a:pathLst>
                  <a:path w="1321084" h="764854">
                    <a:moveTo>
                      <a:pt x="37480" y="0"/>
                    </a:moveTo>
                    <a:lnTo>
                      <a:pt x="1283603" y="0"/>
                    </a:lnTo>
                    <a:cubicBezTo>
                      <a:pt x="1293544" y="0"/>
                      <a:pt x="1303077" y="3949"/>
                      <a:pt x="1310106" y="10978"/>
                    </a:cubicBezTo>
                    <a:cubicBezTo>
                      <a:pt x="1317135" y="18007"/>
                      <a:pt x="1321084" y="27540"/>
                      <a:pt x="1321084" y="37480"/>
                    </a:cubicBezTo>
                    <a:lnTo>
                      <a:pt x="1321084" y="727374"/>
                    </a:lnTo>
                    <a:cubicBezTo>
                      <a:pt x="1321084" y="748074"/>
                      <a:pt x="1304303" y="764854"/>
                      <a:pt x="1283603" y="764854"/>
                    </a:cubicBezTo>
                    <a:lnTo>
                      <a:pt x="37480" y="764854"/>
                    </a:lnTo>
                    <a:cubicBezTo>
                      <a:pt x="16781" y="764854"/>
                      <a:pt x="0" y="748074"/>
                      <a:pt x="0" y="727374"/>
                    </a:cubicBezTo>
                    <a:lnTo>
                      <a:pt x="0" y="37480"/>
                    </a:lnTo>
                    <a:cubicBezTo>
                      <a:pt x="0" y="16781"/>
                      <a:pt x="16781" y="0"/>
                      <a:pt x="374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68BBCD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 sz="700"/>
              </a:p>
            </p:txBody>
          </p:sp>
          <p:sp>
            <p:nvSpPr>
              <p:cNvPr id="25" name="TextBox 27">
                <a:extLst>
                  <a:ext uri="{FF2B5EF4-FFF2-40B4-BE49-F238E27FC236}">
                    <a16:creationId xmlns:a16="http://schemas.microsoft.com/office/drawing/2014/main" id="{26313425-5CB9-C4B1-754D-D690761E7D37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321084" cy="822004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575"/>
                  </a:lnSpc>
                  <a:spcBef>
                    <a:spcPct val="0"/>
                  </a:spcBef>
                </a:pPr>
                <a:endParaRPr sz="700"/>
              </a:p>
            </p:txBody>
          </p:sp>
        </p:grpSp>
        <p:sp>
          <p:nvSpPr>
            <p:cNvPr id="22" name="TextBox 28">
              <a:extLst>
                <a:ext uri="{FF2B5EF4-FFF2-40B4-BE49-F238E27FC236}">
                  <a16:creationId xmlns:a16="http://schemas.microsoft.com/office/drawing/2014/main" id="{B473BC6E-97B2-084D-56C1-76F549321A9C}"/>
                </a:ext>
              </a:extLst>
            </p:cNvPr>
            <p:cNvSpPr txBox="1"/>
            <p:nvPr/>
          </p:nvSpPr>
          <p:spPr>
            <a:xfrm>
              <a:off x="631594" y="1567846"/>
              <a:ext cx="4823195" cy="76942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424"/>
                </a:lnSpc>
              </a:pPr>
              <a:endParaRPr lang="en-US" sz="949" b="1" spc="-28" dirty="0">
                <a:solidFill>
                  <a:srgbClr val="20344B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endParaRPr>
            </a:p>
          </p:txBody>
        </p:sp>
        <p:sp>
          <p:nvSpPr>
            <p:cNvPr id="23" name="TextBox 29">
              <a:extLst>
                <a:ext uri="{FF2B5EF4-FFF2-40B4-BE49-F238E27FC236}">
                  <a16:creationId xmlns:a16="http://schemas.microsoft.com/office/drawing/2014/main" id="{BC444D99-0BEF-5B7A-6D80-4AE64E659509}"/>
                </a:ext>
              </a:extLst>
            </p:cNvPr>
            <p:cNvSpPr txBox="1"/>
            <p:nvPr/>
          </p:nvSpPr>
          <p:spPr>
            <a:xfrm>
              <a:off x="171647" y="450460"/>
              <a:ext cx="6892292" cy="10551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ko-KR" altLang="en-US" sz="1300" b="1" spc="-39" dirty="0">
                  <a:solidFill>
                    <a:srgbClr val="1195B2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사용자 편의성 증진 및 기업 이미지 제고</a:t>
              </a:r>
              <a:endParaRPr lang="en-US" sz="1300" b="1" spc="-39" dirty="0">
                <a:solidFill>
                  <a:srgbClr val="1195B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endParaRPr>
            </a:p>
          </p:txBody>
        </p:sp>
      </p:grpSp>
      <p:sp>
        <p:nvSpPr>
          <p:cNvPr id="26" name="Google Shape;444;p41">
            <a:extLst>
              <a:ext uri="{FF2B5EF4-FFF2-40B4-BE49-F238E27FC236}">
                <a16:creationId xmlns:a16="http://schemas.microsoft.com/office/drawing/2014/main" id="{200E8E72-E729-60C3-ABDB-AA848F32DB46}"/>
              </a:ext>
            </a:extLst>
          </p:cNvPr>
          <p:cNvSpPr txBox="1"/>
          <p:nvPr/>
        </p:nvSpPr>
        <p:spPr>
          <a:xfrm>
            <a:off x="221324" y="129109"/>
            <a:ext cx="333303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20344B"/>
                </a:solidFill>
              </a:rPr>
              <a:t>기대 효과</a:t>
            </a:r>
            <a:endParaRPr sz="7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E54DF4-4BB8-887B-D3C6-BC5015860A4A}"/>
              </a:ext>
            </a:extLst>
          </p:cNvPr>
          <p:cNvSpPr txBox="1"/>
          <p:nvPr/>
        </p:nvSpPr>
        <p:spPr>
          <a:xfrm>
            <a:off x="661355" y="1260801"/>
            <a:ext cx="5567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kumimoji="1" lang="ko-KR" altLang="en-US" sz="1200" dirty="0"/>
              <a:t>복잡한 금융 용어를 쉽게 이해할 수 있도록 도움 </a:t>
            </a:r>
            <a:r>
              <a:rPr kumimoji="1" lang="en-US" altLang="ko-KR" sz="1200" dirty="0"/>
              <a:t>-&gt;</a:t>
            </a:r>
            <a:r>
              <a:rPr kumimoji="1" lang="ko-KR" altLang="en-US" sz="1200" dirty="0"/>
              <a:t> 건강한 금융 가치관 형성</a:t>
            </a:r>
            <a:endParaRPr kumimoji="1" lang="ko-Kore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041F79-62F2-E4B7-4791-B99757F84B76}"/>
              </a:ext>
            </a:extLst>
          </p:cNvPr>
          <p:cNvSpPr txBox="1"/>
          <p:nvPr/>
        </p:nvSpPr>
        <p:spPr>
          <a:xfrm>
            <a:off x="661355" y="2303623"/>
            <a:ext cx="4976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kumimoji="1" lang="ko-KR" altLang="en-US" sz="1200" dirty="0"/>
              <a:t>다양한 금융 상품에 대한 관심도 증가 </a:t>
            </a:r>
            <a:r>
              <a:rPr kumimoji="1" lang="en-US" altLang="ko-KR" sz="1200" dirty="0"/>
              <a:t>-&gt;</a:t>
            </a:r>
            <a:r>
              <a:rPr kumimoji="1" lang="ko-KR" altLang="en-US" sz="1200" dirty="0"/>
              <a:t> 금융 상품에 대한 장벽 낮춤</a:t>
            </a:r>
            <a:endParaRPr kumimoji="1" lang="ko-Kore-KR" altLang="en-US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90AE9B-AAA1-CB5C-8784-3DDEDFC12ADD}"/>
              </a:ext>
            </a:extLst>
          </p:cNvPr>
          <p:cNvSpPr txBox="1"/>
          <p:nvPr/>
        </p:nvSpPr>
        <p:spPr>
          <a:xfrm>
            <a:off x="703615" y="3435422"/>
            <a:ext cx="7853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kumimoji="1" lang="ko-KR" altLang="en-US" sz="1200" dirty="0"/>
              <a:t>질문을 통한 지식 수준 판별 </a:t>
            </a:r>
            <a:r>
              <a:rPr kumimoji="1" lang="en-US" altLang="ko-KR" sz="1200" dirty="0"/>
              <a:t>+</a:t>
            </a:r>
            <a:r>
              <a:rPr kumimoji="1" lang="ko-KR" altLang="en-US" sz="1200" dirty="0"/>
              <a:t> 자신의 수준에 맞는 설명을 제공받음 </a:t>
            </a:r>
            <a:r>
              <a:rPr kumimoji="1" lang="en-US" altLang="ko-KR" sz="1200" dirty="0"/>
              <a:t>-&gt;</a:t>
            </a:r>
            <a:r>
              <a:rPr kumimoji="1" lang="ko-KR" altLang="en-US" sz="1200" dirty="0"/>
              <a:t> 사용자 중심의 접근 </a:t>
            </a:r>
            <a:r>
              <a:rPr kumimoji="1" lang="en-US" altLang="ko-KR" sz="1200" dirty="0"/>
              <a:t>+</a:t>
            </a:r>
            <a:r>
              <a:rPr kumimoji="1" lang="ko-KR" altLang="en-US" sz="1200" dirty="0"/>
              <a:t> 더 많은 고객 유치</a:t>
            </a:r>
            <a:endParaRPr kumimoji="1" lang="ko-Kore-KR" alt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76EEA2-F883-CC60-0FBB-5F9C50992D8D}"/>
              </a:ext>
            </a:extLst>
          </p:cNvPr>
          <p:cNvSpPr txBox="1"/>
          <p:nvPr/>
        </p:nvSpPr>
        <p:spPr>
          <a:xfrm>
            <a:off x="703615" y="4484142"/>
            <a:ext cx="5166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kumimoji="1" lang="ko-KR" altLang="en-US" sz="1200" dirty="0"/>
              <a:t>명확한 금융 용어 이해를 바탕으로 사용자가 의사결정을 내리도록 도움</a:t>
            </a:r>
            <a:endParaRPr kumimoji="1" lang="ko-Kore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084258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D4184-B876-7D6A-DB92-95369C58D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40;p26">
            <a:extLst>
              <a:ext uri="{FF2B5EF4-FFF2-40B4-BE49-F238E27FC236}">
                <a16:creationId xmlns:a16="http://schemas.microsoft.com/office/drawing/2014/main" id="{8D62EB6E-DE35-4AD8-9C58-03214E1B5954}"/>
              </a:ext>
            </a:extLst>
          </p:cNvPr>
          <p:cNvSpPr/>
          <p:nvPr/>
        </p:nvSpPr>
        <p:spPr>
          <a:xfrm>
            <a:off x="0" y="-53100"/>
            <a:ext cx="9143998" cy="5196600"/>
          </a:xfrm>
          <a:custGeom>
            <a:avLst/>
            <a:gdLst/>
            <a:ahLst/>
            <a:cxnLst/>
            <a:rect l="l" t="t" r="r" b="b"/>
            <a:pathLst>
              <a:path w="4816592" h="1966933" extrusionOk="0">
                <a:moveTo>
                  <a:pt x="0" y="0"/>
                </a:moveTo>
                <a:lnTo>
                  <a:pt x="4816592" y="0"/>
                </a:lnTo>
                <a:lnTo>
                  <a:pt x="4816592" y="1966933"/>
                </a:lnTo>
                <a:lnTo>
                  <a:pt x="0" y="1966933"/>
                </a:lnTo>
                <a:close/>
              </a:path>
            </a:pathLst>
          </a:custGeom>
          <a:solidFill>
            <a:srgbClr val="EBF0F1"/>
          </a:solidFill>
          <a:ln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" name="Google Shape;202;p32">
            <a:extLst>
              <a:ext uri="{FF2B5EF4-FFF2-40B4-BE49-F238E27FC236}">
                <a16:creationId xmlns:a16="http://schemas.microsoft.com/office/drawing/2014/main" id="{5F39BA3A-EE79-7B5C-7947-82FCC40A34FF}"/>
              </a:ext>
            </a:extLst>
          </p:cNvPr>
          <p:cNvSpPr txBox="1"/>
          <p:nvPr/>
        </p:nvSpPr>
        <p:spPr>
          <a:xfrm>
            <a:off x="3402024" y="2519300"/>
            <a:ext cx="2215005" cy="670312"/>
          </a:xfrm>
          <a:prstGeom prst="rect">
            <a:avLst/>
          </a:prstGeom>
          <a:solidFill>
            <a:srgbClr val="1195B2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2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300" b="1" dirty="0">
                <a:solidFill>
                  <a:schemeClr val="lt1"/>
                </a:solidFill>
              </a:rPr>
              <a:t>감사합니다</a:t>
            </a:r>
            <a:endParaRPr sz="100" b="1" dirty="0">
              <a:solidFill>
                <a:schemeClr val="lt1"/>
              </a:solidFill>
            </a:endParaRPr>
          </a:p>
        </p:txBody>
      </p:sp>
      <p:sp>
        <p:nvSpPr>
          <p:cNvPr id="3" name="Google Shape;203;p32">
            <a:extLst>
              <a:ext uri="{FF2B5EF4-FFF2-40B4-BE49-F238E27FC236}">
                <a16:creationId xmlns:a16="http://schemas.microsoft.com/office/drawing/2014/main" id="{30E6E054-C7D2-0CD8-698B-BD68A0102843}"/>
              </a:ext>
            </a:extLst>
          </p:cNvPr>
          <p:cNvSpPr txBox="1"/>
          <p:nvPr/>
        </p:nvSpPr>
        <p:spPr>
          <a:xfrm>
            <a:off x="3727225" y="1642100"/>
            <a:ext cx="12495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QnA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708908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</TotalTime>
  <Words>1378</Words>
  <Application>Microsoft Macintosh PowerPoint</Application>
  <PresentationFormat>화면 슬라이드 쇼(16:9)</PresentationFormat>
  <Paragraphs>270</Paragraphs>
  <Slides>20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20</vt:i4>
      </vt:variant>
    </vt:vector>
  </HeadingPairs>
  <TitlesOfParts>
    <vt:vector size="31" baseType="lpstr">
      <vt:lpstr>함초롬바탕</vt:lpstr>
      <vt:lpstr>맑은 고딕</vt:lpstr>
      <vt:lpstr>Source Han Sans KR Bold</vt:lpstr>
      <vt:lpstr>Source Han Sans KR Medium</vt:lpstr>
      <vt:lpstr>Arial</vt:lpstr>
      <vt:lpstr>Calibri</vt:lpstr>
      <vt:lpstr>Courier New</vt:lpstr>
      <vt:lpstr>Menlo</vt:lpstr>
      <vt:lpstr>Wingdings</vt:lpstr>
      <vt:lpstr>Simple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은선 김</cp:lastModifiedBy>
  <cp:revision>26</cp:revision>
  <dcterms:modified xsi:type="dcterms:W3CDTF">2024-10-17T14:17:01Z</dcterms:modified>
</cp:coreProperties>
</file>